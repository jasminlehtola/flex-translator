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59" r:id="rId4"/>
    <p:sldId id="260" r:id="rId5"/>
    <p:sldId id="263" r:id="rId6"/>
    <p:sldId id="264" r:id="rId7"/>
    <p:sldId id="266" r:id="rId8"/>
    <p:sldId id="268" r:id="rId9"/>
    <p:sldId id="269" r:id="rId10"/>
    <p:sldId id="270" r:id="rId11"/>
    <p:sldId id="265" r:id="rId12"/>
    <p:sldId id="271" r:id="rId13"/>
    <p:sldId id="274" r:id="rId14"/>
    <p:sldId id="275" r:id="rId15"/>
    <p:sldId id="276" r:id="rId16"/>
    <p:sldId id="272" r:id="rId17"/>
    <p:sldId id="273"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8E8E8"/>
    <a:srgbClr val="0E425A"/>
    <a:srgbClr val="949BA5"/>
    <a:srgbClr val="F3F4F6"/>
    <a:srgbClr val="F9FAFB"/>
    <a:srgbClr val="DBEAFE"/>
    <a:srgbClr val="5965FF"/>
    <a:srgbClr val="C33509"/>
    <a:srgbClr val="F9FAFC"/>
    <a:srgbClr val="15608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5695" autoAdjust="0"/>
    <p:restoredTop sz="94660"/>
  </p:normalViewPr>
  <p:slideViewPr>
    <p:cSldViewPr snapToGrid="0">
      <p:cViewPr varScale="1">
        <p:scale>
          <a:sx n="59" d="100"/>
          <a:sy n="59" d="100"/>
        </p:scale>
        <p:origin x="1268"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p14="http://schemas.microsoft.com/office/powerpoint/2010/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8EA83E-7FC6-4582-B8E1-281561858EB9}" type="datetimeFigureOut">
              <a:rPr lang="en-US" smtClean="0"/>
              <a:t>7/10/2025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9648DFB-0A0F-4AB3-8A0B-57CC567D350D}" type="slidenum">
              <a:rPr lang="en-US" smtClean="0"/>
              <a:t>'#'</a:t>
            </a:fld>
            <a:endParaRPr lang="en-US"/>
          </a:p>
        </p:txBody>
      </p:sp>
    </p:spTree>
    <p:extLst>
      <p:ext uri="{BB962C8B-B14F-4D97-AF65-F5344CB8AC3E}">
        <p14:creationId xmlns:p14="http://schemas.microsoft.com/office/powerpoint/2010/main" val="31037846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648DFB-0A0F-4AB3-8A0B-57CC567D350D}" type="slidenum">
              <a:rPr lang="en-US" smtClean="0"/>
              <a:t>6</a:t>
            </a:fld>
            <a:endParaRPr lang="en-US"/>
          </a:p>
        </p:txBody>
      </p:sp>
    </p:spTree>
    <p:extLst>
      <p:ext uri="{BB962C8B-B14F-4D97-AF65-F5344CB8AC3E}">
        <p14:creationId xmlns:p14="http://schemas.microsoft.com/office/powerpoint/2010/main" val="1113893077"/>
      </p:ext>
    </p:extLst>
  </p:cSld>
  <p:clrMapOvr>
    <a:masterClrMapping/>
  </p:clrMapOvr>
</p:notes>
</file>

<file path=ppt/notesSlides/notesSlide2.xml><?xml version="1.0" encoding="utf-8"?>
<p:notes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9648DFB-0A0F-4AB3-8A0B-57CC567D350D}" type="slidenum">
              <a:rPr lang="en-US" smtClean="0"/>
              <a:t>15</a:t>
            </a:fld>
            <a:endParaRPr lang="en-US"/>
          </a:p>
        </p:txBody>
      </p:sp>
    </p:spTree>
    <p:extLst>
      <p:ext uri="{BB962C8B-B14F-4D97-AF65-F5344CB8AC3E}">
        <p14:creationId xmlns:p14="http://schemas.microsoft.com/office/powerpoint/2010/main" val="22431134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B4CF6-1F76-CCB2-4D1D-61E7A53D8A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9E62A19-6170-7712-B6BA-8B7291C8F2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D960E94-9681-FF25-F3D9-A74D4A98FA21}"/>
              </a:ext>
            </a:extLst>
          </p:cNvPr>
          <p:cNvSpPr>
            <a:spLocks noGrp="1"/>
          </p:cNvSpPr>
          <p:nvPr>
            <p:ph type="dt" sz="half" idx="10"/>
          </p:nvPr>
        </p:nvSpPr>
        <p:spPr/>
        <p:txBody>
          <a:bodyPr/>
          <a:lstStyle/>
          <a:p>
            <a:fld id="{845063DF-A978-4560-9A34-FBB028AA1866}" type="datetimeFigureOut">
              <a:rPr lang="en-US" smtClean="0"/>
              <a:t>7/10/2025</a:t>
            </a:fld>
            <a:endParaRPr lang="en-US"/>
          </a:p>
        </p:txBody>
      </p:sp>
      <p:sp>
        <p:nvSpPr>
          <p:cNvPr id="5" name="Footer Placeholder 4">
            <a:extLst>
              <a:ext uri="{FF2B5EF4-FFF2-40B4-BE49-F238E27FC236}">
                <a16:creationId xmlns:a16="http://schemas.microsoft.com/office/drawing/2014/main" id="{AD6F0B4E-E9AF-9216-7BB0-FB93C1FF1B0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F3514A-5427-D9E2-B312-096E43895F84}"/>
              </a:ext>
            </a:extLst>
          </p:cNvPr>
          <p:cNvSpPr>
            <a:spLocks noGrp="1"/>
          </p:cNvSpPr>
          <p:nvPr>
            <p:ph type="sldNum" sz="quarter" idx="12"/>
          </p:nvPr>
        </p:nvSpPr>
        <p:spPr/>
        <p:txBody>
          <a:bodyPr/>
          <a:lstStyle/>
          <a:p>
            <a:fld id="{7F5356B3-6404-44DE-9887-D6F9408A3069}" type="slidenum">
              <a:rPr lang="en-US" smtClean="0"/>
              <a:t>‹#›</a:t>
            </a:fld>
            <a:endParaRPr lang="en-US"/>
          </a:p>
        </p:txBody>
      </p:sp>
    </p:spTree>
    <p:extLst>
      <p:ext uri="{BB962C8B-B14F-4D97-AF65-F5344CB8AC3E}">
        <p14:creationId xmlns:p14="http://schemas.microsoft.com/office/powerpoint/2010/main" val="32199897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5DA77-DC24-F5D1-CFC8-3C1B41BE72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A75075-E485-B85B-A430-640F7998E56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1219A55-EC8E-6B0F-2829-30AAB0F52180}"/>
              </a:ext>
            </a:extLst>
          </p:cNvPr>
          <p:cNvSpPr>
            <a:spLocks noGrp="1"/>
          </p:cNvSpPr>
          <p:nvPr>
            <p:ph type="dt" sz="half" idx="10"/>
          </p:nvPr>
        </p:nvSpPr>
        <p:spPr/>
        <p:txBody>
          <a:bodyPr/>
          <a:lstStyle/>
          <a:p>
            <a:fld id="{845063DF-A978-4560-9A34-FBB028AA1866}" type="datetimeFigureOut">
              <a:rPr lang="en-US" smtClean="0"/>
              <a:t>7/10/2025</a:t>
            </a:fld>
            <a:endParaRPr lang="en-US"/>
          </a:p>
        </p:txBody>
      </p:sp>
      <p:sp>
        <p:nvSpPr>
          <p:cNvPr id="5" name="Footer Placeholder 4">
            <a:extLst>
              <a:ext uri="{FF2B5EF4-FFF2-40B4-BE49-F238E27FC236}">
                <a16:creationId xmlns:a16="http://schemas.microsoft.com/office/drawing/2014/main" id="{84606D10-1E5A-9521-3919-4D3A0DF15E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0337189-7A43-3194-2982-39672F388573}"/>
              </a:ext>
            </a:extLst>
          </p:cNvPr>
          <p:cNvSpPr>
            <a:spLocks noGrp="1"/>
          </p:cNvSpPr>
          <p:nvPr>
            <p:ph type="sldNum" sz="quarter" idx="12"/>
          </p:nvPr>
        </p:nvSpPr>
        <p:spPr/>
        <p:txBody>
          <a:bodyPr/>
          <a:lstStyle/>
          <a:p>
            <a:fld id="{7F5356B3-6404-44DE-9887-D6F9408A3069}" type="slidenum">
              <a:rPr lang="en-US" smtClean="0"/>
              <a:t>‹#›</a:t>
            </a:fld>
            <a:endParaRPr lang="en-US"/>
          </a:p>
        </p:txBody>
      </p:sp>
    </p:spTree>
    <p:extLst>
      <p:ext uri="{BB962C8B-B14F-4D97-AF65-F5344CB8AC3E}">
        <p14:creationId xmlns:p14="http://schemas.microsoft.com/office/powerpoint/2010/main" val="1596106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C47FA-B23C-B561-56D2-F6DB105846D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47597A1-ED31-A627-B262-403AB98B4BD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301DECE-8F5E-69E0-E10D-90D4C20352BB}"/>
              </a:ext>
            </a:extLst>
          </p:cNvPr>
          <p:cNvSpPr>
            <a:spLocks noGrp="1"/>
          </p:cNvSpPr>
          <p:nvPr>
            <p:ph type="dt" sz="half" idx="10"/>
          </p:nvPr>
        </p:nvSpPr>
        <p:spPr/>
        <p:txBody>
          <a:bodyPr/>
          <a:lstStyle/>
          <a:p>
            <a:fld id="{845063DF-A978-4560-9A34-FBB028AA1866}" type="datetimeFigureOut">
              <a:rPr lang="en-US" smtClean="0"/>
              <a:t>7/10/2025</a:t>
            </a:fld>
            <a:endParaRPr lang="en-US"/>
          </a:p>
        </p:txBody>
      </p:sp>
      <p:sp>
        <p:nvSpPr>
          <p:cNvPr id="5" name="Footer Placeholder 4">
            <a:extLst>
              <a:ext uri="{FF2B5EF4-FFF2-40B4-BE49-F238E27FC236}">
                <a16:creationId xmlns:a16="http://schemas.microsoft.com/office/drawing/2014/main" id="{E1E393AC-CFBA-F695-4F4E-9515D548F31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79DE5CC-CBA4-7E2E-7959-A42089CD7EA1}"/>
              </a:ext>
            </a:extLst>
          </p:cNvPr>
          <p:cNvSpPr>
            <a:spLocks noGrp="1"/>
          </p:cNvSpPr>
          <p:nvPr>
            <p:ph type="sldNum" sz="quarter" idx="12"/>
          </p:nvPr>
        </p:nvSpPr>
        <p:spPr/>
        <p:txBody>
          <a:bodyPr/>
          <a:lstStyle/>
          <a:p>
            <a:fld id="{7F5356B3-6404-44DE-9887-D6F9408A3069}" type="slidenum">
              <a:rPr lang="en-US" smtClean="0"/>
              <a:t>‹#›</a:t>
            </a:fld>
            <a:endParaRPr lang="en-US"/>
          </a:p>
        </p:txBody>
      </p:sp>
    </p:spTree>
    <p:extLst>
      <p:ext uri="{BB962C8B-B14F-4D97-AF65-F5344CB8AC3E}">
        <p14:creationId xmlns:p14="http://schemas.microsoft.com/office/powerpoint/2010/main" val="2400822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8C5E0-F7B1-9BDC-9C88-B05EBEE25F4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7015ACE-2F44-A783-BFF1-99610E3150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2AD8BCA-F86B-5CCF-9053-9A03193B2DF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95B926E-0DDA-77C4-1645-F097578ECA21}"/>
              </a:ext>
            </a:extLst>
          </p:cNvPr>
          <p:cNvSpPr>
            <a:spLocks noGrp="1"/>
          </p:cNvSpPr>
          <p:nvPr>
            <p:ph type="dt" sz="half" idx="10"/>
          </p:nvPr>
        </p:nvSpPr>
        <p:spPr/>
        <p:txBody>
          <a:bodyPr/>
          <a:lstStyle/>
          <a:p>
            <a:fld id="{845063DF-A978-4560-9A34-FBB028AA1866}" type="datetimeFigureOut">
              <a:rPr lang="en-US" smtClean="0"/>
              <a:t>7/10/2025</a:t>
            </a:fld>
            <a:endParaRPr lang="en-US"/>
          </a:p>
        </p:txBody>
      </p:sp>
      <p:sp>
        <p:nvSpPr>
          <p:cNvPr id="6" name="Footer Placeholder 5">
            <a:extLst>
              <a:ext uri="{FF2B5EF4-FFF2-40B4-BE49-F238E27FC236}">
                <a16:creationId xmlns:a16="http://schemas.microsoft.com/office/drawing/2014/main" id="{7A429B54-6496-FB86-F894-B77C4A25AE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C78999-63CF-2A7A-85F4-EDE33CFD4623}"/>
              </a:ext>
            </a:extLst>
          </p:cNvPr>
          <p:cNvSpPr>
            <a:spLocks noGrp="1"/>
          </p:cNvSpPr>
          <p:nvPr>
            <p:ph type="sldNum" sz="quarter" idx="12"/>
          </p:nvPr>
        </p:nvSpPr>
        <p:spPr/>
        <p:txBody>
          <a:bodyPr/>
          <a:lstStyle/>
          <a:p>
            <a:fld id="{7F5356B3-6404-44DE-9887-D6F9408A3069}" type="slidenum">
              <a:rPr lang="en-US" smtClean="0"/>
              <a:t>‹#›</a:t>
            </a:fld>
            <a:endParaRPr lang="en-US"/>
          </a:p>
        </p:txBody>
      </p:sp>
    </p:spTree>
    <p:extLst>
      <p:ext uri="{BB962C8B-B14F-4D97-AF65-F5344CB8AC3E}">
        <p14:creationId xmlns:p14="http://schemas.microsoft.com/office/powerpoint/2010/main" val="23185968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95ED6B-93A6-F8FD-D053-3F27AA6C8FB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5815002-E50F-CFA3-7106-BE2D8E35A4B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1F193A3-3AD3-53E9-4D7C-527A8EA5497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E6CC589-9372-F150-73AE-4285856988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7BC7FE7-9243-A282-3BE6-5D104DAA646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EEA0EC0-07E1-9AD4-0B57-B9338B4C119D}"/>
              </a:ext>
            </a:extLst>
          </p:cNvPr>
          <p:cNvSpPr>
            <a:spLocks noGrp="1"/>
          </p:cNvSpPr>
          <p:nvPr>
            <p:ph type="dt" sz="half" idx="10"/>
          </p:nvPr>
        </p:nvSpPr>
        <p:spPr/>
        <p:txBody>
          <a:bodyPr/>
          <a:lstStyle/>
          <a:p>
            <a:fld id="{845063DF-A978-4560-9A34-FBB028AA1866}" type="datetimeFigureOut">
              <a:rPr lang="en-US" smtClean="0"/>
              <a:t>7/10/2025</a:t>
            </a:fld>
            <a:endParaRPr lang="en-US"/>
          </a:p>
        </p:txBody>
      </p:sp>
      <p:sp>
        <p:nvSpPr>
          <p:cNvPr id="8" name="Footer Placeholder 7">
            <a:extLst>
              <a:ext uri="{FF2B5EF4-FFF2-40B4-BE49-F238E27FC236}">
                <a16:creationId xmlns:a16="http://schemas.microsoft.com/office/drawing/2014/main" id="{2EFCCD61-949C-2AD6-B166-2B14E9E95D1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6F94D77-E352-A534-3A83-43F89E53F8DD}"/>
              </a:ext>
            </a:extLst>
          </p:cNvPr>
          <p:cNvSpPr>
            <a:spLocks noGrp="1"/>
          </p:cNvSpPr>
          <p:nvPr>
            <p:ph type="sldNum" sz="quarter" idx="12"/>
          </p:nvPr>
        </p:nvSpPr>
        <p:spPr/>
        <p:txBody>
          <a:bodyPr/>
          <a:lstStyle/>
          <a:p>
            <a:fld id="{7F5356B3-6404-44DE-9887-D6F9408A3069}" type="slidenum">
              <a:rPr lang="en-US" smtClean="0"/>
              <a:t>‹#›</a:t>
            </a:fld>
            <a:endParaRPr lang="en-US"/>
          </a:p>
        </p:txBody>
      </p:sp>
    </p:spTree>
    <p:extLst>
      <p:ext uri="{BB962C8B-B14F-4D97-AF65-F5344CB8AC3E}">
        <p14:creationId xmlns:p14="http://schemas.microsoft.com/office/powerpoint/2010/main" val="1816489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2C9928-478B-0F63-0D92-02FD378A3E5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122D315-A616-3C38-5517-4E986035638C}"/>
              </a:ext>
            </a:extLst>
          </p:cNvPr>
          <p:cNvSpPr>
            <a:spLocks noGrp="1"/>
          </p:cNvSpPr>
          <p:nvPr>
            <p:ph type="dt" sz="half" idx="10"/>
          </p:nvPr>
        </p:nvSpPr>
        <p:spPr/>
        <p:txBody>
          <a:bodyPr/>
          <a:lstStyle/>
          <a:p>
            <a:fld id="{845063DF-A978-4560-9A34-FBB028AA1866}" type="datetimeFigureOut">
              <a:rPr lang="en-US" smtClean="0"/>
              <a:t>7/10/2025</a:t>
            </a:fld>
            <a:endParaRPr lang="en-US"/>
          </a:p>
        </p:txBody>
      </p:sp>
      <p:sp>
        <p:nvSpPr>
          <p:cNvPr id="4" name="Footer Placeholder 3">
            <a:extLst>
              <a:ext uri="{FF2B5EF4-FFF2-40B4-BE49-F238E27FC236}">
                <a16:creationId xmlns:a16="http://schemas.microsoft.com/office/drawing/2014/main" id="{05C9F028-B36A-4DCA-7239-09655EF75F6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F7BA76A-0E00-904F-085D-11579BEEC42F}"/>
              </a:ext>
            </a:extLst>
          </p:cNvPr>
          <p:cNvSpPr>
            <a:spLocks noGrp="1"/>
          </p:cNvSpPr>
          <p:nvPr>
            <p:ph type="sldNum" sz="quarter" idx="12"/>
          </p:nvPr>
        </p:nvSpPr>
        <p:spPr/>
        <p:txBody>
          <a:bodyPr/>
          <a:lstStyle/>
          <a:p>
            <a:fld id="{7F5356B3-6404-44DE-9887-D6F9408A3069}" type="slidenum">
              <a:rPr lang="en-US" smtClean="0"/>
              <a:t>‹#›</a:t>
            </a:fld>
            <a:endParaRPr lang="en-US"/>
          </a:p>
        </p:txBody>
      </p:sp>
    </p:spTree>
    <p:extLst>
      <p:ext uri="{BB962C8B-B14F-4D97-AF65-F5344CB8AC3E}">
        <p14:creationId xmlns:p14="http://schemas.microsoft.com/office/powerpoint/2010/main" val="6855373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8C3CA1A-9772-4CD7-FAB6-C5533412A16D}"/>
              </a:ext>
            </a:extLst>
          </p:cNvPr>
          <p:cNvSpPr>
            <a:spLocks noGrp="1"/>
          </p:cNvSpPr>
          <p:nvPr>
            <p:ph type="dt" sz="half" idx="10"/>
          </p:nvPr>
        </p:nvSpPr>
        <p:spPr/>
        <p:txBody>
          <a:bodyPr/>
          <a:lstStyle/>
          <a:p>
            <a:fld id="{845063DF-A978-4560-9A34-FBB028AA1866}" type="datetimeFigureOut">
              <a:rPr lang="en-US" smtClean="0"/>
              <a:t>7/10/2025</a:t>
            </a:fld>
            <a:endParaRPr lang="en-US"/>
          </a:p>
        </p:txBody>
      </p:sp>
      <p:sp>
        <p:nvSpPr>
          <p:cNvPr id="3" name="Footer Placeholder 2">
            <a:extLst>
              <a:ext uri="{FF2B5EF4-FFF2-40B4-BE49-F238E27FC236}">
                <a16:creationId xmlns:a16="http://schemas.microsoft.com/office/drawing/2014/main" id="{03BFB53D-E3B9-88E5-6FD9-FC3513F82F8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DE0EEAE-B57D-D31C-B269-52B935C297DD}"/>
              </a:ext>
            </a:extLst>
          </p:cNvPr>
          <p:cNvSpPr>
            <a:spLocks noGrp="1"/>
          </p:cNvSpPr>
          <p:nvPr>
            <p:ph type="sldNum" sz="quarter" idx="12"/>
          </p:nvPr>
        </p:nvSpPr>
        <p:spPr/>
        <p:txBody>
          <a:bodyPr/>
          <a:lstStyle/>
          <a:p>
            <a:fld id="{7F5356B3-6404-44DE-9887-D6F9408A3069}" type="slidenum">
              <a:rPr lang="en-US" smtClean="0"/>
              <a:t>‹#›</a:t>
            </a:fld>
            <a:endParaRPr lang="en-US"/>
          </a:p>
        </p:txBody>
      </p:sp>
    </p:spTree>
    <p:extLst>
      <p:ext uri="{BB962C8B-B14F-4D97-AF65-F5344CB8AC3E}">
        <p14:creationId xmlns:p14="http://schemas.microsoft.com/office/powerpoint/2010/main" val="3317614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2DED51-7939-FD35-1D62-724DCCB73B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72C06CE-F72D-BA63-EED0-E20ADBEA482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78B75B4-39CC-1B87-7E7A-F25FEA4E736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6F7A89-A3B7-8D47-4087-C58F325A0781}"/>
              </a:ext>
            </a:extLst>
          </p:cNvPr>
          <p:cNvSpPr>
            <a:spLocks noGrp="1"/>
          </p:cNvSpPr>
          <p:nvPr>
            <p:ph type="dt" sz="half" idx="10"/>
          </p:nvPr>
        </p:nvSpPr>
        <p:spPr/>
        <p:txBody>
          <a:bodyPr/>
          <a:lstStyle/>
          <a:p>
            <a:fld id="{845063DF-A978-4560-9A34-FBB028AA1866}" type="datetimeFigureOut">
              <a:rPr lang="en-US" smtClean="0"/>
              <a:t>7/10/2025</a:t>
            </a:fld>
            <a:endParaRPr lang="en-US"/>
          </a:p>
        </p:txBody>
      </p:sp>
      <p:sp>
        <p:nvSpPr>
          <p:cNvPr id="6" name="Footer Placeholder 5">
            <a:extLst>
              <a:ext uri="{FF2B5EF4-FFF2-40B4-BE49-F238E27FC236}">
                <a16:creationId xmlns:a16="http://schemas.microsoft.com/office/drawing/2014/main" id="{B84CD222-DDB2-9795-5D2A-66E5AFC63A1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96944A5-F70B-A6A6-4D75-8ACDC3F0B99D}"/>
              </a:ext>
            </a:extLst>
          </p:cNvPr>
          <p:cNvSpPr>
            <a:spLocks noGrp="1"/>
          </p:cNvSpPr>
          <p:nvPr>
            <p:ph type="sldNum" sz="quarter" idx="12"/>
          </p:nvPr>
        </p:nvSpPr>
        <p:spPr/>
        <p:txBody>
          <a:bodyPr/>
          <a:lstStyle/>
          <a:p>
            <a:fld id="{7F5356B3-6404-44DE-9887-D6F9408A3069}" type="slidenum">
              <a:rPr lang="en-US" smtClean="0"/>
              <a:t>‹#›</a:t>
            </a:fld>
            <a:endParaRPr lang="en-US"/>
          </a:p>
        </p:txBody>
      </p:sp>
    </p:spTree>
    <p:extLst>
      <p:ext uri="{BB962C8B-B14F-4D97-AF65-F5344CB8AC3E}">
        <p14:creationId xmlns:p14="http://schemas.microsoft.com/office/powerpoint/2010/main" val="24111776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CC490-C836-8976-7AFA-D2D46A51149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FBB7A36-103B-CCEB-0EB2-E444229D215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9E5D87F-6CA3-C2F2-ADBB-8D66604C11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37683F5-9799-55AF-7C72-CA3499B33914}"/>
              </a:ext>
            </a:extLst>
          </p:cNvPr>
          <p:cNvSpPr>
            <a:spLocks noGrp="1"/>
          </p:cNvSpPr>
          <p:nvPr>
            <p:ph type="dt" sz="half" idx="10"/>
          </p:nvPr>
        </p:nvSpPr>
        <p:spPr/>
        <p:txBody>
          <a:bodyPr/>
          <a:lstStyle/>
          <a:p>
            <a:fld id="{845063DF-A978-4560-9A34-FBB028AA1866}" type="datetimeFigureOut">
              <a:rPr lang="en-US" smtClean="0"/>
              <a:t>7/10/2025</a:t>
            </a:fld>
            <a:endParaRPr lang="en-US"/>
          </a:p>
        </p:txBody>
      </p:sp>
      <p:sp>
        <p:nvSpPr>
          <p:cNvPr id="6" name="Footer Placeholder 5">
            <a:extLst>
              <a:ext uri="{FF2B5EF4-FFF2-40B4-BE49-F238E27FC236}">
                <a16:creationId xmlns:a16="http://schemas.microsoft.com/office/drawing/2014/main" id="{F495036E-AAE7-B26E-2B53-EC3FA820026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DF7E89-2ABE-7CF8-5270-9A34E9C8DA28}"/>
              </a:ext>
            </a:extLst>
          </p:cNvPr>
          <p:cNvSpPr>
            <a:spLocks noGrp="1"/>
          </p:cNvSpPr>
          <p:nvPr>
            <p:ph type="sldNum" sz="quarter" idx="12"/>
          </p:nvPr>
        </p:nvSpPr>
        <p:spPr/>
        <p:txBody>
          <a:bodyPr/>
          <a:lstStyle/>
          <a:p>
            <a:fld id="{7F5356B3-6404-44DE-9887-D6F9408A3069}" type="slidenum">
              <a:rPr lang="en-US" smtClean="0"/>
              <a:t>‹#›</a:t>
            </a:fld>
            <a:endParaRPr lang="en-US"/>
          </a:p>
        </p:txBody>
      </p:sp>
    </p:spTree>
    <p:extLst>
      <p:ext uri="{BB962C8B-B14F-4D97-AF65-F5344CB8AC3E}">
        <p14:creationId xmlns:p14="http://schemas.microsoft.com/office/powerpoint/2010/main" val="17630114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2180A-45F6-95BA-720A-25210CDE54E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74C7A7C-88C1-975F-79A5-EE41584C3C9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201CAC-72B3-3A84-D23C-25992E543E62}"/>
              </a:ext>
            </a:extLst>
          </p:cNvPr>
          <p:cNvSpPr>
            <a:spLocks noGrp="1"/>
          </p:cNvSpPr>
          <p:nvPr>
            <p:ph type="dt" sz="half" idx="10"/>
          </p:nvPr>
        </p:nvSpPr>
        <p:spPr/>
        <p:txBody>
          <a:bodyPr/>
          <a:lstStyle/>
          <a:p>
            <a:fld id="{845063DF-A978-4560-9A34-FBB028AA1866}" type="datetimeFigureOut">
              <a:rPr lang="en-US" smtClean="0"/>
              <a:t>7/10/2025</a:t>
            </a:fld>
            <a:endParaRPr lang="en-US"/>
          </a:p>
        </p:txBody>
      </p:sp>
      <p:sp>
        <p:nvSpPr>
          <p:cNvPr id="5" name="Footer Placeholder 4">
            <a:extLst>
              <a:ext uri="{FF2B5EF4-FFF2-40B4-BE49-F238E27FC236}">
                <a16:creationId xmlns:a16="http://schemas.microsoft.com/office/drawing/2014/main" id="{85125900-2EA2-7A90-9B2E-0F6368962A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C76B7F3-0388-B8B0-1BD7-818558191924}"/>
              </a:ext>
            </a:extLst>
          </p:cNvPr>
          <p:cNvSpPr>
            <a:spLocks noGrp="1"/>
          </p:cNvSpPr>
          <p:nvPr>
            <p:ph type="sldNum" sz="quarter" idx="12"/>
          </p:nvPr>
        </p:nvSpPr>
        <p:spPr/>
        <p:txBody>
          <a:bodyPr/>
          <a:lstStyle/>
          <a:p>
            <a:fld id="{7F5356B3-6404-44DE-9887-D6F9408A3069}" type="slidenum">
              <a:rPr lang="en-US" smtClean="0"/>
              <a:t>‹#›</a:t>
            </a:fld>
            <a:endParaRPr lang="en-US"/>
          </a:p>
        </p:txBody>
      </p:sp>
    </p:spTree>
    <p:extLst>
      <p:ext uri="{BB962C8B-B14F-4D97-AF65-F5344CB8AC3E}">
        <p14:creationId xmlns:p14="http://schemas.microsoft.com/office/powerpoint/2010/main" val="18904590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0596FE-5357-F824-444C-D1EEE523E3E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4EF4E7B-3CE1-3FCC-E69C-8206EAEABB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759FD7-625C-A3E8-1257-9C69798AC2A6}"/>
              </a:ext>
            </a:extLst>
          </p:cNvPr>
          <p:cNvSpPr>
            <a:spLocks noGrp="1"/>
          </p:cNvSpPr>
          <p:nvPr>
            <p:ph type="dt" sz="half" idx="10"/>
          </p:nvPr>
        </p:nvSpPr>
        <p:spPr/>
        <p:txBody>
          <a:bodyPr/>
          <a:lstStyle/>
          <a:p>
            <a:fld id="{845063DF-A978-4560-9A34-FBB028AA1866}" type="datetimeFigureOut">
              <a:rPr lang="en-US" smtClean="0"/>
              <a:t>7/10/2025</a:t>
            </a:fld>
            <a:endParaRPr lang="en-US"/>
          </a:p>
        </p:txBody>
      </p:sp>
      <p:sp>
        <p:nvSpPr>
          <p:cNvPr id="5" name="Footer Placeholder 4">
            <a:extLst>
              <a:ext uri="{FF2B5EF4-FFF2-40B4-BE49-F238E27FC236}">
                <a16:creationId xmlns:a16="http://schemas.microsoft.com/office/drawing/2014/main" id="{1DA0B199-3BFC-761F-1047-CD7B85B512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A36AA1-B023-B58F-CA6A-B801C478151C}"/>
              </a:ext>
            </a:extLst>
          </p:cNvPr>
          <p:cNvSpPr>
            <a:spLocks noGrp="1"/>
          </p:cNvSpPr>
          <p:nvPr>
            <p:ph type="sldNum" sz="quarter" idx="12"/>
          </p:nvPr>
        </p:nvSpPr>
        <p:spPr/>
        <p:txBody>
          <a:bodyPr/>
          <a:lstStyle/>
          <a:p>
            <a:fld id="{7F5356B3-6404-44DE-9887-D6F9408A3069}" type="slidenum">
              <a:rPr lang="en-US" smtClean="0"/>
              <a:t>‹#›</a:t>
            </a:fld>
            <a:endParaRPr lang="en-US"/>
          </a:p>
        </p:txBody>
      </p:sp>
    </p:spTree>
    <p:extLst>
      <p:ext uri="{BB962C8B-B14F-4D97-AF65-F5344CB8AC3E}">
        <p14:creationId xmlns:p14="http://schemas.microsoft.com/office/powerpoint/2010/main" val="22030755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7ABD2A-7976-5053-16AF-7C731EDBD1B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F423F49-AB4A-DC84-7902-92F0C919D66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5C8275-D176-D699-42E8-8863D04FBB3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5063DF-A978-4560-9A34-FBB028AA1866}" type="datetimeFigureOut">
              <a:rPr lang="en-US" smtClean="0"/>
              <a:t>7/10/2025</a:t>
            </a:fld>
            <a:endParaRPr lang="en-US"/>
          </a:p>
        </p:txBody>
      </p:sp>
      <p:sp>
        <p:nvSpPr>
          <p:cNvPr id="5" name="Footer Placeholder 4">
            <a:extLst>
              <a:ext uri="{FF2B5EF4-FFF2-40B4-BE49-F238E27FC236}">
                <a16:creationId xmlns:a16="http://schemas.microsoft.com/office/drawing/2014/main" id="{CA0A57BB-2430-9CC8-8039-26FE2892C39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055CEC5B-800B-8788-5BE9-108EC968D5A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F5356B3-6404-44DE-9887-D6F9408A3069}" type="slidenum">
              <a:rPr lang="en-US" smtClean="0"/>
              <a:t>'#'</a:t>
            </a:fld>
            <a:endParaRPr lang="en-US"/>
          </a:p>
        </p:txBody>
      </p:sp>
    </p:spTree>
    <p:extLst>
      <p:ext uri="{BB962C8B-B14F-4D97-AF65-F5344CB8AC3E}">
        <p14:creationId xmlns:p14="http://schemas.microsoft.com/office/powerpoint/2010/main" val="116826567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jpe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2.jpe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74141CCB-744F-5314-AC4B-1544965D44E9}"/>
              </a:ext>
            </a:extLst>
          </p:cNvPr>
          <p:cNvSpPr/>
          <p:nvPr/>
        </p:nvSpPr>
        <p:spPr>
          <a:xfrm>
            <a:off x="7688360" y="5384800"/>
            <a:ext cx="1771650" cy="482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err="1"/>
              <a:t>Review </a:t>
            </a:r>
            <a:r>
              <a:rPr lang="fi-FI" err="1"/>
              <a:t>again</a:t>
            </a:r>
            <a:endParaRPr lang="en-US"/>
          </a:p>
        </p:txBody>
      </p:sp>
      <p:sp>
        <p:nvSpPr>
          <p:cNvPr id="5" name="Rectangle 4">
            <a:extLst>
              <a:ext uri="{FF2B5EF4-FFF2-40B4-BE49-F238E27FC236}">
                <a16:creationId xmlns:a16="http://schemas.microsoft.com/office/drawing/2014/main" id="{96B502EB-E551-2841-AC7B-75861B5F4106}"/>
              </a:ext>
            </a:extLst>
          </p:cNvPr>
          <p:cNvSpPr/>
          <p:nvPr/>
        </p:nvSpPr>
        <p:spPr>
          <a:xfrm>
            <a:off x="2002789" y="5384800"/>
            <a:ext cx="1771650" cy="482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err="1"/>
              <a:t>Save </a:t>
            </a:r>
            <a:r>
              <a:rPr lang="fi-FI"/>
              <a:t>as PDF</a:t>
            </a:r>
            <a:endParaRPr lang="en-US"/>
          </a:p>
        </p:txBody>
      </p:sp>
      <p:sp>
        <p:nvSpPr>
          <p:cNvPr id="6" name="Rectangle 5">
            <a:extLst>
              <a:ext uri="{FF2B5EF4-FFF2-40B4-BE49-F238E27FC236}">
                <a16:creationId xmlns:a16="http://schemas.microsoft.com/office/drawing/2014/main" id="{4158E62E-7951-2A05-F174-3580EA16C46C}"/>
              </a:ext>
            </a:extLst>
          </p:cNvPr>
          <p:cNvSpPr/>
          <p:nvPr/>
        </p:nvSpPr>
        <p:spPr>
          <a:xfrm>
            <a:off x="4091940" y="5384800"/>
            <a:ext cx="3278919" cy="482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a:t>Make </a:t>
            </a:r>
            <a:r>
              <a:rPr lang="fi-FI" err="1"/>
              <a:t>more </a:t>
            </a:r>
            <a:r>
              <a:rPr lang="fi-FI" err="1"/>
              <a:t>changes </a:t>
            </a:r>
            <a:r>
              <a:rPr lang="fi-FI" err="1"/>
              <a:t>with </a:t>
            </a:r>
            <a:r>
              <a:rPr lang="fi-FI"/>
              <a:t>GPT</a:t>
            </a:r>
            <a:endParaRPr lang="en-US"/>
          </a:p>
        </p:txBody>
      </p:sp>
      <p:sp>
        <p:nvSpPr>
          <p:cNvPr id="8" name="TextBox 7">
            <a:extLst>
              <a:ext uri="{FF2B5EF4-FFF2-40B4-BE49-F238E27FC236}">
                <a16:creationId xmlns:a16="http://schemas.microsoft.com/office/drawing/2014/main" id="{A52332B0-BAF9-627A-2FB7-55AAC21983C2}"/>
              </a:ext>
            </a:extLst>
          </p:cNvPr>
          <p:cNvSpPr txBox="1"/>
          <p:nvPr/>
        </p:nvSpPr>
        <p:spPr>
          <a:xfrm>
            <a:off x="1774824" y="-1351199"/>
            <a:ext cx="8296275" cy="6186309"/>
          </a:xfrm>
          <a:prstGeom prst="rect">
            <a:avLst/>
          </a:prstGeom>
          <a:noFill/>
        </p:spPr>
        <p:txBody>
          <a:bodyPr wrap="square">
            <a:spAutoFit/>
          </a:bodyPr>
          <a:lstStyle/>
          <a:p>
            <a:pPr algn="l"/>
            <a:r>
              <a:rPr lang="en-US" b="0" i="0">
                <a:solidFill>
                  <a:srgbClr val="24292F"/>
                </a:solidFill>
                <a:effectLst/>
                <a:latin typeface="-apple-system"/>
              </a:rPr>
              <a:t>The wingspan of the Small Elephant Hawk-moth ranges from 40-60 mm, and its coloring closely resembles that of its close relative, the Elephant Hawk-moth (</a:t>
            </a:r>
            <a:r>
              <a:rPr lang="en-US" b="0" i="0" err="1">
                <a:solidFill>
                  <a:srgbClr val="24292F"/>
                </a:solidFill>
                <a:effectLst/>
                <a:latin typeface="-apple-system"/>
              </a:rPr>
              <a:t>Deilephila </a:t>
            </a:r>
            <a:r>
              <a:rPr lang="en-US" b="0" i="0" err="1">
                <a:solidFill>
                  <a:srgbClr val="24292F"/>
                </a:solidFill>
                <a:effectLst/>
                <a:latin typeface="-apple-system"/>
              </a:rPr>
              <a:t>elpenor</a:t>
            </a:r>
            <a:r>
              <a:rPr lang="en-US" b="0" i="0">
                <a:solidFill>
                  <a:srgbClr val="24292F"/>
                </a:solidFill>
                <a:effectLst/>
                <a:latin typeface="-apple-system"/>
              </a:rPr>
              <a:t>). These species are also known to interbreed.</a:t>
            </a:r>
          </a:p>
          <a:p>
            <a:pPr algn="l"/>
            <a:r>
              <a:rPr lang="en-US" b="0" i="0">
                <a:solidFill>
                  <a:srgbClr val="24292F"/>
                </a:solidFill>
                <a:effectLst/>
                <a:latin typeface="-apple-system"/>
              </a:rPr>
              <a:t>The moth is characterized by its magenta and olive-green colouring. The forewings are predominantly green with red colouring only at the leading and outer edges. The boundary between the red and green is distinct. The hindwings are mostly yellowish-green, except for the black base and leading edge, with red only on the edges. Unlike the Elephant Hawk-moth, the central body of the Small Elephant Hawk-moth does not have clear stripes, and its abdomen is unstriped. Subspecies found in Central Asia tend to be browner.</a:t>
            </a:r>
          </a:p>
          <a:p>
            <a:pPr algn="l"/>
            <a:r>
              <a:rPr lang="en-US" b="0" i="0">
                <a:solidFill>
                  <a:srgbClr val="24292F"/>
                </a:solidFill>
                <a:effectLst/>
                <a:latin typeface="-apple-system"/>
              </a:rPr>
              <a:t>The caterpillar also resembles that of the Elephant Hawk-moth: when old, it turns into a giant elephant that can fly. There are two pairs of eye spots on the sides of the front section. A key identifying feature of the Small Elephant Hawk-moth caterpillar is the absence of a prominent horn at the rear. A fully grown caterpillar measures 55-70 mm in length.</a:t>
            </a:r>
          </a:p>
          <a:p>
            <a:pPr algn="l"/>
            <a:r>
              <a:rPr lang="en-US" b="0" i="0">
                <a:solidFill>
                  <a:srgbClr val="24292F"/>
                </a:solidFill>
                <a:effectLst/>
                <a:latin typeface="-apple-system"/>
              </a:rPr>
              <a:t>Distribution and Flight Period The Small Elephant Hawk-moth is found across most of Europe, extending eastward into Central Asia and Southern Siberia. Its range also includes the Atlas Mountains of North Africa, where the subspecies D. p. colossus is found. In England, the species is common in the south and becomes rarer as one moves northward. The northern boundary of its range is along the line from Carlisle to Newcastle, making its distribution more southerly compared to the Elephant Hawk-moth. Adult moths fly in a single generation from May to early July</a:t>
            </a:r>
          </a:p>
        </p:txBody>
      </p:sp>
      <p:sp>
        <p:nvSpPr>
          <p:cNvPr id="10" name="Rectangle 9">
            <a:extLst>
              <a:ext uri="{FF2B5EF4-FFF2-40B4-BE49-F238E27FC236}">
                <a16:creationId xmlns:a16="http://schemas.microsoft.com/office/drawing/2014/main" id="{C32828DC-500E-2110-54E1-FD0DEFC2354A}"/>
              </a:ext>
            </a:extLst>
          </p:cNvPr>
          <p:cNvSpPr/>
          <p:nvPr/>
        </p:nvSpPr>
        <p:spPr>
          <a:xfrm>
            <a:off x="1143000" y="-1581150"/>
            <a:ext cx="9664700" cy="1587500"/>
          </a:xfrm>
          <a:prstGeom prst="rect">
            <a:avLst/>
          </a:prstGeom>
          <a:solidFill>
            <a:srgbClr val="ECEE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66F1A0D-2BEA-1DAB-78B7-D88A88A6A493}"/>
              </a:ext>
            </a:extLst>
          </p:cNvPr>
          <p:cNvSpPr/>
          <p:nvPr/>
        </p:nvSpPr>
        <p:spPr>
          <a:xfrm>
            <a:off x="1670050" y="6350"/>
            <a:ext cx="8521700" cy="4889500"/>
          </a:xfrm>
          <a:prstGeom prst="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Connector 12">
            <a:extLst>
              <a:ext uri="{FF2B5EF4-FFF2-40B4-BE49-F238E27FC236}">
                <a16:creationId xmlns:a16="http://schemas.microsoft.com/office/drawing/2014/main" id="{8ABD4AA7-D6A8-F4D6-1778-E925BBC48BF4}"/>
              </a:ext>
            </a:extLst>
          </p:cNvPr>
          <p:cNvCxnSpPr/>
          <p:nvPr/>
        </p:nvCxnSpPr>
        <p:spPr>
          <a:xfrm flipV="1">
            <a:off x="1384300" y="6019137"/>
            <a:ext cx="1295290" cy="1296063"/>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6958CCD1-2D3B-0CC9-A2DE-74629BC4632A}"/>
              </a:ext>
            </a:extLst>
          </p:cNvPr>
          <p:cNvCxnSpPr/>
          <p:nvPr/>
        </p:nvCxnSpPr>
        <p:spPr>
          <a:xfrm>
            <a:off x="5828306" y="6074797"/>
            <a:ext cx="0" cy="1447137"/>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F654B76E-CFBC-84B8-4E58-DCE81710F69E}"/>
              </a:ext>
            </a:extLst>
          </p:cNvPr>
          <p:cNvCxnSpPr/>
          <p:nvPr/>
        </p:nvCxnSpPr>
        <p:spPr>
          <a:xfrm>
            <a:off x="8682824" y="6074797"/>
            <a:ext cx="1388275" cy="1343770"/>
          </a:xfrm>
          <a:prstGeom prst="line">
            <a:avLst/>
          </a:prstGeom>
        </p:spPr>
        <p:style>
          <a:lnRef idx="2">
            <a:schemeClr val="accent1"/>
          </a:lnRef>
          <a:fillRef idx="0">
            <a:schemeClr val="accent1"/>
          </a:fillRef>
          <a:effectRef idx="1">
            <a:schemeClr val="accent1"/>
          </a:effectRef>
          <a:fontRef idx="minor">
            <a:schemeClr val="tx1"/>
          </a:fontRef>
        </p:style>
      </p:cxnSp>
      <p:sp>
        <p:nvSpPr>
          <p:cNvPr id="18" name="TextBox 17">
            <a:extLst>
              <a:ext uri="{FF2B5EF4-FFF2-40B4-BE49-F238E27FC236}">
                <a16:creationId xmlns:a16="http://schemas.microsoft.com/office/drawing/2014/main" id="{48D50EFF-B0E8-3BA0-271F-9C4A9E4B6A4D}"/>
              </a:ext>
            </a:extLst>
          </p:cNvPr>
          <p:cNvSpPr txBox="1"/>
          <p:nvPr/>
        </p:nvSpPr>
        <p:spPr>
          <a:xfrm>
            <a:off x="9621078" y="7625964"/>
            <a:ext cx="2122998" cy="584775"/>
          </a:xfrm>
          <a:prstGeom prst="rect">
            <a:avLst/>
          </a:prstGeom>
          <a:noFill/>
        </p:spPr>
        <p:txBody>
          <a:bodyPr wrap="square" rtlCol="0">
            <a:spAutoFit/>
          </a:bodyPr>
          <a:lstStyle/>
          <a:p>
            <a:r>
              <a:rPr lang="fi-FI" sz="1600"/>
              <a:t>Goes back to the beginning of the turn</a:t>
            </a:r>
            <a:endParaRPr lang="en-US" sz="1600"/>
          </a:p>
        </p:txBody>
      </p:sp>
      <p:sp>
        <p:nvSpPr>
          <p:cNvPr id="19" name="TextBox 18">
            <a:extLst>
              <a:ext uri="{FF2B5EF4-FFF2-40B4-BE49-F238E27FC236}">
                <a16:creationId xmlns:a16="http://schemas.microsoft.com/office/drawing/2014/main" id="{DB5AFFB2-F540-5D39-4114-32EA87D2CDDD}"/>
              </a:ext>
            </a:extLst>
          </p:cNvPr>
          <p:cNvSpPr txBox="1"/>
          <p:nvPr/>
        </p:nvSpPr>
        <p:spPr>
          <a:xfrm>
            <a:off x="4716449" y="7625964"/>
            <a:ext cx="2884998" cy="1077218"/>
          </a:xfrm>
          <a:prstGeom prst="rect">
            <a:avLst/>
          </a:prstGeom>
          <a:noFill/>
        </p:spPr>
        <p:txBody>
          <a:bodyPr wrap="square" rtlCol="0">
            <a:spAutoFit/>
          </a:bodyPr>
          <a:lstStyle/>
          <a:p>
            <a:r>
              <a:rPr lang="fi-FI" sz="1600"/>
              <a:t>Goes to the next page where you can localise variables and make changes </a:t>
            </a:r>
            <a:r>
              <a:rPr lang="fi-FI" sz="1600"/>
              <a:t>using </a:t>
            </a:r>
            <a:r>
              <a:rPr lang="fi-FI" sz="1600" err="1"/>
              <a:t>GPT</a:t>
            </a:r>
            <a:endParaRPr lang="en-US" sz="1600"/>
          </a:p>
        </p:txBody>
      </p:sp>
      <p:sp>
        <p:nvSpPr>
          <p:cNvPr id="20" name="TextBox 19">
            <a:extLst>
              <a:ext uri="{FF2B5EF4-FFF2-40B4-BE49-F238E27FC236}">
                <a16:creationId xmlns:a16="http://schemas.microsoft.com/office/drawing/2014/main" id="{3F1B5885-C24D-41FA-FAF4-CF4730B4FBA2}"/>
              </a:ext>
            </a:extLst>
          </p:cNvPr>
          <p:cNvSpPr txBox="1"/>
          <p:nvPr/>
        </p:nvSpPr>
        <p:spPr>
          <a:xfrm>
            <a:off x="245552" y="7466937"/>
            <a:ext cx="2122998" cy="584775"/>
          </a:xfrm>
          <a:prstGeom prst="rect">
            <a:avLst/>
          </a:prstGeom>
          <a:noFill/>
        </p:spPr>
        <p:txBody>
          <a:bodyPr wrap="square" rtlCol="0">
            <a:spAutoFit/>
          </a:bodyPr>
          <a:lstStyle/>
          <a:p>
            <a:r>
              <a:rPr lang="fi-FI" sz="1600"/>
              <a:t>Saves the document as it is</a:t>
            </a:r>
            <a:endParaRPr lang="en-US" sz="1600"/>
          </a:p>
        </p:txBody>
      </p:sp>
    </p:spTree>
    <p:extLst>
      <p:ext uri="{BB962C8B-B14F-4D97-AF65-F5344CB8AC3E}">
        <p14:creationId xmlns:p14="http://schemas.microsoft.com/office/powerpoint/2010/main" val="1442318292"/>
      </p:ext>
    </p:extLst>
  </p:cSld>
  <p:clrMapOvr>
    <a:masterClrMapping/>
  </p:clrMapOvr>
</p:sld>
</file>

<file path=ppt/slides/slide2.xml><?xml version="1.0" encoding="utf-8"?>
<p:sld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A52332B0-BAF9-627A-2FB7-55AAC21983C2}"/>
              </a:ext>
            </a:extLst>
          </p:cNvPr>
          <p:cNvSpPr txBox="1"/>
          <p:nvPr/>
        </p:nvSpPr>
        <p:spPr>
          <a:xfrm>
            <a:off x="669925" y="715176"/>
            <a:ext cx="4968875" cy="4524315"/>
          </a:xfrm>
          <a:prstGeom prst="rect">
            <a:avLst/>
          </a:prstGeom>
          <a:noFill/>
        </p:spPr>
        <p:txBody>
          <a:bodyPr wrap="square">
            <a:spAutoFit/>
          </a:bodyPr>
          <a:lstStyle/>
          <a:p>
            <a:pPr algn="l"/>
            <a:r>
              <a:rPr lang="en-US" sz="1200" b="0" i="0">
                <a:solidFill>
                  <a:srgbClr val="24292F"/>
                </a:solidFill>
                <a:effectLst/>
                <a:latin typeface="-apple-system"/>
              </a:rPr>
              <a:t>The wingspan of the Small Elephant Hawk-moth ranges from 40-60 mm, and its colouring closely resembles that of its close relative, the Elephant Hawk-moth (</a:t>
            </a:r>
            <a:r>
              <a:rPr lang="en-US" sz="1200" b="0" i="0" err="1">
                <a:solidFill>
                  <a:srgbClr val="24292F"/>
                </a:solidFill>
                <a:effectLst/>
                <a:latin typeface="-apple-system"/>
              </a:rPr>
              <a:t>Deilephila </a:t>
            </a:r>
            <a:r>
              <a:rPr lang="en-US" sz="1200" b="0" i="0" err="1">
                <a:solidFill>
                  <a:srgbClr val="24292F"/>
                </a:solidFill>
                <a:effectLst/>
                <a:latin typeface="-apple-system"/>
              </a:rPr>
              <a:t>elpenor</a:t>
            </a:r>
            <a:r>
              <a:rPr lang="en-US" sz="1200" b="0" i="0">
                <a:solidFill>
                  <a:srgbClr val="24292F"/>
                </a:solidFill>
                <a:effectLst/>
                <a:latin typeface="-apple-system"/>
              </a:rPr>
              <a:t>). These species are also known to interbreed.</a:t>
            </a:r>
          </a:p>
          <a:p>
            <a:pPr algn="l"/>
            <a:r>
              <a:rPr lang="en-US" sz="1200" b="0" i="0">
                <a:solidFill>
                  <a:srgbClr val="24292F"/>
                </a:solidFill>
                <a:effectLst/>
                <a:latin typeface="-apple-system"/>
              </a:rPr>
              <a:t>The moth is characterized by its magenta and olive-green colouring. The forewings are predominantly green with red colouring only at the leading and outer edges. The boundary between the red and green is distinct. The hindwings are mostly yellowish-green, except for the black base and leading edge, with red only on the edges. Unlike the Elephant Hawk-moth, the central body of the Small Elephant Hawk-moth does not have clear stripes, and its abdomen is unstriped. Subspecies found in Central Asia tend to be browner.</a:t>
            </a:r>
          </a:p>
          <a:p>
            <a:pPr algn="l"/>
            <a:r>
              <a:rPr lang="en-US" sz="1200" b="0" i="0">
                <a:solidFill>
                  <a:srgbClr val="24292F"/>
                </a:solidFill>
                <a:effectLst/>
                <a:latin typeface="-apple-system"/>
              </a:rPr>
              <a:t>The caterpillar also resembles that of the Elephant Hawk-moth: when old, it turns into a giant elephant that can fly. There are two pairs of eye spots on the sides of the front section. A key identifying feature of the Small Elephant Hawk-moth caterpillar is the absence of a prominent horn at the rear. A fully grown caterpillar measures 55-70 mm in length.</a:t>
            </a:r>
          </a:p>
          <a:p>
            <a:pPr algn="l"/>
            <a:r>
              <a:rPr lang="en-US" sz="1200" b="0" i="0">
                <a:solidFill>
                  <a:srgbClr val="24292F"/>
                </a:solidFill>
                <a:effectLst/>
                <a:latin typeface="-apple-system"/>
              </a:rPr>
              <a:t>Distribution and Flight Period The Small Elephant Hawk-moth is found across most of Europe, extending eastward into Central Asia and Southern Siberia. Its range also includes the Atlas Mountains of North Africa, where the subspecies D. p. colossus is found. In England, the species is common in the south and becomes rarer as one moves northward. The northern boundary of its range is along the line from Carlisle to Newcastle, making its distribution more southerly compared to the Elephant Hawk-moth. Adult moths fly in a single generation from May to early July.</a:t>
            </a:r>
          </a:p>
        </p:txBody>
      </p:sp>
      <p:sp>
        <p:nvSpPr>
          <p:cNvPr id="11" name="Rectangle 10">
            <a:extLst>
              <a:ext uri="{FF2B5EF4-FFF2-40B4-BE49-F238E27FC236}">
                <a16:creationId xmlns:a16="http://schemas.microsoft.com/office/drawing/2014/main" id="{E66F1A0D-2BEA-1DAB-78B7-D88A88A6A493}"/>
              </a:ext>
            </a:extLst>
          </p:cNvPr>
          <p:cNvSpPr/>
          <p:nvPr/>
        </p:nvSpPr>
        <p:spPr>
          <a:xfrm>
            <a:off x="517525" y="469291"/>
            <a:ext cx="5178425" cy="5199989"/>
          </a:xfrm>
          <a:prstGeom prst="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C6692A82-2805-155E-72D9-6934C11D178A}"/>
              </a:ext>
            </a:extLst>
          </p:cNvPr>
          <p:cNvSpPr/>
          <p:nvPr/>
        </p:nvSpPr>
        <p:spPr>
          <a:xfrm>
            <a:off x="1054028" y="5982855"/>
            <a:ext cx="1771650" cy="4139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600" err="1"/>
              <a:t>Save </a:t>
            </a:r>
            <a:r>
              <a:rPr lang="fi-FI" sz="1600" err="1"/>
              <a:t>changes</a:t>
            </a:r>
            <a:endParaRPr lang="en-US" sz="1600"/>
          </a:p>
        </p:txBody>
      </p:sp>
      <p:sp>
        <p:nvSpPr>
          <p:cNvPr id="9" name="Rectangle 8">
            <a:extLst>
              <a:ext uri="{FF2B5EF4-FFF2-40B4-BE49-F238E27FC236}">
                <a16:creationId xmlns:a16="http://schemas.microsoft.com/office/drawing/2014/main" id="{0E5B00D9-DF1E-87D9-641F-00A8173A5B49}"/>
              </a:ext>
            </a:extLst>
          </p:cNvPr>
          <p:cNvSpPr/>
          <p:nvPr/>
        </p:nvSpPr>
        <p:spPr>
          <a:xfrm>
            <a:off x="6228852" y="4669484"/>
            <a:ext cx="2334702" cy="413909"/>
          </a:xfrm>
          <a:prstGeom prst="rect">
            <a:avLst/>
          </a:prstGeom>
          <a:solidFill>
            <a:schemeClr val="bg1">
              <a:lumMod val="8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i-FI" sz="1600" err="1">
                <a:solidFill>
                  <a:schemeClr val="bg2">
                    <a:lumMod val="50000"/>
                  </a:schemeClr>
                </a:solidFill>
              </a:rPr>
              <a:t>moth</a:t>
            </a:r>
            <a:endParaRPr lang="en-US" sz="1600">
              <a:solidFill>
                <a:schemeClr val="bg2">
                  <a:lumMod val="50000"/>
                </a:schemeClr>
              </a:solidFill>
            </a:endParaRPr>
          </a:p>
        </p:txBody>
      </p:sp>
      <p:sp>
        <p:nvSpPr>
          <p:cNvPr id="12" name="TextBox 11">
            <a:extLst>
              <a:ext uri="{FF2B5EF4-FFF2-40B4-BE49-F238E27FC236}">
                <a16:creationId xmlns:a16="http://schemas.microsoft.com/office/drawing/2014/main" id="{EC2ED35F-4B2C-D903-DC47-121C70996A23}"/>
              </a:ext>
            </a:extLst>
          </p:cNvPr>
          <p:cNvSpPr txBox="1"/>
          <p:nvPr/>
        </p:nvSpPr>
        <p:spPr>
          <a:xfrm>
            <a:off x="6151076" y="4303440"/>
            <a:ext cx="2832487" cy="307777"/>
          </a:xfrm>
          <a:prstGeom prst="rect">
            <a:avLst/>
          </a:prstGeom>
          <a:noFill/>
        </p:spPr>
        <p:txBody>
          <a:bodyPr wrap="square" rtlCol="0">
            <a:spAutoFit/>
          </a:bodyPr>
          <a:lstStyle/>
          <a:p>
            <a:r>
              <a:rPr lang="fi-FI" sz="1400" err="1"/>
              <a:t>Change </a:t>
            </a:r>
            <a:r>
              <a:rPr lang="fi-FI" sz="1400" err="1"/>
              <a:t>this </a:t>
            </a:r>
            <a:r>
              <a:rPr lang="fi-FI" sz="1400" err="1"/>
              <a:t>word</a:t>
            </a:r>
            <a:r>
              <a:rPr lang="fi-FI" sz="1400"/>
              <a:t>:</a:t>
            </a:r>
            <a:endParaRPr lang="en-US" sz="1400"/>
          </a:p>
        </p:txBody>
      </p:sp>
      <p:sp>
        <p:nvSpPr>
          <p:cNvPr id="13" name="Rectangle 12">
            <a:extLst>
              <a:ext uri="{FF2B5EF4-FFF2-40B4-BE49-F238E27FC236}">
                <a16:creationId xmlns:a16="http://schemas.microsoft.com/office/drawing/2014/main" id="{3ED86094-A437-DFD9-F329-0E56E17737F6}"/>
              </a:ext>
            </a:extLst>
          </p:cNvPr>
          <p:cNvSpPr/>
          <p:nvPr/>
        </p:nvSpPr>
        <p:spPr>
          <a:xfrm>
            <a:off x="8854107" y="4661533"/>
            <a:ext cx="2334702" cy="413909"/>
          </a:xfrm>
          <a:prstGeom prst="rect">
            <a:avLst/>
          </a:prstGeom>
          <a:solidFill>
            <a:schemeClr val="bg1">
              <a:lumMod val="8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i-FI" sz="1600" err="1">
                <a:solidFill>
                  <a:schemeClr val="bg2">
                    <a:lumMod val="50000"/>
                  </a:schemeClr>
                </a:solidFill>
              </a:rPr>
              <a:t>insect</a:t>
            </a:r>
            <a:endParaRPr lang="en-US" sz="1600">
              <a:solidFill>
                <a:schemeClr val="bg2">
                  <a:lumMod val="50000"/>
                </a:schemeClr>
              </a:solidFill>
            </a:endParaRPr>
          </a:p>
        </p:txBody>
      </p:sp>
      <p:sp>
        <p:nvSpPr>
          <p:cNvPr id="14" name="TextBox 13">
            <a:extLst>
              <a:ext uri="{FF2B5EF4-FFF2-40B4-BE49-F238E27FC236}">
                <a16:creationId xmlns:a16="http://schemas.microsoft.com/office/drawing/2014/main" id="{721C8302-48C0-C22F-5D6A-77FBE39B7803}"/>
              </a:ext>
            </a:extLst>
          </p:cNvPr>
          <p:cNvSpPr txBox="1"/>
          <p:nvPr/>
        </p:nvSpPr>
        <p:spPr>
          <a:xfrm>
            <a:off x="8760428" y="4295489"/>
            <a:ext cx="2832487" cy="307777"/>
          </a:xfrm>
          <a:prstGeom prst="rect">
            <a:avLst/>
          </a:prstGeom>
          <a:noFill/>
        </p:spPr>
        <p:txBody>
          <a:bodyPr wrap="square" rtlCol="0">
            <a:spAutoFit/>
          </a:bodyPr>
          <a:lstStyle/>
          <a:p>
            <a:r>
              <a:rPr lang="fi-FI" sz="1400"/>
              <a:t>To </a:t>
            </a:r>
            <a:r>
              <a:rPr lang="fi-FI" sz="1400" err="1"/>
              <a:t>this </a:t>
            </a:r>
            <a:r>
              <a:rPr lang="fi-FI" sz="1400" err="1"/>
              <a:t>word</a:t>
            </a:r>
            <a:r>
              <a:rPr lang="fi-FI" sz="1400"/>
              <a:t>:</a:t>
            </a:r>
            <a:endParaRPr lang="en-US" sz="1400"/>
          </a:p>
        </p:txBody>
      </p:sp>
      <p:sp>
        <p:nvSpPr>
          <p:cNvPr id="15" name="TextBox 14">
            <a:extLst>
              <a:ext uri="{FF2B5EF4-FFF2-40B4-BE49-F238E27FC236}">
                <a16:creationId xmlns:a16="http://schemas.microsoft.com/office/drawing/2014/main" id="{D78F88C3-DA17-D480-CB0A-01D623F0A0C5}"/>
              </a:ext>
            </a:extLst>
          </p:cNvPr>
          <p:cNvSpPr txBox="1"/>
          <p:nvPr/>
        </p:nvSpPr>
        <p:spPr>
          <a:xfrm>
            <a:off x="3326461" y="7736857"/>
            <a:ext cx="3337535" cy="1077218"/>
          </a:xfrm>
          <a:prstGeom prst="rect">
            <a:avLst/>
          </a:prstGeom>
          <a:noFill/>
        </p:spPr>
        <p:txBody>
          <a:bodyPr wrap="square" rtlCol="0">
            <a:spAutoFit/>
          </a:bodyPr>
          <a:lstStyle/>
          <a:p>
            <a:r>
              <a:rPr lang="fi-FI" sz="1600"/>
              <a:t>Saves all changes and goes back </a:t>
            </a:r>
            <a:r>
              <a:rPr lang="fi-FI" sz="1600" err="1"/>
              <a:t>to CompletedScreen</a:t>
            </a:r>
            <a:r>
              <a:rPr lang="fi-FI" sz="1600"/>
              <a:t>, where you can see the whole text in its final form and save it </a:t>
            </a:r>
            <a:r>
              <a:rPr lang="fi-FI" sz="1600" err="1"/>
              <a:t>as a PDF.</a:t>
            </a:r>
            <a:endParaRPr lang="en-US" sz="1600"/>
          </a:p>
        </p:txBody>
      </p:sp>
      <p:cxnSp>
        <p:nvCxnSpPr>
          <p:cNvPr id="17" name="Straight Connector 16">
            <a:extLst>
              <a:ext uri="{FF2B5EF4-FFF2-40B4-BE49-F238E27FC236}">
                <a16:creationId xmlns:a16="http://schemas.microsoft.com/office/drawing/2014/main" id="{2B70B9C9-B3E6-21EA-8C37-D2C06AEF374C}"/>
              </a:ext>
            </a:extLst>
          </p:cNvPr>
          <p:cNvCxnSpPr>
            <a:cxnSpLocks/>
          </p:cNvCxnSpPr>
          <p:nvPr/>
        </p:nvCxnSpPr>
        <p:spPr>
          <a:xfrm flipH="1">
            <a:off x="1747326" y="6543923"/>
            <a:ext cx="129182" cy="1058186"/>
          </a:xfrm>
          <a:prstGeom prst="line">
            <a:avLst/>
          </a:prstGeom>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526F1F06-701D-1A99-AE9A-FFE228E5B037}"/>
              </a:ext>
            </a:extLst>
          </p:cNvPr>
          <p:cNvSpPr/>
          <p:nvPr/>
        </p:nvSpPr>
        <p:spPr>
          <a:xfrm>
            <a:off x="3347499" y="759572"/>
            <a:ext cx="429371" cy="194585"/>
          </a:xfrm>
          <a:prstGeom prst="rect">
            <a:avLst/>
          </a:prstGeom>
          <a:solidFill>
            <a:srgbClr val="A52D07">
              <a:alpha val="56078"/>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1" name="Straight Connector 20">
            <a:extLst>
              <a:ext uri="{FF2B5EF4-FFF2-40B4-BE49-F238E27FC236}">
                <a16:creationId xmlns:a16="http://schemas.microsoft.com/office/drawing/2014/main" id="{7FE9FC10-6429-FB4E-1C1B-07F14FA3D7BC}"/>
              </a:ext>
            </a:extLst>
          </p:cNvPr>
          <p:cNvCxnSpPr>
            <a:cxnSpLocks/>
          </p:cNvCxnSpPr>
          <p:nvPr/>
        </p:nvCxnSpPr>
        <p:spPr>
          <a:xfrm flipV="1">
            <a:off x="3681454" y="-450361"/>
            <a:ext cx="421419" cy="1122472"/>
          </a:xfrm>
          <a:prstGeom prst="line">
            <a:avLst/>
          </a:prstGeom>
        </p:spPr>
        <p:style>
          <a:lnRef idx="2">
            <a:schemeClr val="accent1"/>
          </a:lnRef>
          <a:fillRef idx="0">
            <a:schemeClr val="accent1"/>
          </a:fillRef>
          <a:effectRef idx="1">
            <a:schemeClr val="accent1"/>
          </a:effectRef>
          <a:fontRef idx="minor">
            <a:schemeClr val="tx1"/>
          </a:fontRef>
        </p:style>
      </p:cxnSp>
      <p:sp>
        <p:nvSpPr>
          <p:cNvPr id="23" name="TextBox 22">
            <a:extLst>
              <a:ext uri="{FF2B5EF4-FFF2-40B4-BE49-F238E27FC236}">
                <a16:creationId xmlns:a16="http://schemas.microsoft.com/office/drawing/2014/main" id="{BA0585BF-0427-5042-6DB2-4EB2D76D5DE9}"/>
              </a:ext>
            </a:extLst>
          </p:cNvPr>
          <p:cNvSpPr txBox="1"/>
          <p:nvPr/>
        </p:nvSpPr>
        <p:spPr>
          <a:xfrm>
            <a:off x="12820312" y="3340150"/>
            <a:ext cx="2334702" cy="1569660"/>
          </a:xfrm>
          <a:prstGeom prst="rect">
            <a:avLst/>
          </a:prstGeom>
          <a:noFill/>
        </p:spPr>
        <p:txBody>
          <a:bodyPr wrap="square" rtlCol="0">
            <a:spAutoFit/>
          </a:bodyPr>
          <a:lstStyle/>
          <a:p>
            <a:r>
              <a:rPr lang="fi-FI" sz="1600"/>
              <a:t>This allows you to return to the state of the text when you came to this page (which will be saved somewhere as soon as you come to this page)</a:t>
            </a:r>
            <a:endParaRPr lang="en-US" sz="1600"/>
          </a:p>
        </p:txBody>
      </p:sp>
      <p:sp>
        <p:nvSpPr>
          <p:cNvPr id="24" name="Rectangle 23">
            <a:extLst>
              <a:ext uri="{FF2B5EF4-FFF2-40B4-BE49-F238E27FC236}">
                <a16:creationId xmlns:a16="http://schemas.microsoft.com/office/drawing/2014/main" id="{1E6926BF-2A1F-47DE-34B5-8FE784E2E637}"/>
              </a:ext>
            </a:extLst>
          </p:cNvPr>
          <p:cNvSpPr/>
          <p:nvPr/>
        </p:nvSpPr>
        <p:spPr>
          <a:xfrm>
            <a:off x="694729" y="1115280"/>
            <a:ext cx="429371" cy="194585"/>
          </a:xfrm>
          <a:prstGeom prst="rect">
            <a:avLst/>
          </a:prstGeom>
          <a:solidFill>
            <a:srgbClr val="F55523">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01FFE885-8358-DCAC-A96D-D5ACC2C74D57}"/>
              </a:ext>
            </a:extLst>
          </p:cNvPr>
          <p:cNvSpPr/>
          <p:nvPr/>
        </p:nvSpPr>
        <p:spPr>
          <a:xfrm>
            <a:off x="953975" y="1309484"/>
            <a:ext cx="429371" cy="194585"/>
          </a:xfrm>
          <a:prstGeom prst="rect">
            <a:avLst/>
          </a:prstGeom>
          <a:solidFill>
            <a:srgbClr val="F55523">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3E556BF7-30E8-E7DF-F842-4966C411FA41}"/>
              </a:ext>
            </a:extLst>
          </p:cNvPr>
          <p:cNvSpPr/>
          <p:nvPr/>
        </p:nvSpPr>
        <p:spPr>
          <a:xfrm>
            <a:off x="4431982" y="2054037"/>
            <a:ext cx="429371" cy="194585"/>
          </a:xfrm>
          <a:prstGeom prst="rect">
            <a:avLst/>
          </a:prstGeom>
          <a:solidFill>
            <a:srgbClr val="F55523">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B0225A06-55F1-C25D-2BAD-B2FCCF4EDA00}"/>
              </a:ext>
            </a:extLst>
          </p:cNvPr>
          <p:cNvSpPr/>
          <p:nvPr/>
        </p:nvSpPr>
        <p:spPr>
          <a:xfrm>
            <a:off x="3253034" y="2240290"/>
            <a:ext cx="429371" cy="194585"/>
          </a:xfrm>
          <a:prstGeom prst="rect">
            <a:avLst/>
          </a:prstGeom>
          <a:solidFill>
            <a:srgbClr val="F55523">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CE5CB594-DEB5-BBA2-AE54-D27A3328F917}"/>
              </a:ext>
            </a:extLst>
          </p:cNvPr>
          <p:cNvSpPr/>
          <p:nvPr/>
        </p:nvSpPr>
        <p:spPr>
          <a:xfrm>
            <a:off x="4279128" y="2782753"/>
            <a:ext cx="429371" cy="194585"/>
          </a:xfrm>
          <a:prstGeom prst="rect">
            <a:avLst/>
          </a:prstGeom>
          <a:solidFill>
            <a:srgbClr val="F55523">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256CD98-6F9A-3DD9-D549-B65E22C55AEF}"/>
              </a:ext>
            </a:extLst>
          </p:cNvPr>
          <p:cNvSpPr/>
          <p:nvPr/>
        </p:nvSpPr>
        <p:spPr>
          <a:xfrm>
            <a:off x="1125051" y="3331707"/>
            <a:ext cx="429371" cy="194585"/>
          </a:xfrm>
          <a:prstGeom prst="rect">
            <a:avLst/>
          </a:prstGeom>
          <a:solidFill>
            <a:srgbClr val="F55523">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4C5E8EDD-4F70-53AC-BB29-EB43101C49E3}"/>
              </a:ext>
            </a:extLst>
          </p:cNvPr>
          <p:cNvSpPr/>
          <p:nvPr/>
        </p:nvSpPr>
        <p:spPr>
          <a:xfrm>
            <a:off x="4166483" y="3667397"/>
            <a:ext cx="429371" cy="194585"/>
          </a:xfrm>
          <a:prstGeom prst="rect">
            <a:avLst/>
          </a:prstGeom>
          <a:solidFill>
            <a:srgbClr val="F55523">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8866DA2D-1536-C184-B7D2-ACC6083EAF4D}"/>
              </a:ext>
            </a:extLst>
          </p:cNvPr>
          <p:cNvSpPr/>
          <p:nvPr/>
        </p:nvSpPr>
        <p:spPr>
          <a:xfrm>
            <a:off x="4501765" y="4786676"/>
            <a:ext cx="429371" cy="194585"/>
          </a:xfrm>
          <a:prstGeom prst="rect">
            <a:avLst/>
          </a:prstGeom>
          <a:solidFill>
            <a:srgbClr val="F55523">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E53D2E51-FC04-B026-D4FB-110CCED3AB55}"/>
              </a:ext>
            </a:extLst>
          </p:cNvPr>
          <p:cNvSpPr/>
          <p:nvPr/>
        </p:nvSpPr>
        <p:spPr>
          <a:xfrm>
            <a:off x="748191" y="4981261"/>
            <a:ext cx="429371" cy="194585"/>
          </a:xfrm>
          <a:prstGeom prst="rect">
            <a:avLst/>
          </a:prstGeom>
          <a:solidFill>
            <a:srgbClr val="F55523">
              <a:alpha val="3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C17411BD-D4B7-2B96-C9F1-092221C08E2B}"/>
              </a:ext>
            </a:extLst>
          </p:cNvPr>
          <p:cNvSpPr/>
          <p:nvPr/>
        </p:nvSpPr>
        <p:spPr>
          <a:xfrm>
            <a:off x="6261422" y="1089874"/>
            <a:ext cx="5260652" cy="4558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600"/>
              <a:t>" Make </a:t>
            </a:r>
            <a:r>
              <a:rPr lang="fi-FI" sz="1600" err="1"/>
              <a:t>this </a:t>
            </a:r>
            <a:r>
              <a:rPr lang="fi-FI" sz="1600" err="1"/>
              <a:t>simpler </a:t>
            </a:r>
            <a:r>
              <a:rPr lang="fi-FI" sz="1600"/>
              <a:t>and </a:t>
            </a:r>
            <a:r>
              <a:rPr lang="fi-FI" sz="1600" err="1"/>
              <a:t>shorter</a:t>
            </a:r>
            <a:r>
              <a:rPr lang="fi-FI" sz="1600"/>
              <a:t>. "</a:t>
            </a:r>
            <a:endParaRPr lang="en-US" sz="1600"/>
          </a:p>
        </p:txBody>
      </p:sp>
      <p:sp>
        <p:nvSpPr>
          <p:cNvPr id="37" name="Rectangle 36">
            <a:extLst>
              <a:ext uri="{FF2B5EF4-FFF2-40B4-BE49-F238E27FC236}">
                <a16:creationId xmlns:a16="http://schemas.microsoft.com/office/drawing/2014/main" id="{695FA171-D3B6-791A-BF09-993E99EE348B}"/>
              </a:ext>
            </a:extLst>
          </p:cNvPr>
          <p:cNvSpPr/>
          <p:nvPr/>
        </p:nvSpPr>
        <p:spPr>
          <a:xfrm>
            <a:off x="6261422" y="460221"/>
            <a:ext cx="5260652" cy="4558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600"/>
              <a:t>" </a:t>
            </a:r>
            <a:r>
              <a:rPr lang="en-US" sz="1600"/>
              <a:t>Adapt the text to better fit a UK audience. </a:t>
            </a:r>
            <a:r>
              <a:rPr lang="fi-FI" sz="1600"/>
              <a:t>"</a:t>
            </a:r>
            <a:endParaRPr lang="en-US" sz="1600"/>
          </a:p>
        </p:txBody>
      </p:sp>
      <p:sp>
        <p:nvSpPr>
          <p:cNvPr id="38" name="Rectangle 37">
            <a:extLst>
              <a:ext uri="{FF2B5EF4-FFF2-40B4-BE49-F238E27FC236}">
                <a16:creationId xmlns:a16="http://schemas.microsoft.com/office/drawing/2014/main" id="{C924BD7C-97C4-6D73-F07C-DC677CF77730}"/>
              </a:ext>
            </a:extLst>
          </p:cNvPr>
          <p:cNvSpPr/>
          <p:nvPr/>
        </p:nvSpPr>
        <p:spPr>
          <a:xfrm>
            <a:off x="6261422" y="1733109"/>
            <a:ext cx="5260652" cy="4558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600"/>
              <a:t>" </a:t>
            </a:r>
            <a:r>
              <a:rPr lang="en-US" sz="1600"/>
              <a:t>Make the tone more formal. </a:t>
            </a:r>
            <a:r>
              <a:rPr lang="fi-FI" sz="1600"/>
              <a:t>"</a:t>
            </a:r>
            <a:endParaRPr lang="en-US" sz="1600"/>
          </a:p>
        </p:txBody>
      </p:sp>
      <p:sp>
        <p:nvSpPr>
          <p:cNvPr id="40" name="Rectangle 39">
            <a:extLst>
              <a:ext uri="{FF2B5EF4-FFF2-40B4-BE49-F238E27FC236}">
                <a16:creationId xmlns:a16="http://schemas.microsoft.com/office/drawing/2014/main" id="{3DE25C1E-0ED8-A302-0FC9-11E467C412B9}"/>
              </a:ext>
            </a:extLst>
          </p:cNvPr>
          <p:cNvSpPr/>
          <p:nvPr/>
        </p:nvSpPr>
        <p:spPr>
          <a:xfrm>
            <a:off x="3347499" y="5982855"/>
            <a:ext cx="1771650" cy="4139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600" err="1"/>
              <a:t>Finish </a:t>
            </a:r>
            <a:r>
              <a:rPr lang="fi-FI" sz="1600" err="1"/>
              <a:t>document</a:t>
            </a:r>
            <a:endParaRPr lang="en-US" sz="1600"/>
          </a:p>
        </p:txBody>
      </p:sp>
      <p:sp>
        <p:nvSpPr>
          <p:cNvPr id="42" name="Rectangle 41">
            <a:extLst>
              <a:ext uri="{FF2B5EF4-FFF2-40B4-BE49-F238E27FC236}">
                <a16:creationId xmlns:a16="http://schemas.microsoft.com/office/drawing/2014/main" id="{D47E7B61-6F2B-7798-C3AF-4D0278BEA05F}"/>
              </a:ext>
            </a:extLst>
          </p:cNvPr>
          <p:cNvSpPr/>
          <p:nvPr/>
        </p:nvSpPr>
        <p:spPr>
          <a:xfrm>
            <a:off x="6228852" y="5194446"/>
            <a:ext cx="1531621" cy="284003"/>
          </a:xfrm>
          <a:prstGeom prst="rect">
            <a:avLst/>
          </a:prstGeom>
          <a:solidFill>
            <a:schemeClr val="accent1">
              <a:lumMod val="20000"/>
              <a:lumOff val="8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400" err="1">
                <a:solidFill>
                  <a:schemeClr val="tx1"/>
                </a:solidFill>
              </a:rPr>
              <a:t>Accept </a:t>
            </a:r>
            <a:r>
              <a:rPr lang="fi-FI" sz="1400">
                <a:solidFill>
                  <a:schemeClr val="tx1"/>
                </a:solidFill>
              </a:rPr>
              <a:t>and </a:t>
            </a:r>
            <a:r>
              <a:rPr lang="fi-FI" sz="1400" err="1">
                <a:solidFill>
                  <a:schemeClr val="tx1"/>
                </a:solidFill>
              </a:rPr>
              <a:t>next</a:t>
            </a:r>
            <a:endParaRPr lang="en-US" sz="1400">
              <a:solidFill>
                <a:schemeClr val="tx1"/>
              </a:solidFill>
            </a:endParaRPr>
          </a:p>
        </p:txBody>
      </p:sp>
      <p:sp>
        <p:nvSpPr>
          <p:cNvPr id="43" name="Rectangle 42">
            <a:extLst>
              <a:ext uri="{FF2B5EF4-FFF2-40B4-BE49-F238E27FC236}">
                <a16:creationId xmlns:a16="http://schemas.microsoft.com/office/drawing/2014/main" id="{004DF207-72AC-408D-62C6-B75306C2CF32}"/>
              </a:ext>
            </a:extLst>
          </p:cNvPr>
          <p:cNvSpPr/>
          <p:nvPr/>
        </p:nvSpPr>
        <p:spPr>
          <a:xfrm>
            <a:off x="7923805" y="5194446"/>
            <a:ext cx="1531621" cy="284003"/>
          </a:xfrm>
          <a:prstGeom prst="rect">
            <a:avLst/>
          </a:prstGeom>
          <a:solidFill>
            <a:schemeClr val="accent1">
              <a:lumMod val="20000"/>
              <a:lumOff val="8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400" err="1">
                <a:solidFill>
                  <a:schemeClr val="tx1"/>
                </a:solidFill>
              </a:rPr>
              <a:t>Decline </a:t>
            </a:r>
            <a:r>
              <a:rPr lang="fi-FI" sz="1400">
                <a:solidFill>
                  <a:schemeClr val="tx1"/>
                </a:solidFill>
              </a:rPr>
              <a:t>and </a:t>
            </a:r>
            <a:r>
              <a:rPr lang="fi-FI" sz="1400" err="1">
                <a:solidFill>
                  <a:schemeClr val="tx1"/>
                </a:solidFill>
              </a:rPr>
              <a:t>next</a:t>
            </a:r>
            <a:endParaRPr lang="en-US" sz="1400">
              <a:solidFill>
                <a:schemeClr val="tx1"/>
              </a:solidFill>
            </a:endParaRPr>
          </a:p>
        </p:txBody>
      </p:sp>
      <p:sp>
        <p:nvSpPr>
          <p:cNvPr id="44" name="Rectangle 43">
            <a:extLst>
              <a:ext uri="{FF2B5EF4-FFF2-40B4-BE49-F238E27FC236}">
                <a16:creationId xmlns:a16="http://schemas.microsoft.com/office/drawing/2014/main" id="{3E803E18-BC9F-E2ED-F216-0B98BC22F91C}"/>
              </a:ext>
            </a:extLst>
          </p:cNvPr>
          <p:cNvSpPr/>
          <p:nvPr/>
        </p:nvSpPr>
        <p:spPr>
          <a:xfrm>
            <a:off x="10106108" y="5205872"/>
            <a:ext cx="1057539" cy="272578"/>
          </a:xfrm>
          <a:prstGeom prst="rect">
            <a:avLst/>
          </a:prstGeom>
          <a:solidFill>
            <a:schemeClr val="accent1">
              <a:lumMod val="20000"/>
              <a:lumOff val="8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400" err="1">
                <a:solidFill>
                  <a:schemeClr val="tx1"/>
                </a:solidFill>
              </a:rPr>
              <a:t>Close</a:t>
            </a:r>
            <a:endParaRPr lang="en-US" sz="1400">
              <a:solidFill>
                <a:schemeClr val="tx1"/>
              </a:solidFill>
            </a:endParaRPr>
          </a:p>
        </p:txBody>
      </p:sp>
      <p:sp>
        <p:nvSpPr>
          <p:cNvPr id="45" name="TextBox 44">
            <a:extLst>
              <a:ext uri="{FF2B5EF4-FFF2-40B4-BE49-F238E27FC236}">
                <a16:creationId xmlns:a16="http://schemas.microsoft.com/office/drawing/2014/main" id="{6F05AF71-D019-A42A-2579-676493BC1D09}"/>
              </a:ext>
            </a:extLst>
          </p:cNvPr>
          <p:cNvSpPr txBox="1"/>
          <p:nvPr/>
        </p:nvSpPr>
        <p:spPr>
          <a:xfrm>
            <a:off x="3668202" y="-1273407"/>
            <a:ext cx="2122998" cy="830997"/>
          </a:xfrm>
          <a:prstGeom prst="rect">
            <a:avLst/>
          </a:prstGeom>
          <a:noFill/>
        </p:spPr>
        <p:txBody>
          <a:bodyPr wrap="square" rtlCol="0">
            <a:spAutoFit/>
          </a:bodyPr>
          <a:lstStyle/>
          <a:p>
            <a:r>
              <a:rPr lang="fi-FI" sz="1600"/>
              <a:t>Highlights the searched words, the one being read is darker</a:t>
            </a:r>
            <a:endParaRPr lang="en-US" sz="1600"/>
          </a:p>
        </p:txBody>
      </p:sp>
      <p:cxnSp>
        <p:nvCxnSpPr>
          <p:cNvPr id="47" name="Straight Connector 46">
            <a:extLst>
              <a:ext uri="{FF2B5EF4-FFF2-40B4-BE49-F238E27FC236}">
                <a16:creationId xmlns:a16="http://schemas.microsoft.com/office/drawing/2014/main" id="{A7360BDB-89C8-C595-0C5D-7BE275CFBCFE}"/>
              </a:ext>
            </a:extLst>
          </p:cNvPr>
          <p:cNvCxnSpPr>
            <a:cxnSpLocks/>
          </p:cNvCxnSpPr>
          <p:nvPr/>
        </p:nvCxnSpPr>
        <p:spPr>
          <a:xfrm flipH="1" flipV="1">
            <a:off x="8843561" y="-1078371"/>
            <a:ext cx="223135" cy="1398944"/>
          </a:xfrm>
          <a:prstGeom prst="line">
            <a:avLst/>
          </a:prstGeom>
        </p:spPr>
        <p:style>
          <a:lnRef idx="2">
            <a:schemeClr val="accent1"/>
          </a:lnRef>
          <a:fillRef idx="0">
            <a:schemeClr val="accent1"/>
          </a:fillRef>
          <a:effectRef idx="1">
            <a:schemeClr val="accent1"/>
          </a:effectRef>
          <a:fontRef idx="minor">
            <a:schemeClr val="tx1"/>
          </a:fontRef>
        </p:style>
      </p:cxnSp>
      <p:sp>
        <p:nvSpPr>
          <p:cNvPr id="49" name="Rectangle 48">
            <a:extLst>
              <a:ext uri="{FF2B5EF4-FFF2-40B4-BE49-F238E27FC236}">
                <a16:creationId xmlns:a16="http://schemas.microsoft.com/office/drawing/2014/main" id="{B819E73B-EEE6-11D7-04BA-4050B24A5157}"/>
              </a:ext>
            </a:extLst>
          </p:cNvPr>
          <p:cNvSpPr/>
          <p:nvPr/>
        </p:nvSpPr>
        <p:spPr>
          <a:xfrm>
            <a:off x="6261422" y="2379768"/>
            <a:ext cx="5260652" cy="45588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600"/>
              <a:t>" </a:t>
            </a:r>
            <a:r>
              <a:rPr lang="en-US" sz="1600"/>
              <a:t>Make the tone more casual. </a:t>
            </a:r>
            <a:r>
              <a:rPr lang="fi-FI" sz="1600"/>
              <a:t>"</a:t>
            </a:r>
            <a:endParaRPr lang="en-US" sz="1600"/>
          </a:p>
        </p:txBody>
      </p:sp>
      <p:sp>
        <p:nvSpPr>
          <p:cNvPr id="50" name="TextBox 49">
            <a:extLst>
              <a:ext uri="{FF2B5EF4-FFF2-40B4-BE49-F238E27FC236}">
                <a16:creationId xmlns:a16="http://schemas.microsoft.com/office/drawing/2014/main" id="{DAAA3E01-A1BC-FF0B-D54A-9CC1268780D3}"/>
              </a:ext>
            </a:extLst>
          </p:cNvPr>
          <p:cNvSpPr txBox="1"/>
          <p:nvPr/>
        </p:nvSpPr>
        <p:spPr>
          <a:xfrm>
            <a:off x="669925" y="7741317"/>
            <a:ext cx="2122998" cy="1323439"/>
          </a:xfrm>
          <a:prstGeom prst="rect">
            <a:avLst/>
          </a:prstGeom>
          <a:noFill/>
        </p:spPr>
        <p:txBody>
          <a:bodyPr wrap="square" rtlCol="0">
            <a:spAutoFit/>
          </a:bodyPr>
          <a:lstStyle/>
          <a:p>
            <a:r>
              <a:rPr lang="fi-FI" sz="1600"/>
              <a:t>Saves the changes you just made </a:t>
            </a:r>
            <a:r>
              <a:rPr lang="fi-FI" sz="1600" err="1"/>
              <a:t>in localStorage</a:t>
            </a:r>
            <a:r>
              <a:rPr lang="fi-FI" sz="1600"/>
              <a:t>, so they won't be lost if the page is refreshed</a:t>
            </a:r>
            <a:endParaRPr lang="en-US" sz="1600"/>
          </a:p>
        </p:txBody>
      </p:sp>
      <p:cxnSp>
        <p:nvCxnSpPr>
          <p:cNvPr id="51" name="Straight Connector 50">
            <a:extLst>
              <a:ext uri="{FF2B5EF4-FFF2-40B4-BE49-F238E27FC236}">
                <a16:creationId xmlns:a16="http://schemas.microsoft.com/office/drawing/2014/main" id="{BFCB5606-8E47-D6D2-6A0D-FA68A7FB5712}"/>
              </a:ext>
            </a:extLst>
          </p:cNvPr>
          <p:cNvCxnSpPr>
            <a:cxnSpLocks/>
          </p:cNvCxnSpPr>
          <p:nvPr/>
        </p:nvCxnSpPr>
        <p:spPr>
          <a:xfrm>
            <a:off x="4279128" y="6579584"/>
            <a:ext cx="200908" cy="1022525"/>
          </a:xfrm>
          <a:prstGeom prst="line">
            <a:avLst/>
          </a:prstGeom>
        </p:spPr>
        <p:style>
          <a:lnRef idx="2">
            <a:schemeClr val="accent1"/>
          </a:lnRef>
          <a:fillRef idx="0">
            <a:schemeClr val="accent1"/>
          </a:fillRef>
          <a:effectRef idx="1">
            <a:schemeClr val="accent1"/>
          </a:effectRef>
          <a:fontRef idx="minor">
            <a:schemeClr val="tx1"/>
          </a:fontRef>
        </p:style>
      </p:cxnSp>
      <p:sp>
        <p:nvSpPr>
          <p:cNvPr id="53" name="Rectangle 52">
            <a:extLst>
              <a:ext uri="{FF2B5EF4-FFF2-40B4-BE49-F238E27FC236}">
                <a16:creationId xmlns:a16="http://schemas.microsoft.com/office/drawing/2014/main" id="{80D041F5-5F0C-EC9F-9B09-45BB94CB5A7B}"/>
              </a:ext>
            </a:extLst>
          </p:cNvPr>
          <p:cNvSpPr/>
          <p:nvPr/>
        </p:nvSpPr>
        <p:spPr>
          <a:xfrm>
            <a:off x="7968282" y="3069285"/>
            <a:ext cx="1771650" cy="41390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600" err="1"/>
              <a:t>Undo </a:t>
            </a:r>
            <a:r>
              <a:rPr lang="fi-FI" sz="1600" err="1"/>
              <a:t>changes</a:t>
            </a:r>
            <a:endParaRPr lang="en-US" sz="1600"/>
          </a:p>
        </p:txBody>
      </p:sp>
      <p:cxnSp>
        <p:nvCxnSpPr>
          <p:cNvPr id="54" name="Straight Connector 53">
            <a:extLst>
              <a:ext uri="{FF2B5EF4-FFF2-40B4-BE49-F238E27FC236}">
                <a16:creationId xmlns:a16="http://schemas.microsoft.com/office/drawing/2014/main" id="{131FCEEE-E652-CC51-A407-E9D1B2CF79C7}"/>
              </a:ext>
            </a:extLst>
          </p:cNvPr>
          <p:cNvCxnSpPr>
            <a:cxnSpLocks/>
          </p:cNvCxnSpPr>
          <p:nvPr/>
        </p:nvCxnSpPr>
        <p:spPr>
          <a:xfrm flipH="1" flipV="1">
            <a:off x="10106108" y="3331707"/>
            <a:ext cx="2584174" cy="283694"/>
          </a:xfrm>
          <a:prstGeom prst="line">
            <a:avLst/>
          </a:prstGeom>
        </p:spPr>
        <p:style>
          <a:lnRef idx="2">
            <a:schemeClr val="accent1"/>
          </a:lnRef>
          <a:fillRef idx="0">
            <a:schemeClr val="accent1"/>
          </a:fillRef>
          <a:effectRef idx="1">
            <a:schemeClr val="accent1"/>
          </a:effectRef>
          <a:fontRef idx="minor">
            <a:schemeClr val="tx1"/>
          </a:fontRef>
        </p:style>
      </p:cxnSp>
      <p:sp>
        <p:nvSpPr>
          <p:cNvPr id="57" name="TextBox 56">
            <a:extLst>
              <a:ext uri="{FF2B5EF4-FFF2-40B4-BE49-F238E27FC236}">
                <a16:creationId xmlns:a16="http://schemas.microsoft.com/office/drawing/2014/main" id="{1E63F2E1-1492-ACBE-1A89-99E6C5C310B1}"/>
              </a:ext>
            </a:extLst>
          </p:cNvPr>
          <p:cNvSpPr txBox="1"/>
          <p:nvPr/>
        </p:nvSpPr>
        <p:spPr>
          <a:xfrm>
            <a:off x="8223301" y="-1690535"/>
            <a:ext cx="2122998" cy="584775"/>
          </a:xfrm>
          <a:prstGeom prst="rect">
            <a:avLst/>
          </a:prstGeom>
          <a:noFill/>
        </p:spPr>
        <p:txBody>
          <a:bodyPr wrap="square" rtlCol="0">
            <a:spAutoFit/>
          </a:bodyPr>
          <a:lstStyle/>
          <a:p>
            <a:r>
              <a:rPr lang="fi-FI" sz="1600"/>
              <a:t>Some ready-made </a:t>
            </a:r>
            <a:r>
              <a:rPr lang="fi-FI" sz="1600" err="1"/>
              <a:t>prompts</a:t>
            </a:r>
            <a:endParaRPr lang="en-US" sz="1600"/>
          </a:p>
        </p:txBody>
      </p:sp>
      <p:sp>
        <p:nvSpPr>
          <p:cNvPr id="58" name="TextBox 57">
            <a:extLst>
              <a:ext uri="{FF2B5EF4-FFF2-40B4-BE49-F238E27FC236}">
                <a16:creationId xmlns:a16="http://schemas.microsoft.com/office/drawing/2014/main" id="{12B3F41B-B53F-BA94-218C-84D783A941B6}"/>
              </a:ext>
            </a:extLst>
          </p:cNvPr>
          <p:cNvSpPr txBox="1"/>
          <p:nvPr/>
        </p:nvSpPr>
        <p:spPr>
          <a:xfrm>
            <a:off x="7830249" y="7459670"/>
            <a:ext cx="2516050" cy="1077218"/>
          </a:xfrm>
          <a:prstGeom prst="rect">
            <a:avLst/>
          </a:prstGeom>
          <a:noFill/>
        </p:spPr>
        <p:txBody>
          <a:bodyPr wrap="square" rtlCol="0">
            <a:spAutoFit/>
          </a:bodyPr>
          <a:lstStyle/>
          <a:p>
            <a:r>
              <a:rPr lang="fi-FI" sz="1600"/>
              <a:t>Highlighted words can be accepted and replaced one by one, or </a:t>
            </a:r>
            <a:r>
              <a:rPr lang="fi-FI" sz="1600" err="1"/>
              <a:t>skipped</a:t>
            </a:r>
            <a:r>
              <a:rPr lang="fi-FI" sz="1600"/>
              <a:t>, or the replacement can be closed</a:t>
            </a:r>
            <a:endParaRPr lang="en-US" sz="1600"/>
          </a:p>
        </p:txBody>
      </p:sp>
      <p:cxnSp>
        <p:nvCxnSpPr>
          <p:cNvPr id="59" name="Straight Connector 58">
            <a:extLst>
              <a:ext uri="{FF2B5EF4-FFF2-40B4-BE49-F238E27FC236}">
                <a16:creationId xmlns:a16="http://schemas.microsoft.com/office/drawing/2014/main" id="{9F7BAB61-DC8B-C950-2886-87DA0BDD1585}"/>
              </a:ext>
            </a:extLst>
          </p:cNvPr>
          <p:cNvCxnSpPr>
            <a:cxnSpLocks/>
          </p:cNvCxnSpPr>
          <p:nvPr/>
        </p:nvCxnSpPr>
        <p:spPr>
          <a:xfrm flipH="1" flipV="1">
            <a:off x="7455751" y="5589660"/>
            <a:ext cx="972632" cy="1771291"/>
          </a:xfrm>
          <a:prstGeom prst="line">
            <a:avLst/>
          </a:prstGeom>
        </p:spPr>
        <p:style>
          <a:lnRef idx="2">
            <a:schemeClr val="accent1"/>
          </a:lnRef>
          <a:fillRef idx="0">
            <a:schemeClr val="accent1"/>
          </a:fillRef>
          <a:effectRef idx="1">
            <a:schemeClr val="accent1"/>
          </a:effectRef>
          <a:fontRef idx="minor">
            <a:schemeClr val="tx1"/>
          </a:fontRef>
        </p:style>
      </p:cxnSp>
      <p:sp>
        <p:nvSpPr>
          <p:cNvPr id="62" name="TextBox 61">
            <a:extLst>
              <a:ext uri="{FF2B5EF4-FFF2-40B4-BE49-F238E27FC236}">
                <a16:creationId xmlns:a16="http://schemas.microsoft.com/office/drawing/2014/main" id="{8A393113-DD28-0C13-5544-2D000AAF4523}"/>
              </a:ext>
            </a:extLst>
          </p:cNvPr>
          <p:cNvSpPr txBox="1"/>
          <p:nvPr/>
        </p:nvSpPr>
        <p:spPr>
          <a:xfrm>
            <a:off x="-2030419" y="2958234"/>
            <a:ext cx="1791486" cy="1200329"/>
          </a:xfrm>
          <a:prstGeom prst="rect">
            <a:avLst/>
          </a:prstGeom>
          <a:noFill/>
        </p:spPr>
        <p:txBody>
          <a:bodyPr wrap="square" rtlCol="0">
            <a:spAutoFit/>
          </a:bodyPr>
          <a:lstStyle/>
          <a:p>
            <a:r>
              <a:rPr lang="fi-FI"/>
              <a:t>Translated </a:t>
            </a:r>
            <a:r>
              <a:rPr lang="fi-FI" err="1"/>
              <a:t>to markdown </a:t>
            </a:r>
            <a:r>
              <a:rPr lang="fi-FI"/>
              <a:t>in the python library</a:t>
            </a:r>
            <a:endParaRPr lang="en-US"/>
          </a:p>
        </p:txBody>
      </p:sp>
    </p:spTree>
    <p:extLst>
      <p:ext uri="{BB962C8B-B14F-4D97-AF65-F5344CB8AC3E}">
        <p14:creationId xmlns:p14="http://schemas.microsoft.com/office/powerpoint/2010/main" val="987129997"/>
      </p:ext>
    </p:extLst>
  </p:cSld>
  <p:clrMapOvr>
    <a:masterClrMapping/>
  </p:clrMapOvr>
</p:sld>
</file>

<file path=ppt/slides/slide3.xml><?xml version="1.0" encoding="utf-8"?>
<p:sld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6B502EB-E551-2841-AC7B-75861B5F4106}"/>
              </a:ext>
            </a:extLst>
          </p:cNvPr>
          <p:cNvSpPr/>
          <p:nvPr/>
        </p:nvSpPr>
        <p:spPr>
          <a:xfrm>
            <a:off x="5037133" y="3101865"/>
            <a:ext cx="1771650" cy="482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err="1"/>
              <a:t>Save</a:t>
            </a:r>
            <a:endParaRPr lang="en-US"/>
          </a:p>
        </p:txBody>
      </p:sp>
      <p:sp>
        <p:nvSpPr>
          <p:cNvPr id="8" name="TextBox 7">
            <a:extLst>
              <a:ext uri="{FF2B5EF4-FFF2-40B4-BE49-F238E27FC236}">
                <a16:creationId xmlns:a16="http://schemas.microsoft.com/office/drawing/2014/main" id="{A52332B0-BAF9-627A-2FB7-55AAC21983C2}"/>
              </a:ext>
            </a:extLst>
          </p:cNvPr>
          <p:cNvSpPr txBox="1"/>
          <p:nvPr/>
        </p:nvSpPr>
        <p:spPr>
          <a:xfrm>
            <a:off x="1774824" y="-3378781"/>
            <a:ext cx="8296275" cy="6186309"/>
          </a:xfrm>
          <a:prstGeom prst="rect">
            <a:avLst/>
          </a:prstGeom>
          <a:noFill/>
        </p:spPr>
        <p:txBody>
          <a:bodyPr wrap="square">
            <a:spAutoFit/>
          </a:bodyPr>
          <a:lstStyle/>
          <a:p>
            <a:pPr algn="l"/>
            <a:r>
              <a:rPr lang="en-US" b="0" i="0">
                <a:solidFill>
                  <a:srgbClr val="24292F"/>
                </a:solidFill>
                <a:effectLst/>
                <a:latin typeface="-apple-system"/>
              </a:rPr>
              <a:t>The wingspan of the Small Elephant Hawk-moth ranges from 40-60 mm, and its colouring closely resembles that of its close relative, the Elephant Hawk-moth (</a:t>
            </a:r>
            <a:r>
              <a:rPr lang="en-US" b="0" i="0" err="1">
                <a:solidFill>
                  <a:srgbClr val="24292F"/>
                </a:solidFill>
                <a:effectLst/>
                <a:latin typeface="-apple-system"/>
              </a:rPr>
              <a:t>Deilephila </a:t>
            </a:r>
            <a:r>
              <a:rPr lang="en-US" b="0" i="0" err="1">
                <a:solidFill>
                  <a:srgbClr val="24292F"/>
                </a:solidFill>
                <a:effectLst/>
                <a:latin typeface="-apple-system"/>
              </a:rPr>
              <a:t>elpenor</a:t>
            </a:r>
            <a:r>
              <a:rPr lang="en-US" b="0" i="0">
                <a:solidFill>
                  <a:srgbClr val="24292F"/>
                </a:solidFill>
                <a:effectLst/>
                <a:latin typeface="-apple-system"/>
              </a:rPr>
              <a:t>). These species are also known to interbreed.</a:t>
            </a:r>
          </a:p>
          <a:p>
            <a:pPr algn="l"/>
            <a:r>
              <a:rPr lang="en-US" b="0" i="0">
                <a:solidFill>
                  <a:srgbClr val="24292F"/>
                </a:solidFill>
                <a:effectLst/>
                <a:latin typeface="-apple-system"/>
              </a:rPr>
              <a:t>The moth is characterized by its magenta and olive-green colouring. The forewings are predominantly green with red colouring only at the leading and outer edges. The boundary between the red and green is distinct. The hindwings are mostly yellowish-green, except for the black base and leading edge, with red only on the edges. Unlike the Elephant Hawk-moth, the central body of the Small Elephant Hawk-moth does not have clear stripes, and its abdomen is unstriped. Subspecies found in Central Asia tend to be browner.</a:t>
            </a:r>
          </a:p>
          <a:p>
            <a:pPr algn="l"/>
            <a:r>
              <a:rPr lang="en-US" b="0" i="0">
                <a:solidFill>
                  <a:srgbClr val="24292F"/>
                </a:solidFill>
                <a:effectLst/>
                <a:latin typeface="-apple-system"/>
              </a:rPr>
              <a:t>The caterpillar also resembles that of the Elephant Hawk-moth: when old, it turns into a giant elephant that can fly. There are two pairs of eye spots on the sides of the front section. A key identifying feature of the Small Elephant Hawk-moth caterpillar is the absence of a prominent horn at the rear. A fully grown caterpillar measures 55-70 mm in length.</a:t>
            </a:r>
          </a:p>
          <a:p>
            <a:pPr algn="l"/>
            <a:r>
              <a:rPr lang="en-US" b="0" i="0">
                <a:solidFill>
                  <a:srgbClr val="24292F"/>
                </a:solidFill>
                <a:effectLst/>
                <a:latin typeface="-apple-system"/>
              </a:rPr>
              <a:t>Distribution and Flight Period The Small Elephant Hawk-moth is found across most of Europe, extending eastward into Central Asia and Southern Siberia. Its range also includes the Atlas Mountains of North Africa, where the subspecies D. p. colossus is found. In England, the species is common in the south and becomes rarer as one moves northward. The northern boundary of its range is along the line from Carlisle to Newcastle, making its distribution more southerly compared to the Elephant Hawk-moth. Adult moths fly in a single generation from May to early July</a:t>
            </a:r>
          </a:p>
        </p:txBody>
      </p:sp>
      <p:sp>
        <p:nvSpPr>
          <p:cNvPr id="10" name="Rectangle 9">
            <a:extLst>
              <a:ext uri="{FF2B5EF4-FFF2-40B4-BE49-F238E27FC236}">
                <a16:creationId xmlns:a16="http://schemas.microsoft.com/office/drawing/2014/main" id="{C32828DC-500E-2110-54E1-FD0DEFC2354A}"/>
              </a:ext>
            </a:extLst>
          </p:cNvPr>
          <p:cNvSpPr/>
          <p:nvPr/>
        </p:nvSpPr>
        <p:spPr>
          <a:xfrm>
            <a:off x="857250" y="-3378781"/>
            <a:ext cx="9664700" cy="3378781"/>
          </a:xfrm>
          <a:prstGeom prst="rect">
            <a:avLst/>
          </a:prstGeom>
          <a:solidFill>
            <a:srgbClr val="ECEEF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66F1A0D-2BEA-1DAB-78B7-D88A88A6A493}"/>
              </a:ext>
            </a:extLst>
          </p:cNvPr>
          <p:cNvSpPr/>
          <p:nvPr/>
        </p:nvSpPr>
        <p:spPr>
          <a:xfrm>
            <a:off x="1670050" y="0"/>
            <a:ext cx="8521700" cy="2868268"/>
          </a:xfrm>
          <a:prstGeom prst="rect">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61DAEDC6-A7BB-1EC6-113F-BFF55E8D0CE7}"/>
              </a:ext>
            </a:extLst>
          </p:cNvPr>
          <p:cNvSpPr/>
          <p:nvPr/>
        </p:nvSpPr>
        <p:spPr>
          <a:xfrm>
            <a:off x="2546791" y="3855775"/>
            <a:ext cx="6768217" cy="482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a:t>"Make </a:t>
            </a:r>
            <a:r>
              <a:rPr lang="fi-FI" err="1"/>
              <a:t>this </a:t>
            </a:r>
            <a:r>
              <a:rPr lang="fi-FI" err="1"/>
              <a:t>simpler </a:t>
            </a:r>
            <a:r>
              <a:rPr lang="fi-FI"/>
              <a:t>and </a:t>
            </a:r>
            <a:r>
              <a:rPr lang="fi-FI" err="1"/>
              <a:t>shorter</a:t>
            </a:r>
            <a:r>
              <a:rPr lang="fi-FI"/>
              <a:t>.</a:t>
            </a:r>
            <a:r>
              <a:rPr lang="fi-FI"/>
              <a:t> "</a:t>
            </a:r>
            <a:endParaRPr lang="en-US"/>
          </a:p>
        </p:txBody>
      </p:sp>
      <p:sp>
        <p:nvSpPr>
          <p:cNvPr id="3" name="Rectangle 2">
            <a:extLst>
              <a:ext uri="{FF2B5EF4-FFF2-40B4-BE49-F238E27FC236}">
                <a16:creationId xmlns:a16="http://schemas.microsoft.com/office/drawing/2014/main" id="{F43CD7ED-2282-EBC9-1196-F24D02D02436}"/>
              </a:ext>
            </a:extLst>
          </p:cNvPr>
          <p:cNvSpPr/>
          <p:nvPr/>
        </p:nvSpPr>
        <p:spPr>
          <a:xfrm>
            <a:off x="2546790" y="4487684"/>
            <a:ext cx="6768217" cy="482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a:t>" </a:t>
            </a:r>
            <a:r>
              <a:rPr lang="en-US" sz="1800"/>
              <a:t>Adapt the text to better fit a UK audience. </a:t>
            </a:r>
            <a:r>
              <a:rPr lang="fi-FI"/>
              <a:t>"</a:t>
            </a:r>
            <a:endParaRPr lang="en-US"/>
          </a:p>
        </p:txBody>
      </p:sp>
      <p:sp>
        <p:nvSpPr>
          <p:cNvPr id="7" name="Rectangle 6">
            <a:extLst>
              <a:ext uri="{FF2B5EF4-FFF2-40B4-BE49-F238E27FC236}">
                <a16:creationId xmlns:a16="http://schemas.microsoft.com/office/drawing/2014/main" id="{5BE7231C-C9DE-6C00-0419-B378A5894CB9}"/>
              </a:ext>
            </a:extLst>
          </p:cNvPr>
          <p:cNvSpPr/>
          <p:nvPr/>
        </p:nvSpPr>
        <p:spPr>
          <a:xfrm>
            <a:off x="2546789" y="5119593"/>
            <a:ext cx="6768217" cy="4826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a:t>" </a:t>
            </a:r>
            <a:r>
              <a:rPr lang="en-US" sz="1800"/>
              <a:t>Make the tone more formal. </a:t>
            </a:r>
            <a:r>
              <a:rPr lang="fi-FI"/>
              <a:t>"</a:t>
            </a:r>
            <a:endParaRPr lang="en-US"/>
          </a:p>
        </p:txBody>
      </p:sp>
    </p:spTree>
    <p:extLst>
      <p:ext uri="{BB962C8B-B14F-4D97-AF65-F5344CB8AC3E}">
        <p14:creationId xmlns:p14="http://schemas.microsoft.com/office/powerpoint/2010/main" val="1611488680"/>
      </p:ext>
    </p:extLst>
  </p:cSld>
  <p:clrMapOvr>
    <a:masterClrMapping/>
  </p:clrMapOvr>
</p:sld>
</file>

<file path=ppt/slides/slide4.xml><?xml version="1.0" encoding="utf-8"?>
<p:sld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57C081-5FC9-9F8C-279C-44F4F079488B}"/>
              </a:ext>
            </a:extLst>
          </p:cNvPr>
          <p:cNvSpPr txBox="1"/>
          <p:nvPr/>
        </p:nvSpPr>
        <p:spPr>
          <a:xfrm>
            <a:off x="1065396" y="233220"/>
            <a:ext cx="930910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sz="4800" err="1"/>
              <a:t>Features </a:t>
            </a:r>
            <a:r>
              <a:rPr lang="en-GB" sz="4800" err="1"/>
              <a:t>and </a:t>
            </a:r>
            <a:r>
              <a:rPr lang="en-GB" sz="4800" err="1"/>
              <a:t>ideas</a:t>
            </a:r>
            <a:r>
              <a:rPr lang="en-GB" sz="4800"/>
              <a:t>:</a:t>
            </a:r>
          </a:p>
        </p:txBody>
      </p:sp>
      <p:sp>
        <p:nvSpPr>
          <p:cNvPr id="3" name="TextBox 2">
            <a:extLst>
              <a:ext uri="{FF2B5EF4-FFF2-40B4-BE49-F238E27FC236}">
                <a16:creationId xmlns:a16="http://schemas.microsoft.com/office/drawing/2014/main" id="{F9FF3F3B-7777-321D-8CC3-21AF36B11E6B}"/>
              </a:ext>
            </a:extLst>
          </p:cNvPr>
          <p:cNvSpPr txBox="1"/>
          <p:nvPr/>
        </p:nvSpPr>
        <p:spPr>
          <a:xfrm>
            <a:off x="949502" y="1412516"/>
            <a:ext cx="10296495" cy="452431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GB" err="1"/>
              <a:t>Promt </a:t>
            </a:r>
            <a:r>
              <a:rPr lang="en-GB" err="1"/>
              <a:t>editing</a:t>
            </a:r>
            <a:r>
              <a:rPr lang="en-GB"/>
              <a:t>:</a:t>
            </a:r>
          </a:p>
          <a:p>
            <a:pPr marL="285750" indent="-285750">
              <a:buFont typeface="Calibri"/>
              <a:buChar char="-"/>
            </a:pPr>
            <a:r>
              <a:rPr lang="en-GB" err="1"/>
              <a:t>User </a:t>
            </a:r>
            <a:r>
              <a:rPr lang="en-GB" err="1"/>
              <a:t>can </a:t>
            </a:r>
            <a:r>
              <a:rPr lang="en-GB" err="1"/>
              <a:t>add </a:t>
            </a:r>
            <a:r>
              <a:rPr lang="en-GB" err="1"/>
              <a:t>new </a:t>
            </a:r>
            <a:r>
              <a:rPr lang="en-GB" err="1"/>
              <a:t>prompts</a:t>
            </a:r>
            <a:endParaRPr lang="en-GB"/>
          </a:p>
          <a:p>
            <a:r>
              <a:rPr lang="en-GB" err="1"/>
              <a:t>- User can add new prompts </a:t>
            </a:r>
            <a:r>
              <a:rPr lang="en-GB" err="1"/>
              <a:t>for a document </a:t>
            </a:r>
            <a:r>
              <a:rPr lang="en-GB"/>
              <a:t>(</a:t>
            </a:r>
            <a:r>
              <a:rPr lang="en-GB" err="1"/>
              <a:t>save </a:t>
            </a:r>
            <a:r>
              <a:rPr lang="en-GB" err="1"/>
              <a:t>as a list</a:t>
            </a:r>
            <a:r>
              <a:rPr lang="en-GB"/>
              <a:t>).</a:t>
            </a:r>
          </a:p>
          <a:p>
            <a:r>
              <a:rPr lang="en-GB" err="1"/>
              <a:t>- can be </a:t>
            </a:r>
            <a:r>
              <a:rPr lang="en-GB" err="1"/>
              <a:t>added/removed </a:t>
            </a:r>
            <a:r>
              <a:rPr lang="en-GB"/>
              <a:t>or </a:t>
            </a:r>
            <a:r>
              <a:rPr lang="en-GB" err="1"/>
              <a:t>turned </a:t>
            </a:r>
            <a:r>
              <a:rPr lang="en-GB"/>
              <a:t>on/off</a:t>
            </a:r>
          </a:p>
          <a:p>
            <a:pPr marL="285750" indent="-285750">
              <a:buFont typeface="Calibri"/>
              <a:buChar char="-"/>
            </a:pPr>
            <a:r>
              <a:rPr lang="en-GB" err="1"/>
              <a:t>The page </a:t>
            </a:r>
            <a:r>
              <a:rPr lang="en-GB" err="1"/>
              <a:t>visualizes </a:t>
            </a:r>
            <a:r>
              <a:rPr lang="en-GB" err="1"/>
              <a:t>the </a:t>
            </a:r>
            <a:r>
              <a:rPr lang="en-GB"/>
              <a:t>dictionary </a:t>
            </a:r>
            <a:r>
              <a:rPr lang="en-GB" err="1"/>
              <a:t>to be sent </a:t>
            </a:r>
            <a:r>
              <a:rPr lang="en-GB" err="1"/>
              <a:t>to the backend. </a:t>
            </a:r>
          </a:p>
          <a:p>
            <a:pPr marL="285750" indent="-285750">
              <a:buFont typeface="Calibri"/>
              <a:buChar char="-"/>
            </a:pPr>
            <a:r>
              <a:rPr lang="en-GB" err="1"/>
              <a:t>The page </a:t>
            </a:r>
            <a:r>
              <a:rPr lang="en-GB" err="1"/>
              <a:t>automatically </a:t>
            </a:r>
            <a:r>
              <a:rPr lang="en-GB" err="1"/>
              <a:t>detects </a:t>
            </a:r>
            <a:r>
              <a:rPr lang="en-GB" err="1"/>
              <a:t>edits </a:t>
            </a:r>
            <a:r>
              <a:rPr lang="en-GB" err="1"/>
              <a:t>made </a:t>
            </a:r>
            <a:r>
              <a:rPr lang="en-GB" err="1"/>
              <a:t>to the text </a:t>
            </a:r>
            <a:r>
              <a:rPr lang="en-GB" err="1"/>
              <a:t>and </a:t>
            </a:r>
            <a:r>
              <a:rPr lang="en-GB" err="1"/>
              <a:t>extracts </a:t>
            </a:r>
            <a:r>
              <a:rPr lang="en-GB" err="1"/>
              <a:t>the dictionary </a:t>
            </a:r>
            <a:r>
              <a:rPr lang="en-GB"/>
              <a:t>(</a:t>
            </a:r>
            <a:r>
              <a:rPr lang="en-GB" err="1"/>
              <a:t>implementation </a:t>
            </a:r>
            <a:r>
              <a:rPr lang="en-GB" err="1"/>
              <a:t>unknown</a:t>
            </a:r>
            <a:r>
              <a:rPr lang="en-GB"/>
              <a:t>) --&gt; </a:t>
            </a:r>
            <a:r>
              <a:rPr lang="en-GB" err="1"/>
              <a:t>highlights </a:t>
            </a:r>
            <a:r>
              <a:rPr lang="en-GB" err="1"/>
              <a:t>words </a:t>
            </a:r>
            <a:r>
              <a:rPr lang="en-GB" err="1"/>
              <a:t>that </a:t>
            </a:r>
            <a:r>
              <a:rPr lang="en-GB" err="1"/>
              <a:t>change</a:t>
            </a:r>
            <a:endParaRPr lang="en-GB"/>
          </a:p>
          <a:p>
            <a:pPr marL="285750" indent="-285750">
              <a:buFont typeface="Calibri"/>
              <a:buChar char="-"/>
            </a:pPr>
            <a:r>
              <a:rPr lang="en-GB" err="1"/>
              <a:t>User </a:t>
            </a:r>
            <a:r>
              <a:rPr lang="en-GB" err="1"/>
              <a:t>settings </a:t>
            </a:r>
            <a:r>
              <a:rPr lang="en-GB"/>
              <a:t>(</a:t>
            </a:r>
            <a:r>
              <a:rPr lang="en-GB" err="1"/>
              <a:t>if </a:t>
            </a:r>
            <a:r>
              <a:rPr lang="en-GB" err="1"/>
              <a:t>you want to </a:t>
            </a:r>
            <a:r>
              <a:rPr lang="en-GB" err="1"/>
              <a:t>change the </a:t>
            </a:r>
            <a:r>
              <a:rPr lang="en-GB" err="1"/>
              <a:t>exact </a:t>
            </a:r>
            <a:r>
              <a:rPr lang="en-GB" err="1"/>
              <a:t>prompts</a:t>
            </a:r>
            <a:r>
              <a:rPr lang="en-GB"/>
              <a:t>)</a:t>
            </a:r>
          </a:p>
          <a:p>
            <a:pPr marL="285750" indent="-285750">
              <a:buFont typeface="Calibri"/>
              <a:buChar char="-"/>
            </a:pPr>
            <a:endParaRPr lang="en-GB"/>
          </a:p>
          <a:p>
            <a:endParaRPr lang="en-GB"/>
          </a:p>
          <a:p>
            <a:endParaRPr lang="en-GB"/>
          </a:p>
          <a:p>
            <a:r>
              <a:rPr lang="en-GB" err="1"/>
              <a:t>Download </a:t>
            </a:r>
            <a:r>
              <a:rPr lang="en-GB"/>
              <a:t>PDF</a:t>
            </a:r>
            <a:r>
              <a:rPr lang="en-GB"/>
              <a:t>:</a:t>
            </a:r>
          </a:p>
          <a:p>
            <a:pPr marL="285750" indent="-285750">
              <a:buFont typeface="Calibri"/>
              <a:buChar char="-"/>
            </a:pPr>
            <a:r>
              <a:rPr lang="fi"/>
              <a:t>Can translate a text snippet, a file or multiple files </a:t>
            </a:r>
          </a:p>
          <a:p>
            <a:pPr marL="285750" indent="-285750">
              <a:buFont typeface="Calibri"/>
              <a:buChar char="-"/>
            </a:pPr>
            <a:r>
              <a:rPr lang="fi"/>
              <a:t>Some navigation to see the pdf content</a:t>
            </a:r>
          </a:p>
          <a:p>
            <a:pPr marL="285750" indent="-285750">
              <a:buFont typeface="Calibri"/>
              <a:buChar char="-"/>
            </a:pPr>
            <a:r>
              <a:rPr lang="fi"/>
              <a:t>Possibility to select a specific section</a:t>
            </a:r>
          </a:p>
          <a:p>
            <a:pPr marL="285750" indent="-285750">
              <a:buFont typeface="Calibri"/>
              <a:buChar char="-"/>
            </a:pPr>
            <a:r>
              <a:rPr lang="fi"/>
              <a:t>Something to break up the text in a meaningful way</a:t>
            </a:r>
          </a:p>
        </p:txBody>
      </p:sp>
    </p:spTree>
    <p:extLst>
      <p:ext uri="{BB962C8B-B14F-4D97-AF65-F5344CB8AC3E}">
        <p14:creationId xmlns:p14="http://schemas.microsoft.com/office/powerpoint/2010/main" val="3458816008"/>
      </p:ext>
    </p:extLst>
  </p:cSld>
  <p:clrMapOvr>
    <a:masterClrMapping/>
  </p:clrMapOvr>
</p:sld>
</file>

<file path=ppt/slides/slide5.xml><?xml version="1.0" encoding="utf-8"?>
<p:sld xmlns:a16="http://schemas.microsoft.com/office/drawing/2014/main"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 screenshot of a computer&#10;&#10;AI-generated content may be incorrect.">
            <a:extLst>
              <a:ext uri="{FF2B5EF4-FFF2-40B4-BE49-F238E27FC236}">
                <a16:creationId xmlns:a16="http://schemas.microsoft.com/office/drawing/2014/main" id="{53E52FA6-153C-6505-C05B-16F651A9524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29690" y="-76200"/>
            <a:ext cx="9358313" cy="68580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 blue rectangle with white text&#10;&#10;AI-generated content may be incorrect.">
            <a:extLst>
              <a:ext uri="{FF2B5EF4-FFF2-40B4-BE49-F238E27FC236}">
                <a16:creationId xmlns:a16="http://schemas.microsoft.com/office/drawing/2014/main" id="{343B57B4-4238-49E9-19B1-2CC56A1995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7558" y="912172"/>
            <a:ext cx="1018221" cy="412793"/>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EB24768E-ABA1-D393-6B41-36614743C487}"/>
              </a:ext>
            </a:extLst>
          </p:cNvPr>
          <p:cNvPicPr>
            <a:picLocks noChangeAspect="1"/>
          </p:cNvPicPr>
          <p:nvPr/>
        </p:nvPicPr>
        <p:blipFill>
          <a:blip r:embed="rId4"/>
          <a:stretch>
            <a:fillRect/>
          </a:stretch>
        </p:blipFill>
        <p:spPr>
          <a:xfrm>
            <a:off x="7006590" y="925933"/>
            <a:ext cx="1018221" cy="385273"/>
          </a:xfrm>
          <a:prstGeom prst="rect">
            <a:avLst/>
          </a:prstGeom>
        </p:spPr>
      </p:pic>
      <p:sp>
        <p:nvSpPr>
          <p:cNvPr id="6" name="Rectangle 5">
            <a:extLst>
              <a:ext uri="{FF2B5EF4-FFF2-40B4-BE49-F238E27FC236}">
                <a16:creationId xmlns:a16="http://schemas.microsoft.com/office/drawing/2014/main" id="{ED549EE5-9BBD-22C5-5401-DE4E089CF25D}"/>
              </a:ext>
            </a:extLst>
          </p:cNvPr>
          <p:cNvSpPr/>
          <p:nvPr/>
        </p:nvSpPr>
        <p:spPr>
          <a:xfrm>
            <a:off x="2100899" y="4759960"/>
            <a:ext cx="911541" cy="284480"/>
          </a:xfrm>
          <a:prstGeom prst="rect">
            <a:avLst/>
          </a:prstGeom>
          <a:solidFill>
            <a:srgbClr val="F9FA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74251145-2737-3C48-3EF5-1A9BCFA0E28C}"/>
              </a:ext>
            </a:extLst>
          </p:cNvPr>
          <p:cNvSpPr/>
          <p:nvPr/>
        </p:nvSpPr>
        <p:spPr>
          <a:xfrm>
            <a:off x="7059929" y="5257800"/>
            <a:ext cx="911541" cy="284480"/>
          </a:xfrm>
          <a:prstGeom prst="rect">
            <a:avLst/>
          </a:prstGeom>
          <a:solidFill>
            <a:srgbClr val="F9FA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60626413"/>
      </p:ext>
    </p:extLst>
  </p:cSld>
  <p:clrMapOvr>
    <a:masterClrMapping/>
  </p:clrMapOvr>
</p:sld>
</file>

<file path=ppt/slides/slide6.xml><?xml version="1.0" encoding="utf-8"?>
<p:sld xmlns:a16="http://schemas.microsoft.com/office/drawing/2014/main" xmlns:a14="http://schemas.microsoft.com/office/drawing/2010/main" xmlns:asvg="http://schemas.microsoft.com/office/drawing/2016/SVG/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A screenshot of a computer&#10;&#10;AI-generated content may be incorrect.">
            <a:extLst>
              <a:ext uri="{FF2B5EF4-FFF2-40B4-BE49-F238E27FC236}">
                <a16:creationId xmlns:a16="http://schemas.microsoft.com/office/drawing/2014/main" id="{53E52FA6-153C-6505-C05B-16F651A95248}"/>
              </a:ext>
            </a:extLst>
          </p:cNvPr>
          <p:cNvPicPr>
            <a:picLocks noChangeArrowheads="1"/>
          </p:cNvPicPr>
          <p:nvPr/>
        </p:nvPicPr>
        <p:blipFill rotWithShape="1">
          <a:blip r:embed="rId3">
            <a:extLst>
              <a:ext uri="{28A0092B-C50C-407E-A947-70E740481C1C}">
                <a14:useLocalDpi xmlns:a14="http://schemas.microsoft.com/office/drawing/2010/main" val="0"/>
              </a:ext>
            </a:extLst>
          </a:blip>
          <a:srcRect l="48983" t="22589" r="15698" b="39937"/>
          <a:stretch/>
        </p:blipFill>
        <p:spPr bwMode="auto">
          <a:xfrm>
            <a:off x="1056325" y="3989278"/>
            <a:ext cx="3620371" cy="2868722"/>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A screenshot of a computer&#10;&#10;AI-generated content may be incorrect.">
            <a:extLst>
              <a:ext uri="{FF2B5EF4-FFF2-40B4-BE49-F238E27FC236}">
                <a16:creationId xmlns:a16="http://schemas.microsoft.com/office/drawing/2014/main" id="{5B75E27A-CE7F-00B7-4DEE-0FC8E7CF093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18704" r="74989" b="43729"/>
          <a:stretch/>
        </p:blipFill>
        <p:spPr bwMode="auto">
          <a:xfrm>
            <a:off x="8153400" y="4014635"/>
            <a:ext cx="3915836" cy="2843365"/>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2" descr="A screenshot of a computer&#10;&#10;AI-generated content may be incorrect.">
            <a:extLst>
              <a:ext uri="{FF2B5EF4-FFF2-40B4-BE49-F238E27FC236}">
                <a16:creationId xmlns:a16="http://schemas.microsoft.com/office/drawing/2014/main" id="{F06EF90F-699F-A49E-4EEF-E7AD84CF89D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27203" b="80556"/>
          <a:stretch/>
        </p:blipFill>
        <p:spPr bwMode="auto">
          <a:xfrm>
            <a:off x="705809" y="-45330"/>
            <a:ext cx="6812591" cy="13335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EB24768E-ABA1-D393-6B41-36614743C487}"/>
              </a:ext>
            </a:extLst>
          </p:cNvPr>
          <p:cNvPicPr>
            <a:picLocks noChangeAspect="1"/>
          </p:cNvPicPr>
          <p:nvPr/>
        </p:nvPicPr>
        <p:blipFill>
          <a:blip r:embed="rId4"/>
          <a:stretch>
            <a:fillRect/>
          </a:stretch>
        </p:blipFill>
        <p:spPr>
          <a:xfrm>
            <a:off x="12475930" y="5470795"/>
            <a:ext cx="1018221" cy="385273"/>
          </a:xfrm>
          <a:prstGeom prst="rect">
            <a:avLst/>
          </a:prstGeom>
        </p:spPr>
      </p:pic>
      <p:pic>
        <p:nvPicPr>
          <p:cNvPr id="1028" name="Picture 4" descr="A blue rectangle with white text&#10;&#10;AI-generated content may be incorrect.">
            <a:extLst>
              <a:ext uri="{FF2B5EF4-FFF2-40B4-BE49-F238E27FC236}">
                <a16:creationId xmlns:a16="http://schemas.microsoft.com/office/drawing/2014/main" id="{343B57B4-4238-49E9-19B1-2CC56A19952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85949" y="3307516"/>
            <a:ext cx="1018221" cy="412793"/>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DA6E92EE-C49B-FA8E-39EB-629B8524A793}"/>
              </a:ext>
            </a:extLst>
          </p:cNvPr>
          <p:cNvSpPr/>
          <p:nvPr/>
        </p:nvSpPr>
        <p:spPr>
          <a:xfrm>
            <a:off x="2936871" y="3392276"/>
            <a:ext cx="1247779" cy="25123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100" err="1"/>
              <a:t>Finish </a:t>
            </a:r>
            <a:r>
              <a:rPr lang="fi-FI" sz="1100" err="1"/>
              <a:t>document</a:t>
            </a:r>
            <a:endParaRPr lang="en-US" sz="1100"/>
          </a:p>
        </p:txBody>
      </p:sp>
      <p:sp>
        <p:nvSpPr>
          <p:cNvPr id="9" name="Rectangle 8">
            <a:extLst>
              <a:ext uri="{FF2B5EF4-FFF2-40B4-BE49-F238E27FC236}">
                <a16:creationId xmlns:a16="http://schemas.microsoft.com/office/drawing/2014/main" id="{F30A8DF8-77F8-9D26-8D6D-0F7847A1E594}"/>
              </a:ext>
            </a:extLst>
          </p:cNvPr>
          <p:cNvSpPr/>
          <p:nvPr/>
        </p:nvSpPr>
        <p:spPr>
          <a:xfrm>
            <a:off x="976153" y="1817934"/>
            <a:ext cx="3161978" cy="346106"/>
          </a:xfrm>
          <a:prstGeom prst="rect">
            <a:avLst/>
          </a:prstGeom>
          <a:solidFill>
            <a:schemeClr val="accent4">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200"/>
              <a:t>"Make </a:t>
            </a:r>
            <a:r>
              <a:rPr lang="fi-FI" sz="1200" err="1"/>
              <a:t>this </a:t>
            </a:r>
            <a:r>
              <a:rPr lang="fi-FI" sz="1200" err="1"/>
              <a:t>simpler </a:t>
            </a:r>
            <a:r>
              <a:rPr lang="fi-FI" sz="1200"/>
              <a:t>and </a:t>
            </a:r>
            <a:r>
              <a:rPr lang="fi-FI" sz="1200" err="1"/>
              <a:t>shorter</a:t>
            </a:r>
            <a:r>
              <a:rPr lang="fi-FI" sz="1200"/>
              <a:t>. "</a:t>
            </a:r>
            <a:endParaRPr lang="en-US" sz="1200"/>
          </a:p>
        </p:txBody>
      </p:sp>
      <p:sp>
        <p:nvSpPr>
          <p:cNvPr id="10" name="Rectangle 9">
            <a:extLst>
              <a:ext uri="{FF2B5EF4-FFF2-40B4-BE49-F238E27FC236}">
                <a16:creationId xmlns:a16="http://schemas.microsoft.com/office/drawing/2014/main" id="{9FE01664-8176-6A0E-2B0C-E3113B29D9EF}"/>
              </a:ext>
            </a:extLst>
          </p:cNvPr>
          <p:cNvSpPr/>
          <p:nvPr/>
        </p:nvSpPr>
        <p:spPr>
          <a:xfrm>
            <a:off x="976152" y="1427856"/>
            <a:ext cx="3161978" cy="335947"/>
          </a:xfrm>
          <a:prstGeom prst="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200"/>
              <a:t>" </a:t>
            </a:r>
            <a:r>
              <a:rPr lang="en-US" sz="1200"/>
              <a:t>Adapt the text to better fit a UK audience. </a:t>
            </a:r>
            <a:r>
              <a:rPr lang="fi-FI" sz="1200"/>
              <a:t>"</a:t>
            </a:r>
            <a:endParaRPr lang="en-US" sz="1200"/>
          </a:p>
        </p:txBody>
      </p:sp>
      <p:sp>
        <p:nvSpPr>
          <p:cNvPr id="11" name="Rectangle 10">
            <a:extLst>
              <a:ext uri="{FF2B5EF4-FFF2-40B4-BE49-F238E27FC236}">
                <a16:creationId xmlns:a16="http://schemas.microsoft.com/office/drawing/2014/main" id="{9D8099BB-2BBC-9F70-3DF7-114D7E6AB239}"/>
              </a:ext>
            </a:extLst>
          </p:cNvPr>
          <p:cNvSpPr/>
          <p:nvPr/>
        </p:nvSpPr>
        <p:spPr>
          <a:xfrm>
            <a:off x="976152" y="2210147"/>
            <a:ext cx="3161978" cy="335947"/>
          </a:xfrm>
          <a:prstGeom prst="rect">
            <a:avLst/>
          </a:prstGeom>
          <a:solidFill>
            <a:schemeClr val="accent5">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200"/>
              <a:t>" </a:t>
            </a:r>
            <a:r>
              <a:rPr lang="en-US" sz="1200"/>
              <a:t>Make the tone more formal. </a:t>
            </a:r>
            <a:r>
              <a:rPr lang="fi-FI" sz="1200"/>
              <a:t>"</a:t>
            </a:r>
            <a:endParaRPr lang="en-US" sz="1200"/>
          </a:p>
        </p:txBody>
      </p:sp>
      <p:sp>
        <p:nvSpPr>
          <p:cNvPr id="12" name="Rectangle 11">
            <a:extLst>
              <a:ext uri="{FF2B5EF4-FFF2-40B4-BE49-F238E27FC236}">
                <a16:creationId xmlns:a16="http://schemas.microsoft.com/office/drawing/2014/main" id="{E79F2D1E-4F23-7801-CD3B-D9D85FFFC09C}"/>
              </a:ext>
            </a:extLst>
          </p:cNvPr>
          <p:cNvSpPr/>
          <p:nvPr/>
        </p:nvSpPr>
        <p:spPr>
          <a:xfrm>
            <a:off x="976152" y="2592202"/>
            <a:ext cx="3161978" cy="335948"/>
          </a:xfrm>
          <a:prstGeom prst="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200"/>
              <a:t>" </a:t>
            </a:r>
            <a:r>
              <a:rPr lang="en-US" sz="1200"/>
              <a:t>Make the tone more casual. </a:t>
            </a:r>
            <a:r>
              <a:rPr lang="fi-FI" sz="1200"/>
              <a:t>"</a:t>
            </a:r>
            <a:endParaRPr lang="en-US" sz="1200"/>
          </a:p>
        </p:txBody>
      </p:sp>
      <p:sp>
        <p:nvSpPr>
          <p:cNvPr id="17" name="Rectangle 16">
            <a:extLst>
              <a:ext uri="{FF2B5EF4-FFF2-40B4-BE49-F238E27FC236}">
                <a16:creationId xmlns:a16="http://schemas.microsoft.com/office/drawing/2014/main" id="{316FF1CF-37DA-A3AD-5637-58EAF62A42B2}"/>
              </a:ext>
            </a:extLst>
          </p:cNvPr>
          <p:cNvSpPr/>
          <p:nvPr/>
        </p:nvSpPr>
        <p:spPr>
          <a:xfrm>
            <a:off x="4603749" y="1713144"/>
            <a:ext cx="1352551" cy="261610"/>
          </a:xfrm>
          <a:prstGeom prst="rect">
            <a:avLst/>
          </a:prstGeom>
          <a:solidFill>
            <a:schemeClr val="bg1">
              <a:lumMod val="8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i-FI" sz="1200" err="1">
                <a:solidFill>
                  <a:schemeClr val="bg2">
                    <a:lumMod val="50000"/>
                  </a:schemeClr>
                </a:solidFill>
              </a:rPr>
              <a:t>moth</a:t>
            </a:r>
            <a:endParaRPr lang="en-US" sz="1200">
              <a:solidFill>
                <a:schemeClr val="bg2">
                  <a:lumMod val="50000"/>
                </a:schemeClr>
              </a:solidFill>
            </a:endParaRPr>
          </a:p>
        </p:txBody>
      </p:sp>
      <p:sp>
        <p:nvSpPr>
          <p:cNvPr id="18" name="TextBox 17">
            <a:extLst>
              <a:ext uri="{FF2B5EF4-FFF2-40B4-BE49-F238E27FC236}">
                <a16:creationId xmlns:a16="http://schemas.microsoft.com/office/drawing/2014/main" id="{23574C30-62F3-67FB-A556-FB73E2C96E85}"/>
              </a:ext>
            </a:extLst>
          </p:cNvPr>
          <p:cNvSpPr txBox="1"/>
          <p:nvPr/>
        </p:nvSpPr>
        <p:spPr>
          <a:xfrm>
            <a:off x="4525973" y="1397900"/>
            <a:ext cx="2644473" cy="261610"/>
          </a:xfrm>
          <a:prstGeom prst="rect">
            <a:avLst/>
          </a:prstGeom>
          <a:noFill/>
        </p:spPr>
        <p:txBody>
          <a:bodyPr wrap="square" rtlCol="0">
            <a:spAutoFit/>
          </a:bodyPr>
          <a:lstStyle/>
          <a:p>
            <a:r>
              <a:rPr lang="fi-FI" sz="1100" err="1"/>
              <a:t>Change </a:t>
            </a:r>
            <a:r>
              <a:rPr lang="fi-FI" sz="1100" err="1"/>
              <a:t>this </a:t>
            </a:r>
            <a:r>
              <a:rPr lang="fi-FI" sz="1100" err="1"/>
              <a:t>word</a:t>
            </a:r>
            <a:r>
              <a:rPr lang="fi-FI" sz="1100"/>
              <a:t>:</a:t>
            </a:r>
            <a:endParaRPr lang="en-US" sz="1100"/>
          </a:p>
        </p:txBody>
      </p:sp>
      <p:sp>
        <p:nvSpPr>
          <p:cNvPr id="19" name="Rectangle 18">
            <a:extLst>
              <a:ext uri="{FF2B5EF4-FFF2-40B4-BE49-F238E27FC236}">
                <a16:creationId xmlns:a16="http://schemas.microsoft.com/office/drawing/2014/main" id="{AFE65BCD-6775-6053-EDE5-48E5F95C1541}"/>
              </a:ext>
            </a:extLst>
          </p:cNvPr>
          <p:cNvSpPr/>
          <p:nvPr/>
        </p:nvSpPr>
        <p:spPr>
          <a:xfrm>
            <a:off x="6149504" y="1717797"/>
            <a:ext cx="1429956" cy="244786"/>
          </a:xfrm>
          <a:prstGeom prst="rect">
            <a:avLst/>
          </a:prstGeom>
          <a:solidFill>
            <a:schemeClr val="bg1">
              <a:lumMod val="85000"/>
            </a:schemeClr>
          </a:solid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i-FI" sz="1200" err="1">
                <a:solidFill>
                  <a:schemeClr val="bg2">
                    <a:lumMod val="50000"/>
                  </a:schemeClr>
                </a:solidFill>
              </a:rPr>
              <a:t>insect</a:t>
            </a:r>
            <a:endParaRPr lang="en-US" sz="1200">
              <a:solidFill>
                <a:schemeClr val="bg2">
                  <a:lumMod val="50000"/>
                </a:schemeClr>
              </a:solidFill>
            </a:endParaRPr>
          </a:p>
        </p:txBody>
      </p:sp>
      <p:sp>
        <p:nvSpPr>
          <p:cNvPr id="20" name="TextBox 19">
            <a:extLst>
              <a:ext uri="{FF2B5EF4-FFF2-40B4-BE49-F238E27FC236}">
                <a16:creationId xmlns:a16="http://schemas.microsoft.com/office/drawing/2014/main" id="{D4846ABB-0364-2CD8-C548-F05E68EE0E68}"/>
              </a:ext>
            </a:extLst>
          </p:cNvPr>
          <p:cNvSpPr txBox="1"/>
          <p:nvPr/>
        </p:nvSpPr>
        <p:spPr>
          <a:xfrm>
            <a:off x="6096000" y="1414600"/>
            <a:ext cx="2644473" cy="261610"/>
          </a:xfrm>
          <a:prstGeom prst="rect">
            <a:avLst/>
          </a:prstGeom>
          <a:noFill/>
        </p:spPr>
        <p:txBody>
          <a:bodyPr wrap="square" rtlCol="0">
            <a:spAutoFit/>
          </a:bodyPr>
          <a:lstStyle/>
          <a:p>
            <a:r>
              <a:rPr lang="fi-FI" sz="1100"/>
              <a:t>To </a:t>
            </a:r>
            <a:r>
              <a:rPr lang="fi-FI" sz="1100" err="1"/>
              <a:t>this </a:t>
            </a:r>
            <a:r>
              <a:rPr lang="fi-FI" sz="1100" err="1"/>
              <a:t>word</a:t>
            </a:r>
            <a:r>
              <a:rPr lang="fi-FI" sz="1100"/>
              <a:t>:</a:t>
            </a:r>
            <a:endParaRPr lang="en-US" sz="1100"/>
          </a:p>
        </p:txBody>
      </p:sp>
      <p:sp>
        <p:nvSpPr>
          <p:cNvPr id="21" name="Rectangle 20">
            <a:extLst>
              <a:ext uri="{FF2B5EF4-FFF2-40B4-BE49-F238E27FC236}">
                <a16:creationId xmlns:a16="http://schemas.microsoft.com/office/drawing/2014/main" id="{540A90DA-986D-5AF1-200B-FEB702EA4EC7}"/>
              </a:ext>
            </a:extLst>
          </p:cNvPr>
          <p:cNvSpPr/>
          <p:nvPr/>
        </p:nvSpPr>
        <p:spPr>
          <a:xfrm>
            <a:off x="4603749" y="2051808"/>
            <a:ext cx="1130300" cy="228756"/>
          </a:xfrm>
          <a:prstGeom prst="rect">
            <a:avLst/>
          </a:prstGeom>
          <a:solidFill>
            <a:schemeClr val="accent1">
              <a:lumMod val="20000"/>
              <a:lumOff val="8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050" err="1">
                <a:solidFill>
                  <a:schemeClr val="tx1"/>
                </a:solidFill>
              </a:rPr>
              <a:t>Accept </a:t>
            </a:r>
            <a:r>
              <a:rPr lang="fi-FI" sz="1050">
                <a:solidFill>
                  <a:schemeClr val="tx1"/>
                </a:solidFill>
              </a:rPr>
              <a:t>and </a:t>
            </a:r>
            <a:r>
              <a:rPr lang="fi-FI" sz="1050" err="1">
                <a:solidFill>
                  <a:schemeClr val="tx1"/>
                </a:solidFill>
              </a:rPr>
              <a:t>next</a:t>
            </a:r>
            <a:endParaRPr lang="en-US" sz="1050">
              <a:solidFill>
                <a:schemeClr val="tx1"/>
              </a:solidFill>
            </a:endParaRPr>
          </a:p>
        </p:txBody>
      </p:sp>
      <p:sp>
        <p:nvSpPr>
          <p:cNvPr id="22" name="Rectangle 21">
            <a:extLst>
              <a:ext uri="{FF2B5EF4-FFF2-40B4-BE49-F238E27FC236}">
                <a16:creationId xmlns:a16="http://schemas.microsoft.com/office/drawing/2014/main" id="{843BC671-D2D1-348A-58EE-41D20CFF20FA}"/>
              </a:ext>
            </a:extLst>
          </p:cNvPr>
          <p:cNvSpPr/>
          <p:nvPr/>
        </p:nvSpPr>
        <p:spPr>
          <a:xfrm>
            <a:off x="5848209" y="2061307"/>
            <a:ext cx="1170228" cy="228756"/>
          </a:xfrm>
          <a:prstGeom prst="rect">
            <a:avLst/>
          </a:prstGeom>
          <a:solidFill>
            <a:schemeClr val="accent1">
              <a:lumMod val="20000"/>
              <a:lumOff val="8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050" err="1">
                <a:solidFill>
                  <a:schemeClr val="tx1"/>
                </a:solidFill>
              </a:rPr>
              <a:t>Decline </a:t>
            </a:r>
            <a:r>
              <a:rPr lang="fi-FI" sz="1050">
                <a:solidFill>
                  <a:schemeClr val="tx1"/>
                </a:solidFill>
              </a:rPr>
              <a:t>and </a:t>
            </a:r>
            <a:r>
              <a:rPr lang="fi-FI" sz="1050" err="1">
                <a:solidFill>
                  <a:schemeClr val="tx1"/>
                </a:solidFill>
              </a:rPr>
              <a:t>next</a:t>
            </a:r>
            <a:endParaRPr lang="en-US" sz="1050">
              <a:solidFill>
                <a:schemeClr val="tx1"/>
              </a:solidFill>
            </a:endParaRPr>
          </a:p>
        </p:txBody>
      </p:sp>
      <p:sp>
        <p:nvSpPr>
          <p:cNvPr id="23" name="Rectangle 22">
            <a:extLst>
              <a:ext uri="{FF2B5EF4-FFF2-40B4-BE49-F238E27FC236}">
                <a16:creationId xmlns:a16="http://schemas.microsoft.com/office/drawing/2014/main" id="{82757456-BD31-9F76-E85B-176B2785AF6D}"/>
              </a:ext>
            </a:extLst>
          </p:cNvPr>
          <p:cNvSpPr/>
          <p:nvPr/>
        </p:nvSpPr>
        <p:spPr>
          <a:xfrm>
            <a:off x="7113583" y="2059483"/>
            <a:ext cx="773117" cy="221081"/>
          </a:xfrm>
          <a:prstGeom prst="rect">
            <a:avLst/>
          </a:prstGeom>
          <a:solidFill>
            <a:schemeClr val="accent1">
              <a:lumMod val="20000"/>
              <a:lumOff val="80000"/>
            </a:schemeClr>
          </a:solidFill>
          <a:ln>
            <a:solidFill>
              <a:schemeClr val="bg2">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050" err="1">
                <a:solidFill>
                  <a:schemeClr val="tx1"/>
                </a:solidFill>
              </a:rPr>
              <a:t>Close</a:t>
            </a:r>
            <a:endParaRPr lang="en-US" sz="1050">
              <a:solidFill>
                <a:schemeClr val="tx1"/>
              </a:solidFill>
            </a:endParaRPr>
          </a:p>
        </p:txBody>
      </p:sp>
      <p:sp>
        <p:nvSpPr>
          <p:cNvPr id="24" name="TextBox 23">
            <a:extLst>
              <a:ext uri="{FF2B5EF4-FFF2-40B4-BE49-F238E27FC236}">
                <a16:creationId xmlns:a16="http://schemas.microsoft.com/office/drawing/2014/main" id="{9E923B38-1F0F-5894-04F8-5893F530588E}"/>
              </a:ext>
            </a:extLst>
          </p:cNvPr>
          <p:cNvSpPr txBox="1"/>
          <p:nvPr/>
        </p:nvSpPr>
        <p:spPr>
          <a:xfrm>
            <a:off x="4491399" y="2507669"/>
            <a:ext cx="3960558" cy="461665"/>
          </a:xfrm>
          <a:prstGeom prst="rect">
            <a:avLst/>
          </a:prstGeom>
          <a:noFill/>
        </p:spPr>
        <p:txBody>
          <a:bodyPr wrap="square" rtlCol="0">
            <a:spAutoFit/>
          </a:bodyPr>
          <a:lstStyle/>
          <a:p>
            <a:r>
              <a:rPr lang="fi-FI" sz="1200" err="1"/>
              <a:t>Moth </a:t>
            </a:r>
            <a:r>
              <a:rPr lang="fi-FI" sz="1200">
                <a:sym typeface="Wingdings" panose="05000000000000000000" pitchFamily="2" charset="2"/>
              </a:rPr>
              <a:t> </a:t>
            </a:r>
            <a:r>
              <a:rPr lang="fi-FI" sz="1200" err="1"/>
              <a:t>insect</a:t>
            </a:r>
            <a:endParaRPr lang="fi-FI" sz="1200"/>
          </a:p>
          <a:p>
            <a:r>
              <a:rPr lang="fi-FI" sz="1200"/>
              <a:t>Cat </a:t>
            </a:r>
            <a:r>
              <a:rPr lang="fi-FI" sz="1200">
                <a:sym typeface="Wingdings" panose="05000000000000000000" pitchFamily="2" charset="2"/>
              </a:rPr>
              <a:t> </a:t>
            </a:r>
            <a:r>
              <a:rPr lang="fi-FI" sz="1200" err="1">
                <a:sym typeface="Wingdings" panose="05000000000000000000" pitchFamily="2" charset="2"/>
              </a:rPr>
              <a:t>dog</a:t>
            </a:r>
            <a:endParaRPr lang="en-US" sz="1200"/>
          </a:p>
        </p:txBody>
      </p:sp>
      <p:sp>
        <p:nvSpPr>
          <p:cNvPr id="25" name="Rectangle 24">
            <a:extLst>
              <a:ext uri="{FF2B5EF4-FFF2-40B4-BE49-F238E27FC236}">
                <a16:creationId xmlns:a16="http://schemas.microsoft.com/office/drawing/2014/main" id="{9487D8DF-9066-39FF-FE21-E451D73F8955}"/>
              </a:ext>
            </a:extLst>
          </p:cNvPr>
          <p:cNvSpPr/>
          <p:nvPr/>
        </p:nvSpPr>
        <p:spPr>
          <a:xfrm>
            <a:off x="4491399" y="2434169"/>
            <a:ext cx="5499691" cy="1401504"/>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3773E679-7E84-C572-5E07-020F221108B6}"/>
              </a:ext>
            </a:extLst>
          </p:cNvPr>
          <p:cNvSpPr/>
          <p:nvPr/>
        </p:nvSpPr>
        <p:spPr>
          <a:xfrm>
            <a:off x="9823450" y="2507669"/>
            <a:ext cx="88900" cy="1240950"/>
          </a:xfrm>
          <a:prstGeom prst="rect">
            <a:avLst/>
          </a:prstGeom>
          <a:solidFill>
            <a:schemeClr val="bg1">
              <a:lumMod val="6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7" name="Picture 2" descr="A screenshot of a computer&#10;&#10;AI-generated content may be incorrect.">
            <a:extLst>
              <a:ext uri="{FF2B5EF4-FFF2-40B4-BE49-F238E27FC236}">
                <a16:creationId xmlns:a16="http://schemas.microsoft.com/office/drawing/2014/main" id="{5AD5737E-C39B-8E83-5646-41305954099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2322" t="6396" b="80556"/>
          <a:stretch/>
        </p:blipFill>
        <p:spPr bwMode="auto">
          <a:xfrm>
            <a:off x="4828062" y="383555"/>
            <a:ext cx="2590172" cy="894873"/>
          </a:xfrm>
          <a:prstGeom prst="rect">
            <a:avLst/>
          </a:prstGeom>
          <a:noFill/>
          <a:extLst>
            <a:ext uri="{909E8E84-426E-40DD-AFC4-6F175D3DCCD1}">
              <a14:hiddenFill xmlns:a14="http://schemas.microsoft.com/office/drawing/2010/main">
                <a:solidFill>
                  <a:srgbClr val="FFFFFF"/>
                </a:solidFill>
              </a14:hiddenFill>
            </a:ext>
          </a:extLst>
        </p:spPr>
      </p:pic>
      <p:sp>
        <p:nvSpPr>
          <p:cNvPr id="28" name="Oval 27">
            <a:extLst>
              <a:ext uri="{FF2B5EF4-FFF2-40B4-BE49-F238E27FC236}">
                <a16:creationId xmlns:a16="http://schemas.microsoft.com/office/drawing/2014/main" id="{43277F9D-F079-D9BB-A1BB-90404B2363DF}"/>
              </a:ext>
            </a:extLst>
          </p:cNvPr>
          <p:cNvSpPr/>
          <p:nvPr/>
        </p:nvSpPr>
        <p:spPr>
          <a:xfrm>
            <a:off x="3690751" y="72484"/>
            <a:ext cx="292100" cy="217560"/>
          </a:xfrm>
          <a:prstGeom prst="ellipse">
            <a:avLst/>
          </a:prstGeom>
          <a:solidFill>
            <a:schemeClr val="bg1">
              <a:lumMod val="6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Graphic 29" descr="Single gear with solid fill">
            <a:extLst>
              <a:ext uri="{FF2B5EF4-FFF2-40B4-BE49-F238E27FC236}">
                <a16:creationId xmlns:a16="http://schemas.microsoft.com/office/drawing/2014/main" id="{74058AE7-8146-6254-755C-DBA519051E0D}"/>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644566" y="-31496"/>
            <a:ext cx="380468" cy="380468"/>
          </a:xfrm>
          <a:prstGeom prst="rect">
            <a:avLst/>
          </a:prstGeom>
        </p:spPr>
      </p:pic>
      <p:sp>
        <p:nvSpPr>
          <p:cNvPr id="31" name="Rectangle 30">
            <a:extLst>
              <a:ext uri="{FF2B5EF4-FFF2-40B4-BE49-F238E27FC236}">
                <a16:creationId xmlns:a16="http://schemas.microsoft.com/office/drawing/2014/main" id="{6108D8E9-1F29-D040-3D15-A3F69549541D}"/>
              </a:ext>
            </a:extLst>
          </p:cNvPr>
          <p:cNvSpPr/>
          <p:nvPr/>
        </p:nvSpPr>
        <p:spPr>
          <a:xfrm>
            <a:off x="7918450" y="1740376"/>
            <a:ext cx="234950" cy="2109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24" name="TextBox 1023">
            <a:extLst>
              <a:ext uri="{FF2B5EF4-FFF2-40B4-BE49-F238E27FC236}">
                <a16:creationId xmlns:a16="http://schemas.microsoft.com/office/drawing/2014/main" id="{30CBC2FD-10B1-24B2-7BE5-BE88F13B1E48}"/>
              </a:ext>
            </a:extLst>
          </p:cNvPr>
          <p:cNvSpPr txBox="1"/>
          <p:nvPr/>
        </p:nvSpPr>
        <p:spPr>
          <a:xfrm>
            <a:off x="7812430" y="1404092"/>
            <a:ext cx="880720" cy="261610"/>
          </a:xfrm>
          <a:prstGeom prst="rect">
            <a:avLst/>
          </a:prstGeom>
          <a:noFill/>
        </p:spPr>
        <p:txBody>
          <a:bodyPr wrap="square" rtlCol="0">
            <a:spAutoFit/>
          </a:bodyPr>
          <a:lstStyle/>
          <a:p>
            <a:r>
              <a:rPr lang="fi-FI" sz="1100"/>
              <a:t>FI to EN</a:t>
            </a:r>
            <a:endParaRPr lang="en-US" sz="1100"/>
          </a:p>
        </p:txBody>
      </p:sp>
      <p:sp>
        <p:nvSpPr>
          <p:cNvPr id="1025" name="TextBox 1024">
            <a:extLst>
              <a:ext uri="{FF2B5EF4-FFF2-40B4-BE49-F238E27FC236}">
                <a16:creationId xmlns:a16="http://schemas.microsoft.com/office/drawing/2014/main" id="{0C84EA29-A5BD-E653-A591-411DC74132AA}"/>
              </a:ext>
            </a:extLst>
          </p:cNvPr>
          <p:cNvSpPr txBox="1"/>
          <p:nvPr/>
        </p:nvSpPr>
        <p:spPr>
          <a:xfrm>
            <a:off x="8501737" y="1401175"/>
            <a:ext cx="880720" cy="261610"/>
          </a:xfrm>
          <a:prstGeom prst="rect">
            <a:avLst/>
          </a:prstGeom>
          <a:noFill/>
        </p:spPr>
        <p:txBody>
          <a:bodyPr wrap="square" rtlCol="0">
            <a:spAutoFit/>
          </a:bodyPr>
          <a:lstStyle/>
          <a:p>
            <a:r>
              <a:rPr lang="fi-FI" sz="1100"/>
              <a:t>EN to EN</a:t>
            </a:r>
            <a:endParaRPr lang="en-US" sz="1100"/>
          </a:p>
        </p:txBody>
      </p:sp>
      <p:sp>
        <p:nvSpPr>
          <p:cNvPr id="1027" name="Rectangle 1026">
            <a:extLst>
              <a:ext uri="{FF2B5EF4-FFF2-40B4-BE49-F238E27FC236}">
                <a16:creationId xmlns:a16="http://schemas.microsoft.com/office/drawing/2014/main" id="{036FBF45-65BE-6F34-A74C-52614FD6EF40}"/>
              </a:ext>
            </a:extLst>
          </p:cNvPr>
          <p:cNvSpPr/>
          <p:nvPr/>
        </p:nvSpPr>
        <p:spPr>
          <a:xfrm>
            <a:off x="8575675" y="1739707"/>
            <a:ext cx="234950" cy="2109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30" name="Picture 1029">
            <a:extLst>
              <a:ext uri="{FF2B5EF4-FFF2-40B4-BE49-F238E27FC236}">
                <a16:creationId xmlns:a16="http://schemas.microsoft.com/office/drawing/2014/main" id="{C260EE6D-309E-3482-E4BA-4C8D4CFA8C5B}"/>
              </a:ext>
            </a:extLst>
          </p:cNvPr>
          <p:cNvPicPr>
            <a:picLocks noChangeAspect="1"/>
          </p:cNvPicPr>
          <p:nvPr/>
        </p:nvPicPr>
        <p:blipFill>
          <a:blip r:embed="rId8"/>
          <a:srcRect b="58170"/>
          <a:stretch/>
        </p:blipFill>
        <p:spPr>
          <a:xfrm>
            <a:off x="4546952" y="3989278"/>
            <a:ext cx="3620371" cy="2868722"/>
          </a:xfrm>
          <a:prstGeom prst="rect">
            <a:avLst/>
          </a:prstGeom>
        </p:spPr>
      </p:pic>
      <p:sp>
        <p:nvSpPr>
          <p:cNvPr id="1031" name="Rectangle 1030">
            <a:extLst>
              <a:ext uri="{FF2B5EF4-FFF2-40B4-BE49-F238E27FC236}">
                <a16:creationId xmlns:a16="http://schemas.microsoft.com/office/drawing/2014/main" id="{E24655FE-A451-3986-B9F4-095910F8A7D6}"/>
              </a:ext>
            </a:extLst>
          </p:cNvPr>
          <p:cNvSpPr/>
          <p:nvPr/>
        </p:nvSpPr>
        <p:spPr>
          <a:xfrm>
            <a:off x="1283748" y="4178873"/>
            <a:ext cx="2983451" cy="1436645"/>
          </a:xfrm>
          <a:prstGeom prst="rect">
            <a:avLst/>
          </a:prstGeom>
          <a:solidFill>
            <a:srgbClr val="C33509">
              <a:alpha val="3803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2" name="Arrow: Right 1031">
            <a:extLst>
              <a:ext uri="{FF2B5EF4-FFF2-40B4-BE49-F238E27FC236}">
                <a16:creationId xmlns:a16="http://schemas.microsoft.com/office/drawing/2014/main" id="{13A2444C-F045-B8D5-66AC-1492F18891FB}"/>
              </a:ext>
            </a:extLst>
          </p:cNvPr>
          <p:cNvSpPr/>
          <p:nvPr/>
        </p:nvSpPr>
        <p:spPr>
          <a:xfrm rot="10800000">
            <a:off x="5492749" y="4069225"/>
            <a:ext cx="241300" cy="17259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3" name="Arrow: Right 1032">
            <a:extLst>
              <a:ext uri="{FF2B5EF4-FFF2-40B4-BE49-F238E27FC236}">
                <a16:creationId xmlns:a16="http://schemas.microsoft.com/office/drawing/2014/main" id="{128D69FC-43C8-876E-3CDA-AA6AA38B5A2F}"/>
              </a:ext>
            </a:extLst>
          </p:cNvPr>
          <p:cNvSpPr/>
          <p:nvPr/>
        </p:nvSpPr>
        <p:spPr>
          <a:xfrm>
            <a:off x="7024118" y="4056828"/>
            <a:ext cx="292656" cy="199625"/>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p>
        </p:txBody>
      </p:sp>
      <p:sp>
        <p:nvSpPr>
          <p:cNvPr id="1034" name="Rectangle 1033">
            <a:extLst>
              <a:ext uri="{FF2B5EF4-FFF2-40B4-BE49-F238E27FC236}">
                <a16:creationId xmlns:a16="http://schemas.microsoft.com/office/drawing/2014/main" id="{97F34D20-2478-F9CC-CB16-2A7D939347E0}"/>
              </a:ext>
            </a:extLst>
          </p:cNvPr>
          <p:cNvSpPr/>
          <p:nvPr/>
        </p:nvSpPr>
        <p:spPr>
          <a:xfrm>
            <a:off x="1282700" y="3408169"/>
            <a:ext cx="234950" cy="2109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35" name="TextBox 1034">
            <a:extLst>
              <a:ext uri="{FF2B5EF4-FFF2-40B4-BE49-F238E27FC236}">
                <a16:creationId xmlns:a16="http://schemas.microsoft.com/office/drawing/2014/main" id="{471F6B8C-EF54-D957-6B64-680043BC75A3}"/>
              </a:ext>
            </a:extLst>
          </p:cNvPr>
          <p:cNvSpPr txBox="1"/>
          <p:nvPr/>
        </p:nvSpPr>
        <p:spPr>
          <a:xfrm>
            <a:off x="1142126" y="2992324"/>
            <a:ext cx="1170148" cy="430887"/>
          </a:xfrm>
          <a:prstGeom prst="rect">
            <a:avLst/>
          </a:prstGeom>
          <a:noFill/>
        </p:spPr>
        <p:txBody>
          <a:bodyPr wrap="square" rtlCol="0">
            <a:spAutoFit/>
          </a:bodyPr>
          <a:lstStyle/>
          <a:p>
            <a:r>
              <a:rPr lang="fi-FI" sz="1050"/>
              <a:t>Auto </a:t>
            </a:r>
            <a:r>
              <a:rPr lang="fi-FI" sz="1050" err="1"/>
              <a:t>translate </a:t>
            </a:r>
            <a:r>
              <a:rPr lang="fi-FI" sz="1050" err="1"/>
              <a:t>next </a:t>
            </a:r>
            <a:r>
              <a:rPr lang="fi-FI" sz="1050" err="1"/>
              <a:t>chunk</a:t>
            </a:r>
            <a:endParaRPr lang="en-US" sz="1050"/>
          </a:p>
        </p:txBody>
      </p:sp>
      <p:sp>
        <p:nvSpPr>
          <p:cNvPr id="1036" name="Rectangle 1035">
            <a:extLst>
              <a:ext uri="{FF2B5EF4-FFF2-40B4-BE49-F238E27FC236}">
                <a16:creationId xmlns:a16="http://schemas.microsoft.com/office/drawing/2014/main" id="{A208380A-7A77-213B-A50D-25B65BCA0360}"/>
              </a:ext>
            </a:extLst>
          </p:cNvPr>
          <p:cNvSpPr/>
          <p:nvPr/>
        </p:nvSpPr>
        <p:spPr>
          <a:xfrm>
            <a:off x="4029554" y="72484"/>
            <a:ext cx="910746" cy="257437"/>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000" err="1">
                <a:solidFill>
                  <a:schemeClr val="accent1">
                    <a:lumMod val="75000"/>
                  </a:schemeClr>
                </a:solidFill>
              </a:rPr>
              <a:t>Instructions</a:t>
            </a:r>
            <a:endParaRPr lang="en-US" sz="1000">
              <a:solidFill>
                <a:schemeClr val="accent1">
                  <a:lumMod val="75000"/>
                </a:schemeClr>
              </a:solidFill>
            </a:endParaRPr>
          </a:p>
        </p:txBody>
      </p:sp>
      <p:sp>
        <p:nvSpPr>
          <p:cNvPr id="1038" name="Rectangle 1037">
            <a:extLst>
              <a:ext uri="{FF2B5EF4-FFF2-40B4-BE49-F238E27FC236}">
                <a16:creationId xmlns:a16="http://schemas.microsoft.com/office/drawing/2014/main" id="{10C22EBE-CF49-6047-50A2-7CF9D4C7CB29}"/>
              </a:ext>
            </a:extLst>
          </p:cNvPr>
          <p:cNvSpPr/>
          <p:nvPr/>
        </p:nvSpPr>
        <p:spPr>
          <a:xfrm>
            <a:off x="791636" y="1288170"/>
            <a:ext cx="11201400" cy="2625549"/>
          </a:xfrm>
          <a:prstGeom prst="rect">
            <a:avLst/>
          </a:prstGeom>
          <a:no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40" name="Straight Connector 1039">
            <a:extLst>
              <a:ext uri="{FF2B5EF4-FFF2-40B4-BE49-F238E27FC236}">
                <a16:creationId xmlns:a16="http://schemas.microsoft.com/office/drawing/2014/main" id="{6C0E3FDB-FD75-95FC-24F4-30FB61062116}"/>
              </a:ext>
            </a:extLst>
          </p:cNvPr>
          <p:cNvCxnSpPr>
            <a:cxnSpLocks/>
            <a:endCxn id="1038" idx="1"/>
          </p:cNvCxnSpPr>
          <p:nvPr/>
        </p:nvCxnSpPr>
        <p:spPr>
          <a:xfrm flipV="1">
            <a:off x="-825500" y="2600945"/>
            <a:ext cx="1617136" cy="125324"/>
          </a:xfrm>
          <a:prstGeom prst="line">
            <a:avLst/>
          </a:prstGeom>
        </p:spPr>
        <p:style>
          <a:lnRef idx="2">
            <a:schemeClr val="accent1"/>
          </a:lnRef>
          <a:fillRef idx="0">
            <a:schemeClr val="accent1"/>
          </a:fillRef>
          <a:effectRef idx="1">
            <a:schemeClr val="accent1"/>
          </a:effectRef>
          <a:fontRef idx="minor">
            <a:schemeClr val="tx1"/>
          </a:fontRef>
        </p:style>
      </p:cxnSp>
      <p:sp>
        <p:nvSpPr>
          <p:cNvPr id="1042" name="TextBox 1041">
            <a:extLst>
              <a:ext uri="{FF2B5EF4-FFF2-40B4-BE49-F238E27FC236}">
                <a16:creationId xmlns:a16="http://schemas.microsoft.com/office/drawing/2014/main" id="{75053A0C-9A2C-232C-4CBF-8FBB6112651B}"/>
              </a:ext>
            </a:extLst>
          </p:cNvPr>
          <p:cNvSpPr txBox="1"/>
          <p:nvPr/>
        </p:nvSpPr>
        <p:spPr>
          <a:xfrm>
            <a:off x="-2696570" y="2552444"/>
            <a:ext cx="1813919" cy="646331"/>
          </a:xfrm>
          <a:prstGeom prst="rect">
            <a:avLst/>
          </a:prstGeom>
          <a:noFill/>
        </p:spPr>
        <p:txBody>
          <a:bodyPr wrap="square" rtlCol="0">
            <a:spAutoFit/>
          </a:bodyPr>
          <a:lstStyle/>
          <a:p>
            <a:r>
              <a:rPr lang="fi-FI" err="1"/>
              <a:t>Toolbox</a:t>
            </a:r>
            <a:endParaRPr lang="fi-FI"/>
          </a:p>
          <a:p>
            <a:r>
              <a:rPr lang="fi-FI"/>
              <a:t>-- &gt;Components</a:t>
            </a:r>
            <a:endParaRPr lang="en-US"/>
          </a:p>
        </p:txBody>
      </p:sp>
      <p:sp>
        <p:nvSpPr>
          <p:cNvPr id="1045" name="TextBox 1044">
            <a:extLst>
              <a:ext uri="{FF2B5EF4-FFF2-40B4-BE49-F238E27FC236}">
                <a16:creationId xmlns:a16="http://schemas.microsoft.com/office/drawing/2014/main" id="{66148CE5-ED99-787F-DB2F-A9B4412DA753}"/>
              </a:ext>
            </a:extLst>
          </p:cNvPr>
          <p:cNvSpPr txBox="1"/>
          <p:nvPr/>
        </p:nvSpPr>
        <p:spPr>
          <a:xfrm>
            <a:off x="-2987977" y="863910"/>
            <a:ext cx="1813919" cy="646331"/>
          </a:xfrm>
          <a:prstGeom prst="rect">
            <a:avLst/>
          </a:prstGeom>
          <a:noFill/>
        </p:spPr>
        <p:txBody>
          <a:bodyPr wrap="square" rtlCol="0">
            <a:spAutoFit/>
          </a:bodyPr>
          <a:lstStyle/>
          <a:p>
            <a:r>
              <a:rPr lang="fi-FI" err="1"/>
              <a:t>Prompts</a:t>
            </a:r>
            <a:endParaRPr lang="fi-FI"/>
          </a:p>
          <a:p>
            <a:r>
              <a:rPr lang="fi-FI"/>
              <a:t>-- &gt;Components</a:t>
            </a:r>
            <a:endParaRPr lang="en-US"/>
          </a:p>
        </p:txBody>
      </p:sp>
      <p:sp>
        <p:nvSpPr>
          <p:cNvPr id="1048" name="TextBox 1047">
            <a:extLst>
              <a:ext uri="{FF2B5EF4-FFF2-40B4-BE49-F238E27FC236}">
                <a16:creationId xmlns:a16="http://schemas.microsoft.com/office/drawing/2014/main" id="{8BE016C7-8CA6-4AD0-9552-55309116F05B}"/>
              </a:ext>
            </a:extLst>
          </p:cNvPr>
          <p:cNvSpPr txBox="1"/>
          <p:nvPr/>
        </p:nvSpPr>
        <p:spPr>
          <a:xfrm>
            <a:off x="13014325" y="1507490"/>
            <a:ext cx="2473325" cy="923330"/>
          </a:xfrm>
          <a:prstGeom prst="rect">
            <a:avLst/>
          </a:prstGeom>
          <a:noFill/>
        </p:spPr>
        <p:txBody>
          <a:bodyPr wrap="square" rtlCol="0">
            <a:spAutoFit/>
          </a:bodyPr>
          <a:lstStyle/>
          <a:p>
            <a:r>
              <a:rPr lang="fi-FI" err="1"/>
              <a:t>TranslationDictionary</a:t>
            </a:r>
            <a:endParaRPr lang="fi-FI"/>
          </a:p>
          <a:p>
            <a:r>
              <a:rPr lang="fi-FI"/>
              <a:t>-- &gt;Components</a:t>
            </a:r>
            <a:endParaRPr lang="en-US"/>
          </a:p>
          <a:p>
            <a:endParaRPr lang="en-US"/>
          </a:p>
        </p:txBody>
      </p:sp>
      <p:cxnSp>
        <p:nvCxnSpPr>
          <p:cNvPr id="1050" name="Straight Arrow Connector 1049">
            <a:extLst>
              <a:ext uri="{FF2B5EF4-FFF2-40B4-BE49-F238E27FC236}">
                <a16:creationId xmlns:a16="http://schemas.microsoft.com/office/drawing/2014/main" id="{1930A261-C212-D4AD-8772-F5DADA740D4E}"/>
              </a:ext>
            </a:extLst>
          </p:cNvPr>
          <p:cNvCxnSpPr>
            <a:cxnSpLocks/>
          </p:cNvCxnSpPr>
          <p:nvPr/>
        </p:nvCxnSpPr>
        <p:spPr>
          <a:xfrm flipH="1">
            <a:off x="10318750" y="1801795"/>
            <a:ext cx="2507009" cy="47876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54" name="Straight Arrow Connector 1053">
            <a:extLst>
              <a:ext uri="{FF2B5EF4-FFF2-40B4-BE49-F238E27FC236}">
                <a16:creationId xmlns:a16="http://schemas.microsoft.com/office/drawing/2014/main" id="{0DD6E51C-D12D-D700-0C2A-20690617932D}"/>
              </a:ext>
            </a:extLst>
          </p:cNvPr>
          <p:cNvCxnSpPr>
            <a:cxnSpLocks/>
          </p:cNvCxnSpPr>
          <p:nvPr/>
        </p:nvCxnSpPr>
        <p:spPr>
          <a:xfrm>
            <a:off x="-1193823" y="1413495"/>
            <a:ext cx="1929708" cy="389843"/>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056" name="Straight Arrow Connector 1055">
            <a:extLst>
              <a:ext uri="{FF2B5EF4-FFF2-40B4-BE49-F238E27FC236}">
                <a16:creationId xmlns:a16="http://schemas.microsoft.com/office/drawing/2014/main" id="{7722A7F8-477B-473F-49B1-D75B9F6EBD8E}"/>
              </a:ext>
            </a:extLst>
          </p:cNvPr>
          <p:cNvCxnSpPr>
            <a:cxnSpLocks/>
          </p:cNvCxnSpPr>
          <p:nvPr/>
        </p:nvCxnSpPr>
        <p:spPr>
          <a:xfrm flipV="1">
            <a:off x="-1385088" y="302601"/>
            <a:ext cx="4945848" cy="13755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058" name="TextBox 1057">
            <a:extLst>
              <a:ext uri="{FF2B5EF4-FFF2-40B4-BE49-F238E27FC236}">
                <a16:creationId xmlns:a16="http://schemas.microsoft.com/office/drawing/2014/main" id="{D7543996-63D4-F8EF-30B4-AA6D93C1F421}"/>
              </a:ext>
            </a:extLst>
          </p:cNvPr>
          <p:cNvSpPr txBox="1"/>
          <p:nvPr/>
        </p:nvSpPr>
        <p:spPr>
          <a:xfrm>
            <a:off x="-2936114" y="-8195"/>
            <a:ext cx="1813919" cy="646331"/>
          </a:xfrm>
          <a:prstGeom prst="rect">
            <a:avLst/>
          </a:prstGeom>
          <a:noFill/>
        </p:spPr>
        <p:txBody>
          <a:bodyPr wrap="square" rtlCol="0">
            <a:spAutoFit/>
          </a:bodyPr>
          <a:lstStyle/>
          <a:p>
            <a:r>
              <a:rPr lang="fi-FI" err="1"/>
              <a:t>Settings</a:t>
            </a:r>
            <a:endParaRPr lang="fi-FI"/>
          </a:p>
          <a:p>
            <a:r>
              <a:rPr lang="fi-FI"/>
              <a:t>-- </a:t>
            </a:r>
            <a:r>
              <a:rPr lang="fi-FI" err="1"/>
              <a:t>&gt;Routes</a:t>
            </a:r>
            <a:endParaRPr lang="en-US"/>
          </a:p>
        </p:txBody>
      </p:sp>
      <p:sp>
        <p:nvSpPr>
          <p:cNvPr id="1060" name="TextBox 1059">
            <a:extLst>
              <a:ext uri="{FF2B5EF4-FFF2-40B4-BE49-F238E27FC236}">
                <a16:creationId xmlns:a16="http://schemas.microsoft.com/office/drawing/2014/main" id="{55358E49-26C8-740B-D16E-DE51ED98B4D9}"/>
              </a:ext>
            </a:extLst>
          </p:cNvPr>
          <p:cNvSpPr txBox="1"/>
          <p:nvPr/>
        </p:nvSpPr>
        <p:spPr>
          <a:xfrm>
            <a:off x="-2987977" y="1545405"/>
            <a:ext cx="2031293" cy="261610"/>
          </a:xfrm>
          <a:prstGeom prst="rect">
            <a:avLst/>
          </a:prstGeom>
          <a:noFill/>
        </p:spPr>
        <p:txBody>
          <a:bodyPr wrap="square" rtlCol="0">
            <a:spAutoFit/>
          </a:bodyPr>
          <a:lstStyle/>
          <a:p>
            <a:r>
              <a:rPr lang="fi-FI" sz="1100"/>
              <a:t>Saving </a:t>
            </a:r>
            <a:r>
              <a:rPr lang="fi-FI" sz="1100" err="1"/>
              <a:t>to local storage</a:t>
            </a:r>
            <a:endParaRPr lang="en-US" sz="1100"/>
          </a:p>
        </p:txBody>
      </p:sp>
      <p:sp>
        <p:nvSpPr>
          <p:cNvPr id="1061" name="TextBox 1060">
            <a:extLst>
              <a:ext uri="{FF2B5EF4-FFF2-40B4-BE49-F238E27FC236}">
                <a16:creationId xmlns:a16="http://schemas.microsoft.com/office/drawing/2014/main" id="{F47D7DED-5FED-FB26-A7A0-534188E2141E}"/>
              </a:ext>
            </a:extLst>
          </p:cNvPr>
          <p:cNvSpPr txBox="1"/>
          <p:nvPr/>
        </p:nvSpPr>
        <p:spPr>
          <a:xfrm>
            <a:off x="12475930" y="4577437"/>
            <a:ext cx="3175000" cy="646331"/>
          </a:xfrm>
          <a:prstGeom prst="rect">
            <a:avLst/>
          </a:prstGeom>
          <a:noFill/>
        </p:spPr>
        <p:txBody>
          <a:bodyPr wrap="square" rtlCol="0">
            <a:spAutoFit/>
          </a:bodyPr>
          <a:lstStyle/>
          <a:p>
            <a:r>
              <a:rPr lang="fi-FI"/>
              <a:t>TODO:</a:t>
            </a:r>
          </a:p>
          <a:p>
            <a:r>
              <a:rPr lang="fi-FI"/>
              <a:t>-store texts </a:t>
            </a:r>
            <a:r>
              <a:rPr lang="fi-FI" err="1"/>
              <a:t>in database</a:t>
            </a:r>
            <a:endParaRPr lang="en-US"/>
          </a:p>
        </p:txBody>
      </p:sp>
      <p:sp>
        <p:nvSpPr>
          <p:cNvPr id="1062" name="Rectangle 1061">
            <a:extLst>
              <a:ext uri="{FF2B5EF4-FFF2-40B4-BE49-F238E27FC236}">
                <a16:creationId xmlns:a16="http://schemas.microsoft.com/office/drawing/2014/main" id="{B2CC0826-6805-332A-C714-305B8CA3F095}"/>
              </a:ext>
            </a:extLst>
          </p:cNvPr>
          <p:cNvSpPr/>
          <p:nvPr/>
        </p:nvSpPr>
        <p:spPr>
          <a:xfrm>
            <a:off x="4191469" y="1507490"/>
            <a:ext cx="234950" cy="2109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3" name="Rectangle 1062">
            <a:extLst>
              <a:ext uri="{FF2B5EF4-FFF2-40B4-BE49-F238E27FC236}">
                <a16:creationId xmlns:a16="http://schemas.microsoft.com/office/drawing/2014/main" id="{7A3EE914-73D8-FEDB-C6D4-5F68D195A338}"/>
              </a:ext>
            </a:extLst>
          </p:cNvPr>
          <p:cNvSpPr/>
          <p:nvPr/>
        </p:nvSpPr>
        <p:spPr>
          <a:xfrm>
            <a:off x="4191469" y="1885511"/>
            <a:ext cx="234950" cy="2109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4" name="Rectangle 1063">
            <a:extLst>
              <a:ext uri="{FF2B5EF4-FFF2-40B4-BE49-F238E27FC236}">
                <a16:creationId xmlns:a16="http://schemas.microsoft.com/office/drawing/2014/main" id="{546E4196-110A-BD10-F82D-4118B1BB11B1}"/>
              </a:ext>
            </a:extLst>
          </p:cNvPr>
          <p:cNvSpPr/>
          <p:nvPr/>
        </p:nvSpPr>
        <p:spPr>
          <a:xfrm>
            <a:off x="4191469" y="2286644"/>
            <a:ext cx="234950" cy="2109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5" name="Rectangle 1064">
            <a:extLst>
              <a:ext uri="{FF2B5EF4-FFF2-40B4-BE49-F238E27FC236}">
                <a16:creationId xmlns:a16="http://schemas.microsoft.com/office/drawing/2014/main" id="{379B6C27-94B1-3733-F0CF-597A13C34E89}"/>
              </a:ext>
            </a:extLst>
          </p:cNvPr>
          <p:cNvSpPr/>
          <p:nvPr/>
        </p:nvSpPr>
        <p:spPr>
          <a:xfrm>
            <a:off x="4191469" y="2696291"/>
            <a:ext cx="234950" cy="21095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49100454"/>
      </p:ext>
    </p:extLst>
  </p:cSld>
  <p:clrMapOvr>
    <a:masterClrMapping/>
  </p:clrMapOvr>
</p:sld>
</file>

<file path=ppt/slides/slide7.xml><?xml version="1.0" encoding="utf-8"?>
<p:sld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2EDE17D7-DB66-2D7B-58A4-B16FBDEDAFDB}"/>
              </a:ext>
            </a:extLst>
          </p:cNvPr>
          <p:cNvSpPr/>
          <p:nvPr/>
        </p:nvSpPr>
        <p:spPr>
          <a:xfrm>
            <a:off x="0" y="1"/>
            <a:ext cx="12192000" cy="6857999"/>
          </a:xfrm>
          <a:prstGeom prst="rect">
            <a:avLst/>
          </a:prstGeom>
          <a:solidFill>
            <a:srgbClr val="F9FA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 name="Picture 9">
            <a:extLst>
              <a:ext uri="{FF2B5EF4-FFF2-40B4-BE49-F238E27FC236}">
                <a16:creationId xmlns:a16="http://schemas.microsoft.com/office/drawing/2014/main" id="{FA25A39A-8CFC-CD07-CB32-85562CE56EDD}"/>
              </a:ext>
            </a:extLst>
          </p:cNvPr>
          <p:cNvPicPr>
            <a:picLocks noChangeAspect="1"/>
          </p:cNvPicPr>
          <p:nvPr/>
        </p:nvPicPr>
        <p:blipFill>
          <a:blip r:embed="rId2"/>
          <a:srcRect l="6298" r="7950" b="2840"/>
          <a:stretch/>
        </p:blipFill>
        <p:spPr>
          <a:xfrm>
            <a:off x="0" y="1289050"/>
            <a:ext cx="12192000" cy="5568949"/>
          </a:xfrm>
          <a:prstGeom prst="rect">
            <a:avLst/>
          </a:prstGeom>
        </p:spPr>
      </p:pic>
      <p:pic>
        <p:nvPicPr>
          <p:cNvPr id="11" name="Picture 10">
            <a:extLst>
              <a:ext uri="{FF2B5EF4-FFF2-40B4-BE49-F238E27FC236}">
                <a16:creationId xmlns:a16="http://schemas.microsoft.com/office/drawing/2014/main" id="{CA99E17F-6880-837C-9B5D-1883377B4EFE}"/>
              </a:ext>
            </a:extLst>
          </p:cNvPr>
          <p:cNvPicPr>
            <a:picLocks noChangeAspect="1"/>
          </p:cNvPicPr>
          <p:nvPr/>
        </p:nvPicPr>
        <p:blipFill>
          <a:blip r:embed="rId3"/>
          <a:srcRect l="1485" t="35123" r="86015" b="44033"/>
          <a:stretch/>
        </p:blipFill>
        <p:spPr>
          <a:xfrm>
            <a:off x="143263" y="850900"/>
            <a:ext cx="1628387" cy="495300"/>
          </a:xfrm>
          <a:prstGeom prst="rect">
            <a:avLst/>
          </a:prstGeom>
        </p:spPr>
      </p:pic>
      <p:grpSp>
        <p:nvGrpSpPr>
          <p:cNvPr id="16" name="Group 15">
            <a:extLst>
              <a:ext uri="{FF2B5EF4-FFF2-40B4-BE49-F238E27FC236}">
                <a16:creationId xmlns:a16="http://schemas.microsoft.com/office/drawing/2014/main" id="{0A64C970-7311-F725-6B9D-6AA4583DD1F8}"/>
              </a:ext>
            </a:extLst>
          </p:cNvPr>
          <p:cNvGrpSpPr/>
          <p:nvPr/>
        </p:nvGrpSpPr>
        <p:grpSpPr>
          <a:xfrm>
            <a:off x="0" y="0"/>
            <a:ext cx="12192000" cy="789318"/>
            <a:chOff x="0" y="0"/>
            <a:chExt cx="12192000" cy="789318"/>
          </a:xfrm>
        </p:grpSpPr>
        <p:pic>
          <p:nvPicPr>
            <p:cNvPr id="3" name="Picture 2">
              <a:extLst>
                <a:ext uri="{FF2B5EF4-FFF2-40B4-BE49-F238E27FC236}">
                  <a16:creationId xmlns:a16="http://schemas.microsoft.com/office/drawing/2014/main" id="{CD31CCC3-D3FB-31C9-89DB-4B3E9608931A}"/>
                </a:ext>
              </a:extLst>
            </p:cNvPr>
            <p:cNvPicPr>
              <a:picLocks noChangeAspect="1"/>
            </p:cNvPicPr>
            <p:nvPr/>
          </p:nvPicPr>
          <p:blipFill>
            <a:blip r:embed="rId3"/>
            <a:srcRect t="-1" r="79010" b="65735"/>
            <a:stretch/>
          </p:blipFill>
          <p:spPr>
            <a:xfrm>
              <a:off x="0" y="1"/>
              <a:ext cx="2559050" cy="761999"/>
            </a:xfrm>
            <a:prstGeom prst="rect">
              <a:avLst/>
            </a:prstGeom>
          </p:spPr>
        </p:pic>
        <p:pic>
          <p:nvPicPr>
            <p:cNvPr id="13" name="Picture 12">
              <a:extLst>
                <a:ext uri="{FF2B5EF4-FFF2-40B4-BE49-F238E27FC236}">
                  <a16:creationId xmlns:a16="http://schemas.microsoft.com/office/drawing/2014/main" id="{9D6C3988-BF31-A956-9AEB-924114C02377}"/>
                </a:ext>
              </a:extLst>
            </p:cNvPr>
            <p:cNvPicPr>
              <a:picLocks noChangeAspect="1"/>
            </p:cNvPicPr>
            <p:nvPr/>
          </p:nvPicPr>
          <p:blipFill>
            <a:blip r:embed="rId3"/>
            <a:srcRect l="20937" r="10938" b="64506"/>
            <a:stretch/>
          </p:blipFill>
          <p:spPr>
            <a:xfrm>
              <a:off x="3886200" y="0"/>
              <a:ext cx="8305800" cy="789318"/>
            </a:xfrm>
            <a:prstGeom prst="rect">
              <a:avLst/>
            </a:prstGeom>
          </p:spPr>
        </p:pic>
        <p:sp>
          <p:nvSpPr>
            <p:cNvPr id="15" name="TextBox 14">
              <a:extLst>
                <a:ext uri="{FF2B5EF4-FFF2-40B4-BE49-F238E27FC236}">
                  <a16:creationId xmlns:a16="http://schemas.microsoft.com/office/drawing/2014/main" id="{C4E62A47-AE04-EC85-3764-AA02AC716BD3}"/>
                </a:ext>
              </a:extLst>
            </p:cNvPr>
            <p:cNvSpPr txBox="1"/>
            <p:nvPr/>
          </p:nvSpPr>
          <p:spPr>
            <a:xfrm>
              <a:off x="2476191" y="236150"/>
              <a:ext cx="1482493" cy="269304"/>
            </a:xfrm>
            <a:prstGeom prst="rect">
              <a:avLst/>
            </a:prstGeom>
            <a:noFill/>
          </p:spPr>
          <p:txBody>
            <a:bodyPr wrap="square" rtlCol="0">
              <a:spAutoFit/>
            </a:bodyPr>
            <a:lstStyle/>
            <a:p>
              <a:r>
                <a:rPr lang="fi-FI" sz="1150" b="1">
                  <a:solidFill>
                    <a:srgbClr val="5965FF"/>
                  </a:solidFill>
                </a:rPr>
                <a:t>Translate new text</a:t>
              </a:r>
              <a:endParaRPr lang="en-US" sz="1150" b="1">
                <a:solidFill>
                  <a:srgbClr val="5965FF"/>
                </a:solidFill>
              </a:endParaRPr>
            </a:p>
          </p:txBody>
        </p:sp>
      </p:grpSp>
      <p:sp>
        <p:nvSpPr>
          <p:cNvPr id="17" name="TextBox 16">
            <a:extLst>
              <a:ext uri="{FF2B5EF4-FFF2-40B4-BE49-F238E27FC236}">
                <a16:creationId xmlns:a16="http://schemas.microsoft.com/office/drawing/2014/main" id="{BC5DBD73-F442-D1D2-BDEE-A2D1A21F1C68}"/>
              </a:ext>
            </a:extLst>
          </p:cNvPr>
          <p:cNvSpPr txBox="1"/>
          <p:nvPr/>
        </p:nvSpPr>
        <p:spPr>
          <a:xfrm>
            <a:off x="8829675" y="235321"/>
            <a:ext cx="4025900" cy="369332"/>
          </a:xfrm>
          <a:prstGeom prst="rect">
            <a:avLst/>
          </a:prstGeom>
          <a:noFill/>
        </p:spPr>
        <p:txBody>
          <a:bodyPr wrap="square" rtlCol="0">
            <a:spAutoFit/>
          </a:bodyPr>
          <a:lstStyle/>
          <a:p>
            <a:pPr algn="ctr"/>
            <a:r>
              <a:rPr lang="fi-FI"/>
              <a:t>New </a:t>
            </a:r>
            <a:r>
              <a:rPr lang="fi-FI" err="1"/>
              <a:t>translation-page</a:t>
            </a:r>
            <a:endParaRPr lang="en-US"/>
          </a:p>
        </p:txBody>
      </p:sp>
      <p:sp>
        <p:nvSpPr>
          <p:cNvPr id="19" name="TextBox 18">
            <a:extLst>
              <a:ext uri="{FF2B5EF4-FFF2-40B4-BE49-F238E27FC236}">
                <a16:creationId xmlns:a16="http://schemas.microsoft.com/office/drawing/2014/main" id="{4E8D9E8B-B2B3-0824-AF0F-D576C2611D6D}"/>
              </a:ext>
            </a:extLst>
          </p:cNvPr>
          <p:cNvSpPr txBox="1"/>
          <p:nvPr/>
        </p:nvSpPr>
        <p:spPr>
          <a:xfrm>
            <a:off x="-3682961" y="370802"/>
            <a:ext cx="3682961" cy="3139321"/>
          </a:xfrm>
          <a:prstGeom prst="rect">
            <a:avLst/>
          </a:prstGeom>
          <a:noFill/>
        </p:spPr>
        <p:txBody>
          <a:bodyPr wrap="square" rtlCol="0">
            <a:spAutoFit/>
          </a:bodyPr>
          <a:lstStyle/>
          <a:p>
            <a:r>
              <a:rPr lang="fi-FI" err="1">
                <a:sym typeface="Wingdings" panose="05000000000000000000" pitchFamily="2" charset="2"/>
              </a:rPr>
              <a:t>Translate.route</a:t>
            </a:r>
            <a:r>
              <a:rPr lang="fi-FI">
                <a:sym typeface="Wingdings" panose="05000000000000000000" pitchFamily="2" charset="2"/>
              </a:rPr>
              <a:t>:</a:t>
            </a:r>
          </a:p>
          <a:p>
            <a:r>
              <a:rPr lang="fi-FI" err="1">
                <a:sym typeface="Wingdings" panose="05000000000000000000" pitchFamily="2" charset="2"/>
              </a:rPr>
              <a:t>createFileRoute </a:t>
            </a:r>
            <a:r>
              <a:rPr lang="fi-FI">
                <a:sym typeface="Wingdings" panose="05000000000000000000" pitchFamily="2" charset="2"/>
              </a:rPr>
              <a:t>(</a:t>
            </a:r>
            <a:r>
              <a:rPr lang="fi-FI" err="1">
                <a:sym typeface="Wingdings" panose="05000000000000000000" pitchFamily="2" charset="2"/>
              </a:rPr>
              <a:t>/translate</a:t>
            </a:r>
            <a:r>
              <a:rPr lang="fi-FI">
                <a:sym typeface="Wingdings" panose="05000000000000000000" pitchFamily="2" charset="2"/>
              </a:rPr>
              <a:t>)</a:t>
            </a:r>
          </a:p>
          <a:p>
            <a:endParaRPr lang="fi-FI">
              <a:sym typeface="Wingdings" panose="05000000000000000000" pitchFamily="2" charset="2"/>
            </a:endParaRPr>
          </a:p>
          <a:p>
            <a:r>
              <a:rPr lang="fi-FI">
                <a:sym typeface="Wingdings" panose="05000000000000000000" pitchFamily="2" charset="2"/>
              </a:rPr>
              <a:t>Translate.</a:t>
            </a:r>
            <a:r>
              <a:rPr lang="fi-FI" err="1">
                <a:sym typeface="Wingdings" panose="05000000000000000000" pitchFamily="2" charset="2"/>
              </a:rPr>
              <a:t>$docId</a:t>
            </a:r>
            <a:r>
              <a:rPr lang="fi-FI">
                <a:sym typeface="Wingdings" panose="05000000000000000000" pitchFamily="2" charset="2"/>
              </a:rPr>
              <a:t>:</a:t>
            </a:r>
          </a:p>
          <a:p>
            <a:r>
              <a:rPr lang="fi-FI" err="1">
                <a:sym typeface="Wingdings" panose="05000000000000000000" pitchFamily="2" charset="2"/>
              </a:rPr>
              <a:t>createFileRoute </a:t>
            </a:r>
            <a:r>
              <a:rPr lang="fi-FI">
                <a:sym typeface="Wingdings" panose="05000000000000000000" pitchFamily="2" charset="2"/>
              </a:rPr>
              <a:t>(</a:t>
            </a:r>
            <a:r>
              <a:rPr lang="fi-FI" err="1">
                <a:sym typeface="Wingdings" panose="05000000000000000000" pitchFamily="2" charset="2"/>
              </a:rPr>
              <a:t>/translate/$docId</a:t>
            </a:r>
            <a:r>
              <a:rPr lang="fi-FI">
                <a:sym typeface="Wingdings" panose="05000000000000000000" pitchFamily="2" charset="2"/>
              </a:rPr>
              <a:t>)</a:t>
            </a:r>
          </a:p>
          <a:p>
            <a:endParaRPr lang="fi-FI">
              <a:sym typeface="Wingdings" panose="05000000000000000000" pitchFamily="2" charset="2"/>
            </a:endParaRPr>
          </a:p>
          <a:p>
            <a:r>
              <a:rPr lang="fi-FI" err="1">
                <a:sym typeface="Wingdings" panose="05000000000000000000" pitchFamily="2" charset="2"/>
              </a:rPr>
              <a:t>Translate.index</a:t>
            </a:r>
            <a:r>
              <a:rPr lang="fi-FI">
                <a:sym typeface="Wingdings" panose="05000000000000000000" pitchFamily="2" charset="2"/>
              </a:rPr>
              <a:t>:</a:t>
            </a:r>
          </a:p>
          <a:p>
            <a:r>
              <a:rPr lang="fi-FI" err="1">
                <a:sym typeface="Wingdings" panose="05000000000000000000" pitchFamily="2" charset="2"/>
              </a:rPr>
              <a:t>createFileRoute </a:t>
            </a:r>
            <a:r>
              <a:rPr lang="fi-FI">
                <a:sym typeface="Wingdings" panose="05000000000000000000" pitchFamily="2" charset="2"/>
              </a:rPr>
              <a:t>(</a:t>
            </a:r>
            <a:r>
              <a:rPr lang="fi-FI" err="1">
                <a:sym typeface="Wingdings" panose="05000000000000000000" pitchFamily="2" charset="2"/>
              </a:rPr>
              <a:t>/translate/</a:t>
            </a:r>
            <a:r>
              <a:rPr lang="fi-FI">
                <a:sym typeface="Wingdings" panose="05000000000000000000" pitchFamily="2" charset="2"/>
              </a:rPr>
              <a:t>)</a:t>
            </a:r>
          </a:p>
          <a:p>
            <a:r>
              <a:rPr lang="fi-FI">
                <a:sym typeface="Wingdings" panose="05000000000000000000" pitchFamily="2" charset="2"/>
              </a:rPr>
              <a:t>*shows New </a:t>
            </a:r>
            <a:r>
              <a:rPr lang="fi-FI" err="1">
                <a:sym typeface="Wingdings" panose="05000000000000000000" pitchFamily="2" charset="2"/>
              </a:rPr>
              <a:t>translation-form</a:t>
            </a:r>
            <a:endParaRPr lang="fi-FI">
              <a:sym typeface="Wingdings" panose="05000000000000000000" pitchFamily="2" charset="2"/>
            </a:endParaRPr>
          </a:p>
          <a:p>
            <a:endParaRPr lang="fi-FI">
              <a:sym typeface="Wingdings" panose="05000000000000000000" pitchFamily="2" charset="2"/>
            </a:endParaRPr>
          </a:p>
          <a:p>
            <a:endParaRPr lang="en-US"/>
          </a:p>
        </p:txBody>
      </p:sp>
      <p:sp>
        <p:nvSpPr>
          <p:cNvPr id="20" name="TextBox 19">
            <a:extLst>
              <a:ext uri="{FF2B5EF4-FFF2-40B4-BE49-F238E27FC236}">
                <a16:creationId xmlns:a16="http://schemas.microsoft.com/office/drawing/2014/main" id="{5D2E51A1-74AE-A063-BA58-258D11C8020E}"/>
              </a:ext>
            </a:extLst>
          </p:cNvPr>
          <p:cNvSpPr txBox="1"/>
          <p:nvPr/>
        </p:nvSpPr>
        <p:spPr>
          <a:xfrm>
            <a:off x="-3682962" y="3347877"/>
            <a:ext cx="3682961" cy="1477328"/>
          </a:xfrm>
          <a:prstGeom prst="rect">
            <a:avLst/>
          </a:prstGeom>
          <a:noFill/>
        </p:spPr>
        <p:txBody>
          <a:bodyPr wrap="square" rtlCol="0">
            <a:spAutoFit/>
          </a:bodyPr>
          <a:lstStyle/>
          <a:p>
            <a:r>
              <a:rPr lang="fi-FI">
                <a:sym typeface="Wingdings" panose="05000000000000000000" pitchFamily="2" charset="2"/>
              </a:rPr>
              <a:t>Change </a:t>
            </a:r>
            <a:r>
              <a:rPr lang="fi-FI" err="1">
                <a:sym typeface="Wingdings" panose="05000000000000000000" pitchFamily="2" charset="2"/>
              </a:rPr>
              <a:t>translation.route.tsx </a:t>
            </a:r>
            <a:r>
              <a:rPr lang="fi-FI">
                <a:sym typeface="Wingdings" panose="05000000000000000000" pitchFamily="2" charset="2"/>
              </a:rPr>
              <a:t>to  </a:t>
            </a:r>
            <a:r>
              <a:rPr lang="fi-FI" err="1">
                <a:sym typeface="Wingdings" panose="05000000000000000000" pitchFamily="2" charset="2"/>
              </a:rPr>
              <a:t>translations.tsx </a:t>
            </a:r>
            <a:r>
              <a:rPr lang="fi-FI" err="1">
                <a:sym typeface="Wingdings" panose="05000000000000000000" pitchFamily="2" charset="2"/>
              </a:rPr>
              <a:t>sec</a:t>
            </a:r>
            <a:endParaRPr lang="fi-FI">
              <a:sym typeface="Wingdings" panose="05000000000000000000" pitchFamily="2" charset="2"/>
            </a:endParaRPr>
          </a:p>
          <a:p>
            <a:r>
              <a:rPr lang="en-US" err="1"/>
              <a:t>createFileRoute</a:t>
            </a:r>
            <a:r>
              <a:rPr lang="en-US"/>
              <a:t>(/translations)</a:t>
            </a:r>
          </a:p>
          <a:p>
            <a:endParaRPr lang="fi-FI">
              <a:sym typeface="Wingdings" panose="05000000000000000000" pitchFamily="2" charset="2"/>
            </a:endParaRPr>
          </a:p>
          <a:p>
            <a:endParaRPr lang="en-US"/>
          </a:p>
        </p:txBody>
      </p:sp>
    </p:spTree>
    <p:extLst>
      <p:ext uri="{BB962C8B-B14F-4D97-AF65-F5344CB8AC3E}">
        <p14:creationId xmlns:p14="http://schemas.microsoft.com/office/powerpoint/2010/main" val="2695984841"/>
      </p:ext>
    </p:extLst>
  </p:cSld>
  <p:clrMapOvr>
    <a:masterClrMapping/>
  </p:clrMapOvr>
</p:sld>
</file>

<file path=ppt/slides/slide8.xml><?xml version="1.0" encoding="utf-8"?>
<p:sld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563D5BB5-1E56-E5DF-63D3-E022B2636795}"/>
              </a:ext>
            </a:extLst>
          </p:cNvPr>
          <p:cNvSpPr/>
          <p:nvPr/>
        </p:nvSpPr>
        <p:spPr>
          <a:xfrm>
            <a:off x="0" y="6351"/>
            <a:ext cx="12192000" cy="6857999"/>
          </a:xfrm>
          <a:prstGeom prst="rect">
            <a:avLst/>
          </a:prstGeom>
          <a:solidFill>
            <a:srgbClr val="F9FA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09F4D58A-F7E7-441E-D1EB-20D21A42F761}"/>
              </a:ext>
            </a:extLst>
          </p:cNvPr>
          <p:cNvPicPr>
            <a:picLocks noChangeAspect="1"/>
          </p:cNvPicPr>
          <p:nvPr/>
        </p:nvPicPr>
        <p:blipFill>
          <a:blip r:embed="rId2"/>
          <a:srcRect t="56311" b="26041"/>
          <a:stretch/>
        </p:blipFill>
        <p:spPr>
          <a:xfrm>
            <a:off x="0" y="1999930"/>
            <a:ext cx="12192000" cy="392421"/>
          </a:xfrm>
          <a:prstGeom prst="rect">
            <a:avLst/>
          </a:prstGeom>
        </p:spPr>
      </p:pic>
      <p:pic>
        <p:nvPicPr>
          <p:cNvPr id="9" name="Picture 8">
            <a:extLst>
              <a:ext uri="{FF2B5EF4-FFF2-40B4-BE49-F238E27FC236}">
                <a16:creationId xmlns:a16="http://schemas.microsoft.com/office/drawing/2014/main" id="{410D4545-10F7-719D-D0BB-789657961AB3}"/>
              </a:ext>
            </a:extLst>
          </p:cNvPr>
          <p:cNvPicPr>
            <a:picLocks noChangeAspect="1"/>
          </p:cNvPicPr>
          <p:nvPr/>
        </p:nvPicPr>
        <p:blipFill>
          <a:blip r:embed="rId2"/>
          <a:srcRect t="36551" b="6340"/>
          <a:stretch/>
        </p:blipFill>
        <p:spPr>
          <a:xfrm>
            <a:off x="0" y="793430"/>
            <a:ext cx="12192000" cy="1270000"/>
          </a:xfrm>
          <a:prstGeom prst="rect">
            <a:avLst/>
          </a:prstGeom>
        </p:spPr>
      </p:pic>
      <p:sp>
        <p:nvSpPr>
          <p:cNvPr id="10" name="TextBox 9">
            <a:extLst>
              <a:ext uri="{FF2B5EF4-FFF2-40B4-BE49-F238E27FC236}">
                <a16:creationId xmlns:a16="http://schemas.microsoft.com/office/drawing/2014/main" id="{A6681C71-2215-4379-3190-BAFFD9A0297B}"/>
              </a:ext>
            </a:extLst>
          </p:cNvPr>
          <p:cNvSpPr txBox="1"/>
          <p:nvPr/>
        </p:nvSpPr>
        <p:spPr>
          <a:xfrm>
            <a:off x="-2936876" y="922712"/>
            <a:ext cx="2625726" cy="1077218"/>
          </a:xfrm>
          <a:prstGeom prst="rect">
            <a:avLst/>
          </a:prstGeom>
          <a:noFill/>
        </p:spPr>
        <p:txBody>
          <a:bodyPr wrap="square" rtlCol="0">
            <a:spAutoFit/>
          </a:bodyPr>
          <a:lstStyle/>
          <a:p>
            <a:r>
              <a:rPr lang="fi-FI" sz="1600"/>
              <a:t>Displays all translations in a scrollable grid (scrollable when there are more than 3 lines = 35 </a:t>
            </a:r>
            <a:r>
              <a:rPr lang="fi-FI" sz="1600" err="1"/>
              <a:t>px</a:t>
            </a:r>
            <a:r>
              <a:rPr lang="fi-FI" sz="1600"/>
              <a:t>)</a:t>
            </a:r>
            <a:endParaRPr lang="en-US" sz="1600"/>
          </a:p>
        </p:txBody>
      </p:sp>
      <p:sp>
        <p:nvSpPr>
          <p:cNvPr id="12" name="Rectangle 11">
            <a:extLst>
              <a:ext uri="{FF2B5EF4-FFF2-40B4-BE49-F238E27FC236}">
                <a16:creationId xmlns:a16="http://schemas.microsoft.com/office/drawing/2014/main" id="{113E1A48-DD36-9A96-F1E6-24865375CD71}"/>
              </a:ext>
            </a:extLst>
          </p:cNvPr>
          <p:cNvSpPr/>
          <p:nvPr/>
        </p:nvSpPr>
        <p:spPr>
          <a:xfrm>
            <a:off x="711200" y="3216570"/>
            <a:ext cx="1390650" cy="317499"/>
          </a:xfrm>
          <a:prstGeom prst="rect">
            <a:avLst/>
          </a:prstGeom>
          <a:solidFill>
            <a:srgbClr val="0E425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200"/>
              <a:t>Choose group</a:t>
            </a:r>
            <a:endParaRPr lang="en-US" sz="1200"/>
          </a:p>
        </p:txBody>
      </p:sp>
      <p:grpSp>
        <p:nvGrpSpPr>
          <p:cNvPr id="14" name="Group 13">
            <a:extLst>
              <a:ext uri="{FF2B5EF4-FFF2-40B4-BE49-F238E27FC236}">
                <a16:creationId xmlns:a16="http://schemas.microsoft.com/office/drawing/2014/main" id="{189CA68E-960A-A637-3816-D74B6A9B4A2E}"/>
              </a:ext>
            </a:extLst>
          </p:cNvPr>
          <p:cNvGrpSpPr/>
          <p:nvPr/>
        </p:nvGrpSpPr>
        <p:grpSpPr>
          <a:xfrm>
            <a:off x="0" y="0"/>
            <a:ext cx="12192000" cy="789318"/>
            <a:chOff x="0" y="0"/>
            <a:chExt cx="12192000" cy="789318"/>
          </a:xfrm>
        </p:grpSpPr>
        <p:pic>
          <p:nvPicPr>
            <p:cNvPr id="15" name="Picture 14">
              <a:extLst>
                <a:ext uri="{FF2B5EF4-FFF2-40B4-BE49-F238E27FC236}">
                  <a16:creationId xmlns:a16="http://schemas.microsoft.com/office/drawing/2014/main" id="{AEC13448-F4CF-3A7F-B8C4-80D39BF496D3}"/>
                </a:ext>
              </a:extLst>
            </p:cNvPr>
            <p:cNvPicPr>
              <a:picLocks noChangeAspect="1"/>
            </p:cNvPicPr>
            <p:nvPr/>
          </p:nvPicPr>
          <p:blipFill>
            <a:blip r:embed="rId2"/>
            <a:srcRect t="-1" r="79010" b="65735"/>
            <a:stretch/>
          </p:blipFill>
          <p:spPr>
            <a:xfrm>
              <a:off x="0" y="1"/>
              <a:ext cx="2559050" cy="761999"/>
            </a:xfrm>
            <a:prstGeom prst="rect">
              <a:avLst/>
            </a:prstGeom>
          </p:spPr>
        </p:pic>
        <p:pic>
          <p:nvPicPr>
            <p:cNvPr id="16" name="Picture 15">
              <a:extLst>
                <a:ext uri="{FF2B5EF4-FFF2-40B4-BE49-F238E27FC236}">
                  <a16:creationId xmlns:a16="http://schemas.microsoft.com/office/drawing/2014/main" id="{ABCB2A9F-3A54-1849-4FE6-38B278F7B925}"/>
                </a:ext>
              </a:extLst>
            </p:cNvPr>
            <p:cNvPicPr>
              <a:picLocks noChangeAspect="1"/>
            </p:cNvPicPr>
            <p:nvPr/>
          </p:nvPicPr>
          <p:blipFill>
            <a:blip r:embed="rId2"/>
            <a:srcRect l="20937" r="10938" b="64506"/>
            <a:stretch/>
          </p:blipFill>
          <p:spPr>
            <a:xfrm>
              <a:off x="3886200" y="0"/>
              <a:ext cx="8305800" cy="789318"/>
            </a:xfrm>
            <a:prstGeom prst="rect">
              <a:avLst/>
            </a:prstGeom>
          </p:spPr>
        </p:pic>
      </p:grpSp>
      <p:sp>
        <p:nvSpPr>
          <p:cNvPr id="19" name="Rectangle 18">
            <a:extLst>
              <a:ext uri="{FF2B5EF4-FFF2-40B4-BE49-F238E27FC236}">
                <a16:creationId xmlns:a16="http://schemas.microsoft.com/office/drawing/2014/main" id="{DBBABF37-10E5-B39E-776D-DAE6B1523761}"/>
              </a:ext>
            </a:extLst>
          </p:cNvPr>
          <p:cNvSpPr/>
          <p:nvPr/>
        </p:nvSpPr>
        <p:spPr>
          <a:xfrm>
            <a:off x="711200" y="3554401"/>
            <a:ext cx="2305050" cy="1645114"/>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09ACB278-DCFC-8384-2956-661C4387F03D}"/>
              </a:ext>
            </a:extLst>
          </p:cNvPr>
          <p:cNvSpPr txBox="1"/>
          <p:nvPr/>
        </p:nvSpPr>
        <p:spPr>
          <a:xfrm>
            <a:off x="793750" y="3632592"/>
            <a:ext cx="1993900" cy="1450654"/>
          </a:xfrm>
          <a:prstGeom prst="rect">
            <a:avLst/>
          </a:prstGeom>
          <a:noFill/>
        </p:spPr>
        <p:txBody>
          <a:bodyPr wrap="square" rtlCol="0">
            <a:spAutoFit/>
          </a:bodyPr>
          <a:lstStyle/>
          <a:p>
            <a:pPr>
              <a:lnSpc>
                <a:spcPct val="150000"/>
              </a:lnSpc>
            </a:pPr>
            <a:r>
              <a:rPr lang="fi-FI" sz="1200" b="1"/>
              <a:t>Create new group</a:t>
            </a:r>
          </a:p>
          <a:p>
            <a:pPr>
              <a:lnSpc>
                <a:spcPct val="150000"/>
              </a:lnSpc>
            </a:pPr>
            <a:r>
              <a:rPr lang="fi-FI" sz="1200"/>
              <a:t>All</a:t>
            </a:r>
          </a:p>
          <a:p>
            <a:pPr>
              <a:lnSpc>
                <a:spcPct val="150000"/>
              </a:lnSpc>
            </a:pPr>
            <a:r>
              <a:rPr lang="fi-FI" sz="1200"/>
              <a:t>OOJ</a:t>
            </a:r>
          </a:p>
          <a:p>
            <a:pPr>
              <a:lnSpc>
                <a:spcPct val="150000"/>
              </a:lnSpc>
            </a:pPr>
            <a:r>
              <a:rPr lang="fi-FI" sz="1200" err="1">
                <a:solidFill>
                  <a:schemeClr val="accent4">
                    <a:lumMod val="75000"/>
                  </a:schemeClr>
                </a:solidFill>
              </a:rPr>
              <a:t>Animal</a:t>
            </a:r>
            <a:endParaRPr lang="fi-FI" sz="1200">
              <a:solidFill>
                <a:schemeClr val="accent4">
                  <a:lumMod val="75000"/>
                </a:schemeClr>
              </a:solidFill>
            </a:endParaRPr>
          </a:p>
          <a:p>
            <a:pPr>
              <a:lnSpc>
                <a:spcPct val="150000"/>
              </a:lnSpc>
            </a:pPr>
            <a:r>
              <a:rPr lang="fi-FI" sz="1200"/>
              <a:t>PDF</a:t>
            </a:r>
            <a:endParaRPr lang="en-US" sz="1200"/>
          </a:p>
        </p:txBody>
      </p:sp>
      <p:pic>
        <p:nvPicPr>
          <p:cNvPr id="2" name="Picture 1">
            <a:extLst>
              <a:ext uri="{FF2B5EF4-FFF2-40B4-BE49-F238E27FC236}">
                <a16:creationId xmlns:a16="http://schemas.microsoft.com/office/drawing/2014/main" id="{51C7F182-AA1C-788C-8EE2-F9DAC7007E58}"/>
              </a:ext>
            </a:extLst>
          </p:cNvPr>
          <p:cNvPicPr>
            <a:picLocks noChangeAspect="1"/>
          </p:cNvPicPr>
          <p:nvPr/>
        </p:nvPicPr>
        <p:blipFill>
          <a:blip r:embed="rId2"/>
          <a:srcRect t="56311" b="26041"/>
          <a:stretch/>
        </p:blipFill>
        <p:spPr>
          <a:xfrm>
            <a:off x="6350" y="2400321"/>
            <a:ext cx="12192000" cy="392421"/>
          </a:xfrm>
          <a:prstGeom prst="rect">
            <a:avLst/>
          </a:prstGeom>
        </p:spPr>
      </p:pic>
      <p:sp>
        <p:nvSpPr>
          <p:cNvPr id="11" name="Rectangle 10">
            <a:extLst>
              <a:ext uri="{FF2B5EF4-FFF2-40B4-BE49-F238E27FC236}">
                <a16:creationId xmlns:a16="http://schemas.microsoft.com/office/drawing/2014/main" id="{290C2ADF-C94C-B634-75D5-54BE2396AE98}"/>
              </a:ext>
            </a:extLst>
          </p:cNvPr>
          <p:cNvSpPr/>
          <p:nvPr/>
        </p:nvSpPr>
        <p:spPr>
          <a:xfrm>
            <a:off x="11969750" y="863600"/>
            <a:ext cx="82550" cy="1866900"/>
          </a:xfrm>
          <a:prstGeom prst="rect">
            <a:avLst/>
          </a:prstGeom>
          <a:solidFill>
            <a:schemeClr val="bg1">
              <a:lumMod val="6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C950C523-F975-7D93-49E5-D717D97DA8D1}"/>
              </a:ext>
            </a:extLst>
          </p:cNvPr>
          <p:cNvSpPr txBox="1"/>
          <p:nvPr/>
        </p:nvSpPr>
        <p:spPr>
          <a:xfrm>
            <a:off x="8829675" y="141157"/>
            <a:ext cx="4025900" cy="369332"/>
          </a:xfrm>
          <a:prstGeom prst="rect">
            <a:avLst/>
          </a:prstGeom>
          <a:noFill/>
        </p:spPr>
        <p:txBody>
          <a:bodyPr wrap="square" rtlCol="0">
            <a:spAutoFit/>
          </a:bodyPr>
          <a:lstStyle/>
          <a:p>
            <a:pPr algn="ctr"/>
            <a:r>
              <a:rPr lang="fi-FI" err="1"/>
              <a:t>Translations-page</a:t>
            </a:r>
            <a:endParaRPr lang="en-US"/>
          </a:p>
        </p:txBody>
      </p:sp>
      <p:sp>
        <p:nvSpPr>
          <p:cNvPr id="5" name="TextBox 4">
            <a:extLst>
              <a:ext uri="{FF2B5EF4-FFF2-40B4-BE49-F238E27FC236}">
                <a16:creationId xmlns:a16="http://schemas.microsoft.com/office/drawing/2014/main" id="{3E76C68B-97E8-F6FB-19AC-2464AC982C46}"/>
              </a:ext>
            </a:extLst>
          </p:cNvPr>
          <p:cNvSpPr txBox="1"/>
          <p:nvPr/>
        </p:nvSpPr>
        <p:spPr>
          <a:xfrm>
            <a:off x="-2981326" y="4006028"/>
            <a:ext cx="2625726" cy="1077218"/>
          </a:xfrm>
          <a:prstGeom prst="rect">
            <a:avLst/>
          </a:prstGeom>
          <a:noFill/>
        </p:spPr>
        <p:txBody>
          <a:bodyPr wrap="square" rtlCol="0">
            <a:spAutoFit/>
          </a:bodyPr>
          <a:lstStyle/>
          <a:p>
            <a:r>
              <a:rPr lang="fi-FI" sz="1600"/>
              <a:t>From the menu you can create new groups, display all translations or the group of your choice</a:t>
            </a:r>
            <a:endParaRPr lang="en-US" sz="1600"/>
          </a:p>
        </p:txBody>
      </p:sp>
      <p:sp>
        <p:nvSpPr>
          <p:cNvPr id="7" name="TextBox 6">
            <a:extLst>
              <a:ext uri="{FF2B5EF4-FFF2-40B4-BE49-F238E27FC236}">
                <a16:creationId xmlns:a16="http://schemas.microsoft.com/office/drawing/2014/main" id="{3231E40C-8D17-BE13-C24F-E8CC64162553}"/>
              </a:ext>
            </a:extLst>
          </p:cNvPr>
          <p:cNvSpPr txBox="1"/>
          <p:nvPr/>
        </p:nvSpPr>
        <p:spPr>
          <a:xfrm>
            <a:off x="2476191" y="236150"/>
            <a:ext cx="1482493" cy="269304"/>
          </a:xfrm>
          <a:prstGeom prst="rect">
            <a:avLst/>
          </a:prstGeom>
          <a:noFill/>
        </p:spPr>
        <p:txBody>
          <a:bodyPr wrap="square" rtlCol="0">
            <a:spAutoFit/>
          </a:bodyPr>
          <a:lstStyle/>
          <a:p>
            <a:r>
              <a:rPr lang="fi-FI" sz="1150" b="1">
                <a:solidFill>
                  <a:srgbClr val="5965FF"/>
                </a:solidFill>
              </a:rPr>
              <a:t>Translate new text</a:t>
            </a:r>
            <a:endParaRPr lang="en-US" sz="1150" b="1">
              <a:solidFill>
                <a:srgbClr val="5965FF"/>
              </a:solidFill>
            </a:endParaRPr>
          </a:p>
        </p:txBody>
      </p:sp>
    </p:spTree>
    <p:extLst>
      <p:ext uri="{BB962C8B-B14F-4D97-AF65-F5344CB8AC3E}">
        <p14:creationId xmlns:p14="http://schemas.microsoft.com/office/powerpoint/2010/main" val="3424961391"/>
      </p:ext>
    </p:extLst>
  </p:cSld>
  <p:clrMapOvr>
    <a:masterClrMapping/>
  </p:clrMapOvr>
</p:sld>
</file>

<file path=ppt/slides/slide9.xml><?xml version="1.0" encoding="utf-8"?>
<p:sld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563D5BB5-1E56-E5DF-63D3-E022B2636795}"/>
              </a:ext>
            </a:extLst>
          </p:cNvPr>
          <p:cNvSpPr/>
          <p:nvPr/>
        </p:nvSpPr>
        <p:spPr>
          <a:xfrm>
            <a:off x="0" y="6351"/>
            <a:ext cx="12192000" cy="6857999"/>
          </a:xfrm>
          <a:prstGeom prst="rect">
            <a:avLst/>
          </a:prstGeom>
          <a:solidFill>
            <a:srgbClr val="F9FA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09F4D58A-F7E7-441E-D1EB-20D21A42F761}"/>
              </a:ext>
            </a:extLst>
          </p:cNvPr>
          <p:cNvPicPr>
            <a:picLocks noChangeAspect="1"/>
          </p:cNvPicPr>
          <p:nvPr/>
        </p:nvPicPr>
        <p:blipFill>
          <a:blip r:embed="rId2"/>
          <a:srcRect t="56311" b="26041"/>
          <a:stretch/>
        </p:blipFill>
        <p:spPr>
          <a:xfrm>
            <a:off x="0" y="1999930"/>
            <a:ext cx="12192000" cy="392421"/>
          </a:xfrm>
          <a:prstGeom prst="rect">
            <a:avLst/>
          </a:prstGeom>
        </p:spPr>
      </p:pic>
      <p:pic>
        <p:nvPicPr>
          <p:cNvPr id="9" name="Picture 8">
            <a:extLst>
              <a:ext uri="{FF2B5EF4-FFF2-40B4-BE49-F238E27FC236}">
                <a16:creationId xmlns:a16="http://schemas.microsoft.com/office/drawing/2014/main" id="{410D4545-10F7-719D-D0BB-789657961AB3}"/>
              </a:ext>
            </a:extLst>
          </p:cNvPr>
          <p:cNvPicPr>
            <a:picLocks noChangeAspect="1"/>
          </p:cNvPicPr>
          <p:nvPr/>
        </p:nvPicPr>
        <p:blipFill>
          <a:blip r:embed="rId2"/>
          <a:srcRect t="36551" b="6340"/>
          <a:stretch/>
        </p:blipFill>
        <p:spPr>
          <a:xfrm>
            <a:off x="0" y="793430"/>
            <a:ext cx="12192000" cy="1270000"/>
          </a:xfrm>
          <a:prstGeom prst="rect">
            <a:avLst/>
          </a:prstGeom>
        </p:spPr>
      </p:pic>
      <p:sp>
        <p:nvSpPr>
          <p:cNvPr id="12" name="Rectangle 11">
            <a:extLst>
              <a:ext uri="{FF2B5EF4-FFF2-40B4-BE49-F238E27FC236}">
                <a16:creationId xmlns:a16="http://schemas.microsoft.com/office/drawing/2014/main" id="{113E1A48-DD36-9A96-F1E6-24865375CD71}"/>
              </a:ext>
            </a:extLst>
          </p:cNvPr>
          <p:cNvSpPr/>
          <p:nvPr/>
        </p:nvSpPr>
        <p:spPr>
          <a:xfrm>
            <a:off x="698500" y="3225821"/>
            <a:ext cx="1390650" cy="317499"/>
          </a:xfrm>
          <a:prstGeom prst="rect">
            <a:avLst/>
          </a:prstGeom>
          <a:solidFill>
            <a:srgbClr val="0E425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200"/>
              <a:t>Show group</a:t>
            </a:r>
            <a:endParaRPr lang="en-US" sz="1200"/>
          </a:p>
        </p:txBody>
      </p:sp>
      <p:grpSp>
        <p:nvGrpSpPr>
          <p:cNvPr id="14" name="Group 13">
            <a:extLst>
              <a:ext uri="{FF2B5EF4-FFF2-40B4-BE49-F238E27FC236}">
                <a16:creationId xmlns:a16="http://schemas.microsoft.com/office/drawing/2014/main" id="{189CA68E-960A-A637-3816-D74B6A9B4A2E}"/>
              </a:ext>
            </a:extLst>
          </p:cNvPr>
          <p:cNvGrpSpPr/>
          <p:nvPr/>
        </p:nvGrpSpPr>
        <p:grpSpPr>
          <a:xfrm>
            <a:off x="0" y="0"/>
            <a:ext cx="12192000" cy="789318"/>
            <a:chOff x="0" y="0"/>
            <a:chExt cx="12192000" cy="789318"/>
          </a:xfrm>
        </p:grpSpPr>
        <p:pic>
          <p:nvPicPr>
            <p:cNvPr id="15" name="Picture 14">
              <a:extLst>
                <a:ext uri="{FF2B5EF4-FFF2-40B4-BE49-F238E27FC236}">
                  <a16:creationId xmlns:a16="http://schemas.microsoft.com/office/drawing/2014/main" id="{AEC13448-F4CF-3A7F-B8C4-80D39BF496D3}"/>
                </a:ext>
              </a:extLst>
            </p:cNvPr>
            <p:cNvPicPr>
              <a:picLocks noChangeAspect="1"/>
            </p:cNvPicPr>
            <p:nvPr/>
          </p:nvPicPr>
          <p:blipFill>
            <a:blip r:embed="rId2"/>
            <a:srcRect t="-1" r="79010" b="65735"/>
            <a:stretch/>
          </p:blipFill>
          <p:spPr>
            <a:xfrm>
              <a:off x="0" y="1"/>
              <a:ext cx="2559050" cy="761999"/>
            </a:xfrm>
            <a:prstGeom prst="rect">
              <a:avLst/>
            </a:prstGeom>
          </p:spPr>
        </p:pic>
        <p:pic>
          <p:nvPicPr>
            <p:cNvPr id="16" name="Picture 15">
              <a:extLst>
                <a:ext uri="{FF2B5EF4-FFF2-40B4-BE49-F238E27FC236}">
                  <a16:creationId xmlns:a16="http://schemas.microsoft.com/office/drawing/2014/main" id="{ABCB2A9F-3A54-1849-4FE6-38B278F7B925}"/>
                </a:ext>
              </a:extLst>
            </p:cNvPr>
            <p:cNvPicPr>
              <a:picLocks noChangeAspect="1"/>
            </p:cNvPicPr>
            <p:nvPr/>
          </p:nvPicPr>
          <p:blipFill>
            <a:blip r:embed="rId2"/>
            <a:srcRect l="20937" r="10938" b="64506"/>
            <a:stretch/>
          </p:blipFill>
          <p:spPr>
            <a:xfrm>
              <a:off x="3886200" y="0"/>
              <a:ext cx="8305800" cy="789318"/>
            </a:xfrm>
            <a:prstGeom prst="rect">
              <a:avLst/>
            </a:prstGeom>
          </p:spPr>
        </p:pic>
      </p:grpSp>
      <p:pic>
        <p:nvPicPr>
          <p:cNvPr id="2" name="Picture 1">
            <a:extLst>
              <a:ext uri="{FF2B5EF4-FFF2-40B4-BE49-F238E27FC236}">
                <a16:creationId xmlns:a16="http://schemas.microsoft.com/office/drawing/2014/main" id="{51C7F182-AA1C-788C-8EE2-F9DAC7007E58}"/>
              </a:ext>
            </a:extLst>
          </p:cNvPr>
          <p:cNvPicPr>
            <a:picLocks noChangeAspect="1"/>
          </p:cNvPicPr>
          <p:nvPr/>
        </p:nvPicPr>
        <p:blipFill>
          <a:blip r:embed="rId2"/>
          <a:srcRect t="56311" b="26041"/>
          <a:stretch/>
        </p:blipFill>
        <p:spPr>
          <a:xfrm>
            <a:off x="6350" y="2400321"/>
            <a:ext cx="12192000" cy="392421"/>
          </a:xfrm>
          <a:prstGeom prst="rect">
            <a:avLst/>
          </a:prstGeom>
        </p:spPr>
      </p:pic>
      <p:sp>
        <p:nvSpPr>
          <p:cNvPr id="11" name="Rectangle 10">
            <a:extLst>
              <a:ext uri="{FF2B5EF4-FFF2-40B4-BE49-F238E27FC236}">
                <a16:creationId xmlns:a16="http://schemas.microsoft.com/office/drawing/2014/main" id="{290C2ADF-C94C-B634-75D5-54BE2396AE98}"/>
              </a:ext>
            </a:extLst>
          </p:cNvPr>
          <p:cNvSpPr/>
          <p:nvPr/>
        </p:nvSpPr>
        <p:spPr>
          <a:xfrm>
            <a:off x="11969750" y="863600"/>
            <a:ext cx="82550" cy="1866900"/>
          </a:xfrm>
          <a:prstGeom prst="rect">
            <a:avLst/>
          </a:prstGeom>
          <a:solidFill>
            <a:schemeClr val="bg1">
              <a:lumMod val="6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1" name="Group 30">
            <a:extLst>
              <a:ext uri="{FF2B5EF4-FFF2-40B4-BE49-F238E27FC236}">
                <a16:creationId xmlns:a16="http://schemas.microsoft.com/office/drawing/2014/main" id="{5E2A9515-99D4-5799-C2E6-F86D4599E7BF}"/>
              </a:ext>
            </a:extLst>
          </p:cNvPr>
          <p:cNvGrpSpPr/>
          <p:nvPr/>
        </p:nvGrpSpPr>
        <p:grpSpPr>
          <a:xfrm>
            <a:off x="698500" y="3674433"/>
            <a:ext cx="10877550" cy="2042555"/>
            <a:chOff x="368300" y="3731818"/>
            <a:chExt cx="10877550" cy="2042555"/>
          </a:xfrm>
        </p:grpSpPr>
        <p:sp>
          <p:nvSpPr>
            <p:cNvPr id="19" name="Rectangle 18">
              <a:extLst>
                <a:ext uri="{FF2B5EF4-FFF2-40B4-BE49-F238E27FC236}">
                  <a16:creationId xmlns:a16="http://schemas.microsoft.com/office/drawing/2014/main" id="{DBBABF37-10E5-B39E-776D-DAE6B1523761}"/>
                </a:ext>
              </a:extLst>
            </p:cNvPr>
            <p:cNvSpPr/>
            <p:nvPr/>
          </p:nvSpPr>
          <p:spPr>
            <a:xfrm>
              <a:off x="368300" y="3731818"/>
              <a:ext cx="10877550" cy="2042555"/>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A673620B-7E83-0FDE-372D-50117D548A8D}"/>
                </a:ext>
              </a:extLst>
            </p:cNvPr>
            <p:cNvSpPr txBox="1"/>
            <p:nvPr/>
          </p:nvSpPr>
          <p:spPr>
            <a:xfrm>
              <a:off x="447675" y="3818860"/>
              <a:ext cx="10245725" cy="646331"/>
            </a:xfrm>
            <a:prstGeom prst="rect">
              <a:avLst/>
            </a:prstGeom>
            <a:noFill/>
          </p:spPr>
          <p:txBody>
            <a:bodyPr wrap="square" rtlCol="0">
              <a:spAutoFit/>
            </a:bodyPr>
            <a:lstStyle/>
            <a:p>
              <a:r>
                <a:rPr lang="fi-FI" sz="1200" b="1" err="1"/>
                <a:t>Name </a:t>
              </a:r>
              <a:r>
                <a:rPr lang="fi-FI" sz="1200" b="1"/>
                <a:t>Group </a:t>
              </a:r>
              <a:r>
                <a:rPr lang="fi-FI" sz="1200" b="1" err="1"/>
                <a:t>Creation </a:t>
              </a:r>
              <a:r>
                <a:rPr lang="fi-FI" sz="1200" b="1"/>
                <a:t>date</a:t>
              </a:r>
            </a:p>
            <a:p>
              <a:endParaRPr lang="fi-FI" sz="1200"/>
            </a:p>
            <a:p>
              <a:r>
                <a:rPr lang="fi-FI" sz="1200"/>
                <a:t>Falcon </a:t>
              </a:r>
              <a:r>
                <a:rPr lang="fi-FI" sz="1200" err="1"/>
                <a:t>Animal </a:t>
              </a:r>
              <a:r>
                <a:rPr lang="fi-FI" sz="1200"/>
                <a:t>24.6.2025 Open </a:t>
              </a:r>
              <a:r>
                <a:rPr lang="fi-FI" sz="1200" err="1"/>
                <a:t>Change </a:t>
              </a:r>
              <a:r>
                <a:rPr lang="fi-FI" sz="1200"/>
                <a:t>group </a:t>
              </a:r>
              <a:r>
                <a:rPr lang="fi-FI" sz="1200" err="1"/>
                <a:t>Delete</a:t>
              </a:r>
              <a:endParaRPr lang="en-US" sz="1200"/>
            </a:p>
          </p:txBody>
        </p:sp>
        <p:cxnSp>
          <p:nvCxnSpPr>
            <p:cNvPr id="8" name="Straight Connector 7">
              <a:extLst>
                <a:ext uri="{FF2B5EF4-FFF2-40B4-BE49-F238E27FC236}">
                  <a16:creationId xmlns:a16="http://schemas.microsoft.com/office/drawing/2014/main" id="{4C0A7C93-DF05-BA08-905B-4E10D459D951}"/>
                </a:ext>
              </a:extLst>
            </p:cNvPr>
            <p:cNvCxnSpPr>
              <a:cxnSpLocks/>
            </p:cNvCxnSpPr>
            <p:nvPr/>
          </p:nvCxnSpPr>
          <p:spPr>
            <a:xfrm>
              <a:off x="473075" y="4476750"/>
              <a:ext cx="10487025" cy="0"/>
            </a:xfrm>
            <a:prstGeom prst="line">
              <a:avLst/>
            </a:prstGeom>
            <a:ln w="635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5704D876-728B-DBA9-0FF3-1712B3084615}"/>
                </a:ext>
              </a:extLst>
            </p:cNvPr>
            <p:cNvSpPr txBox="1"/>
            <p:nvPr/>
          </p:nvSpPr>
          <p:spPr>
            <a:xfrm>
              <a:off x="450850" y="4522878"/>
              <a:ext cx="10433050" cy="276999"/>
            </a:xfrm>
            <a:prstGeom prst="rect">
              <a:avLst/>
            </a:prstGeom>
            <a:noFill/>
          </p:spPr>
          <p:txBody>
            <a:bodyPr wrap="square">
              <a:spAutoFit/>
            </a:bodyPr>
            <a:lstStyle/>
            <a:p>
              <a:r>
                <a:rPr lang="fi-FI" sz="1200"/>
                <a:t>Salmon </a:t>
              </a:r>
              <a:r>
                <a:rPr lang="fi-FI" sz="1200" err="1"/>
                <a:t>Animal </a:t>
              </a:r>
              <a:r>
                <a:rPr lang="fi-FI" sz="1200"/>
                <a:t>25.6.2025 Open </a:t>
              </a:r>
              <a:r>
                <a:rPr lang="fi-FI" sz="1200" err="1"/>
                <a:t>Change </a:t>
              </a:r>
              <a:r>
                <a:rPr lang="fi-FI" sz="1200"/>
                <a:t>group </a:t>
              </a:r>
              <a:r>
                <a:rPr lang="fi-FI" sz="1200"/>
                <a:t>Delete</a:t>
              </a:r>
              <a:endParaRPr lang="en-US" sz="1200"/>
            </a:p>
          </p:txBody>
        </p:sp>
        <p:cxnSp>
          <p:nvCxnSpPr>
            <p:cNvPr id="23" name="Straight Connector 22">
              <a:extLst>
                <a:ext uri="{FF2B5EF4-FFF2-40B4-BE49-F238E27FC236}">
                  <a16:creationId xmlns:a16="http://schemas.microsoft.com/office/drawing/2014/main" id="{4DF7C155-419C-0AAB-FB79-7089DA959975}"/>
                </a:ext>
              </a:extLst>
            </p:cNvPr>
            <p:cNvCxnSpPr>
              <a:cxnSpLocks/>
            </p:cNvCxnSpPr>
            <p:nvPr/>
          </p:nvCxnSpPr>
          <p:spPr>
            <a:xfrm>
              <a:off x="466725" y="4812577"/>
              <a:ext cx="10493375" cy="0"/>
            </a:xfrm>
            <a:prstGeom prst="line">
              <a:avLst/>
            </a:prstGeom>
            <a:ln w="635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602A41E1-24B0-34C9-07E6-C271A9DF1A4E}"/>
                </a:ext>
              </a:extLst>
            </p:cNvPr>
            <p:cNvCxnSpPr>
              <a:cxnSpLocks/>
            </p:cNvCxnSpPr>
            <p:nvPr/>
          </p:nvCxnSpPr>
          <p:spPr>
            <a:xfrm>
              <a:off x="466725" y="5162550"/>
              <a:ext cx="10493375" cy="31750"/>
            </a:xfrm>
            <a:prstGeom prst="line">
              <a:avLst/>
            </a:prstGeom>
            <a:ln w="6350">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5" name="TextBox 24">
              <a:extLst>
                <a:ext uri="{FF2B5EF4-FFF2-40B4-BE49-F238E27FC236}">
                  <a16:creationId xmlns:a16="http://schemas.microsoft.com/office/drawing/2014/main" id="{F7668E31-FD53-59B7-78A5-D487DCF8E31D}"/>
                </a:ext>
              </a:extLst>
            </p:cNvPr>
            <p:cNvSpPr txBox="1"/>
            <p:nvPr/>
          </p:nvSpPr>
          <p:spPr>
            <a:xfrm>
              <a:off x="447675" y="4853509"/>
              <a:ext cx="10520362" cy="276999"/>
            </a:xfrm>
            <a:prstGeom prst="rect">
              <a:avLst/>
            </a:prstGeom>
            <a:noFill/>
          </p:spPr>
          <p:txBody>
            <a:bodyPr wrap="square">
              <a:spAutoFit/>
            </a:bodyPr>
            <a:lstStyle/>
            <a:p>
              <a:r>
                <a:rPr lang="fi-FI" sz="1200"/>
                <a:t>Mato </a:t>
              </a:r>
              <a:r>
                <a:rPr lang="fi-FI" sz="1200" err="1"/>
                <a:t>Animal </a:t>
              </a:r>
              <a:r>
                <a:rPr lang="fi-FI" sz="1200"/>
                <a:t>28.6.2025 Open </a:t>
              </a:r>
              <a:r>
                <a:rPr lang="fi-FI" sz="1200" err="1"/>
                <a:t>Change </a:t>
              </a:r>
              <a:r>
                <a:rPr lang="fi-FI" sz="1200"/>
                <a:t>group </a:t>
              </a:r>
              <a:r>
                <a:rPr lang="fi-FI" sz="1200"/>
                <a:t>Delete</a:t>
              </a:r>
              <a:endParaRPr lang="en-US" sz="1200"/>
            </a:p>
          </p:txBody>
        </p:sp>
      </p:grpSp>
      <p:cxnSp>
        <p:nvCxnSpPr>
          <p:cNvPr id="7" name="Straight Connector 6">
            <a:extLst>
              <a:ext uri="{FF2B5EF4-FFF2-40B4-BE49-F238E27FC236}">
                <a16:creationId xmlns:a16="http://schemas.microsoft.com/office/drawing/2014/main" id="{68506D9B-C90B-2634-6C62-47EB9D1132C7}"/>
              </a:ext>
            </a:extLst>
          </p:cNvPr>
          <p:cNvCxnSpPr>
            <a:cxnSpLocks/>
          </p:cNvCxnSpPr>
          <p:nvPr/>
        </p:nvCxnSpPr>
        <p:spPr>
          <a:xfrm>
            <a:off x="811212" y="4050830"/>
            <a:ext cx="10487025" cy="31750"/>
          </a:xfrm>
          <a:prstGeom prst="line">
            <a:avLst/>
          </a:prstGeom>
          <a:ln w="6350">
            <a:solidFill>
              <a:schemeClr val="bg1">
                <a:lumMod val="65000"/>
              </a:schemeClr>
            </a:solidFill>
          </a:ln>
        </p:spPr>
        <p:style>
          <a:lnRef idx="2">
            <a:schemeClr val="accent1"/>
          </a:lnRef>
          <a:fillRef idx="0">
            <a:schemeClr val="accent1"/>
          </a:fillRef>
          <a:effectRef idx="1">
            <a:schemeClr val="accent1"/>
          </a:effectRef>
          <a:fontRef idx="minor">
            <a:schemeClr val="tx1"/>
          </a:fontRef>
        </p:style>
      </p:cxnSp>
      <p:sp>
        <p:nvSpPr>
          <p:cNvPr id="32" name="TextBox 31">
            <a:extLst>
              <a:ext uri="{FF2B5EF4-FFF2-40B4-BE49-F238E27FC236}">
                <a16:creationId xmlns:a16="http://schemas.microsoft.com/office/drawing/2014/main" id="{1AE3B64A-987B-A2F6-69EE-C41FAADBA873}"/>
              </a:ext>
            </a:extLst>
          </p:cNvPr>
          <p:cNvSpPr txBox="1"/>
          <p:nvPr/>
        </p:nvSpPr>
        <p:spPr>
          <a:xfrm>
            <a:off x="-1582738" y="2810322"/>
            <a:ext cx="1287992" cy="830997"/>
          </a:xfrm>
          <a:prstGeom prst="rect">
            <a:avLst/>
          </a:prstGeom>
          <a:noFill/>
        </p:spPr>
        <p:txBody>
          <a:bodyPr wrap="square" rtlCol="0">
            <a:spAutoFit/>
          </a:bodyPr>
          <a:lstStyle/>
          <a:p>
            <a:r>
              <a:rPr lang="fi-FI" sz="1600"/>
              <a:t>Print list by group</a:t>
            </a:r>
            <a:endParaRPr lang="en-US" sz="1600"/>
          </a:p>
        </p:txBody>
      </p:sp>
      <p:sp>
        <p:nvSpPr>
          <p:cNvPr id="33" name="TextBox 32">
            <a:extLst>
              <a:ext uri="{FF2B5EF4-FFF2-40B4-BE49-F238E27FC236}">
                <a16:creationId xmlns:a16="http://schemas.microsoft.com/office/drawing/2014/main" id="{AC99A740-7E0F-AB0A-B64A-08F289460B02}"/>
              </a:ext>
            </a:extLst>
          </p:cNvPr>
          <p:cNvSpPr txBox="1"/>
          <p:nvPr/>
        </p:nvSpPr>
        <p:spPr>
          <a:xfrm>
            <a:off x="-1616076" y="4050830"/>
            <a:ext cx="1211792" cy="1815882"/>
          </a:xfrm>
          <a:prstGeom prst="rect">
            <a:avLst/>
          </a:prstGeom>
          <a:noFill/>
        </p:spPr>
        <p:txBody>
          <a:bodyPr wrap="square" rtlCol="0">
            <a:spAutoFit/>
          </a:bodyPr>
          <a:lstStyle/>
          <a:p>
            <a:r>
              <a:rPr lang="fi-FI" sz="1600"/>
              <a:t>You can open a document from the list or delete them directly</a:t>
            </a:r>
            <a:endParaRPr lang="en-US" sz="1600"/>
          </a:p>
        </p:txBody>
      </p:sp>
      <p:sp>
        <p:nvSpPr>
          <p:cNvPr id="34" name="TextBox 33">
            <a:extLst>
              <a:ext uri="{FF2B5EF4-FFF2-40B4-BE49-F238E27FC236}">
                <a16:creationId xmlns:a16="http://schemas.microsoft.com/office/drawing/2014/main" id="{D8DDD603-B3D6-D7BF-F844-68EE5B57E53C}"/>
              </a:ext>
            </a:extLst>
          </p:cNvPr>
          <p:cNvSpPr txBox="1"/>
          <p:nvPr/>
        </p:nvSpPr>
        <p:spPr>
          <a:xfrm>
            <a:off x="2476191" y="236150"/>
            <a:ext cx="1482493" cy="269304"/>
          </a:xfrm>
          <a:prstGeom prst="rect">
            <a:avLst/>
          </a:prstGeom>
          <a:noFill/>
        </p:spPr>
        <p:txBody>
          <a:bodyPr wrap="square" rtlCol="0">
            <a:spAutoFit/>
          </a:bodyPr>
          <a:lstStyle/>
          <a:p>
            <a:r>
              <a:rPr lang="fi-FI" sz="1150" b="1">
                <a:solidFill>
                  <a:srgbClr val="5965FF"/>
                </a:solidFill>
              </a:rPr>
              <a:t>Translate new text</a:t>
            </a:r>
            <a:endParaRPr lang="en-US" sz="1150" b="1">
              <a:solidFill>
                <a:srgbClr val="5965FF"/>
              </a:solidFill>
            </a:endParaRPr>
          </a:p>
        </p:txBody>
      </p:sp>
      <p:sp>
        <p:nvSpPr>
          <p:cNvPr id="35" name="Rectangle 34">
            <a:extLst>
              <a:ext uri="{FF2B5EF4-FFF2-40B4-BE49-F238E27FC236}">
                <a16:creationId xmlns:a16="http://schemas.microsoft.com/office/drawing/2014/main" id="{D51CB638-79AD-0D41-F5CF-4DC7C3EE5131}"/>
              </a:ext>
            </a:extLst>
          </p:cNvPr>
          <p:cNvSpPr/>
          <p:nvPr/>
        </p:nvSpPr>
        <p:spPr>
          <a:xfrm>
            <a:off x="2408455" y="3227618"/>
            <a:ext cx="1390650" cy="317499"/>
          </a:xfrm>
          <a:prstGeom prst="rect">
            <a:avLst/>
          </a:prstGeom>
          <a:solidFill>
            <a:srgbClr val="0E425A"/>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200"/>
              <a:t>Create new group</a:t>
            </a:r>
            <a:endParaRPr lang="en-US" sz="1200"/>
          </a:p>
        </p:txBody>
      </p:sp>
    </p:spTree>
    <p:extLst>
      <p:ext uri="{BB962C8B-B14F-4D97-AF65-F5344CB8AC3E}">
        <p14:creationId xmlns:p14="http://schemas.microsoft.com/office/powerpoint/2010/main" val="199048641"/>
      </p:ext>
    </p:extLst>
  </p:cSld>
  <p:clrMapOvr>
    <a:masterClrMapping/>
  </p:clrMapOvr>
</p:sld>
</file>

<file path=ppt/slides/slide10.xml><?xml version="1.0" encoding="utf-8"?>
<p:sld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A7F023E-DF2C-DE2E-5333-7256D552765E}"/>
              </a:ext>
            </a:extLst>
          </p:cNvPr>
          <p:cNvSpPr txBox="1"/>
          <p:nvPr/>
        </p:nvSpPr>
        <p:spPr>
          <a:xfrm>
            <a:off x="2665926" y="2170090"/>
            <a:ext cx="7231487" cy="707886"/>
          </a:xfrm>
          <a:prstGeom prst="rect">
            <a:avLst/>
          </a:prstGeom>
          <a:noFill/>
        </p:spPr>
        <p:txBody>
          <a:bodyPr wrap="square" rtlCol="0">
            <a:spAutoFit/>
          </a:bodyPr>
          <a:lstStyle/>
          <a:p>
            <a:pPr algn="ctr"/>
            <a:r>
              <a:rPr lang="fi-FI" sz="4000"/>
              <a:t>UI ideas</a:t>
            </a:r>
            <a:endParaRPr lang="en-US" sz="4000"/>
          </a:p>
        </p:txBody>
      </p:sp>
    </p:spTree>
    <p:extLst>
      <p:ext uri="{BB962C8B-B14F-4D97-AF65-F5344CB8AC3E}">
        <p14:creationId xmlns:p14="http://schemas.microsoft.com/office/powerpoint/2010/main" val="1405066536"/>
      </p:ext>
    </p:extLst>
  </p:cSld>
  <p:clrMapOvr>
    <a:masterClrMapping/>
  </p:clrMapOvr>
</p:sld>
</file>

<file path=ppt/slides/slide11.xml><?xml version="1.0" encoding="utf-8"?>
<p:sld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9C01ACC-70B2-6331-AA94-114FDEA254F0}"/>
              </a:ext>
            </a:extLst>
          </p:cNvPr>
          <p:cNvSpPr/>
          <p:nvPr/>
        </p:nvSpPr>
        <p:spPr>
          <a:xfrm>
            <a:off x="0" y="989557"/>
            <a:ext cx="12192000" cy="5411243"/>
          </a:xfrm>
          <a:prstGeom prst="rect">
            <a:avLst/>
          </a:prstGeom>
          <a:solidFill>
            <a:srgbClr val="F3F4F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D2268FBD-CB37-F898-F3CD-58F8DC7A0F18}"/>
              </a:ext>
            </a:extLst>
          </p:cNvPr>
          <p:cNvPicPr>
            <a:picLocks noChangeAspect="1"/>
          </p:cNvPicPr>
          <p:nvPr/>
        </p:nvPicPr>
        <p:blipFill>
          <a:blip r:embed="rId2"/>
          <a:srcRect b="85708"/>
          <a:stretch/>
        </p:blipFill>
        <p:spPr>
          <a:xfrm>
            <a:off x="0" y="11043"/>
            <a:ext cx="12192000" cy="978514"/>
          </a:xfrm>
          <a:prstGeom prst="rect">
            <a:avLst/>
          </a:prstGeom>
        </p:spPr>
      </p:pic>
      <p:sp>
        <p:nvSpPr>
          <p:cNvPr id="2" name="TextBox 1">
            <a:extLst>
              <a:ext uri="{FF2B5EF4-FFF2-40B4-BE49-F238E27FC236}">
                <a16:creationId xmlns:a16="http://schemas.microsoft.com/office/drawing/2014/main" id="{78DF1B7D-61FB-CFD3-BF2A-66ED1C68F795}"/>
              </a:ext>
            </a:extLst>
          </p:cNvPr>
          <p:cNvSpPr txBox="1"/>
          <p:nvPr/>
        </p:nvSpPr>
        <p:spPr>
          <a:xfrm>
            <a:off x="3701267" y="956485"/>
            <a:ext cx="3964604" cy="276999"/>
          </a:xfrm>
          <a:prstGeom prst="rect">
            <a:avLst/>
          </a:prstGeom>
          <a:noFill/>
        </p:spPr>
        <p:txBody>
          <a:bodyPr wrap="square" rtlCol="0">
            <a:spAutoFit/>
          </a:bodyPr>
          <a:lstStyle/>
          <a:p>
            <a:r>
              <a:rPr lang="fi-FI" sz="1200" b="1" err="1"/>
              <a:t>Step </a:t>
            </a:r>
            <a:r>
              <a:rPr lang="fi-FI" sz="1200" b="1"/>
              <a:t>1: </a:t>
            </a:r>
            <a:r>
              <a:rPr lang="fi-FI" sz="1200" b="1" err="1"/>
              <a:t>Add </a:t>
            </a:r>
            <a:r>
              <a:rPr lang="fi-FI" sz="1200" b="1" err="1"/>
              <a:t>translatable </a:t>
            </a:r>
            <a:r>
              <a:rPr lang="fi-FI" sz="1200" b="1" err="1"/>
              <a:t>text</a:t>
            </a:r>
            <a:endParaRPr lang="en-US" sz="1200" b="1"/>
          </a:p>
        </p:txBody>
      </p:sp>
      <p:pic>
        <p:nvPicPr>
          <p:cNvPr id="4" name="Picture 3">
            <a:extLst>
              <a:ext uri="{FF2B5EF4-FFF2-40B4-BE49-F238E27FC236}">
                <a16:creationId xmlns:a16="http://schemas.microsoft.com/office/drawing/2014/main" id="{64B60211-93B9-6B54-DF1B-B500E8907BEF}"/>
              </a:ext>
            </a:extLst>
          </p:cNvPr>
          <p:cNvPicPr>
            <a:picLocks noChangeAspect="1"/>
          </p:cNvPicPr>
          <p:nvPr/>
        </p:nvPicPr>
        <p:blipFill>
          <a:blip r:embed="rId3"/>
          <a:stretch>
            <a:fillRect/>
          </a:stretch>
        </p:blipFill>
        <p:spPr>
          <a:xfrm>
            <a:off x="3644900" y="1256778"/>
            <a:ext cx="4616777" cy="4154466"/>
          </a:xfrm>
          <a:prstGeom prst="rect">
            <a:avLst/>
          </a:prstGeom>
        </p:spPr>
      </p:pic>
    </p:spTree>
    <p:extLst>
      <p:ext uri="{BB962C8B-B14F-4D97-AF65-F5344CB8AC3E}">
        <p14:creationId xmlns:p14="http://schemas.microsoft.com/office/powerpoint/2010/main" val="70669907"/>
      </p:ext>
    </p:extLst>
  </p:cSld>
  <p:clrMapOvr>
    <a:masterClrMapping/>
  </p:clrMapOvr>
</p:sld>
</file>

<file path=ppt/slides/slide12.xml><?xml version="1.0" encoding="utf-8"?>
<p:sld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468C941-9951-048B-B123-54CF20A0E642}"/>
              </a:ext>
            </a:extLst>
          </p:cNvPr>
          <p:cNvSpPr/>
          <p:nvPr/>
        </p:nvSpPr>
        <p:spPr>
          <a:xfrm>
            <a:off x="2041741" y="1"/>
            <a:ext cx="8210811" cy="6858000"/>
          </a:xfrm>
          <a:prstGeom prst="rect">
            <a:avLst/>
          </a:prstGeom>
          <a:solidFill>
            <a:srgbClr val="F9FA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728FA325-0E4B-41A1-97AD-3BB4281C2337}"/>
              </a:ext>
            </a:extLst>
          </p:cNvPr>
          <p:cNvPicPr>
            <a:picLocks noChangeAspect="1"/>
          </p:cNvPicPr>
          <p:nvPr/>
        </p:nvPicPr>
        <p:blipFill>
          <a:blip r:embed="rId2"/>
          <a:srcRect t="13505" b="71010"/>
          <a:stretch/>
        </p:blipFill>
        <p:spPr>
          <a:xfrm>
            <a:off x="2041742" y="37880"/>
            <a:ext cx="8210811" cy="438414"/>
          </a:xfrm>
          <a:prstGeom prst="rect">
            <a:avLst/>
          </a:prstGeom>
        </p:spPr>
      </p:pic>
      <p:sp>
        <p:nvSpPr>
          <p:cNvPr id="6" name="TextBox 5">
            <a:extLst>
              <a:ext uri="{FF2B5EF4-FFF2-40B4-BE49-F238E27FC236}">
                <a16:creationId xmlns:a16="http://schemas.microsoft.com/office/drawing/2014/main" id="{5CC3988C-31E8-8348-3EC7-5BB432506523}"/>
              </a:ext>
            </a:extLst>
          </p:cNvPr>
          <p:cNvSpPr txBox="1"/>
          <p:nvPr/>
        </p:nvSpPr>
        <p:spPr>
          <a:xfrm>
            <a:off x="0" y="-369332"/>
            <a:ext cx="2567836" cy="369332"/>
          </a:xfrm>
          <a:prstGeom prst="rect">
            <a:avLst/>
          </a:prstGeom>
          <a:noFill/>
        </p:spPr>
        <p:txBody>
          <a:bodyPr wrap="square" rtlCol="0">
            <a:spAutoFit/>
          </a:bodyPr>
          <a:lstStyle/>
          <a:p>
            <a:r>
              <a:rPr lang="fi-FI" err="1"/>
              <a:t>Vertical </a:t>
            </a:r>
            <a:r>
              <a:rPr lang="fi-FI" err="1"/>
              <a:t>split </a:t>
            </a:r>
            <a:r>
              <a:rPr lang="fi-FI"/>
              <a:t>layout</a:t>
            </a:r>
            <a:endParaRPr lang="en-US"/>
          </a:p>
        </p:txBody>
      </p:sp>
      <p:sp>
        <p:nvSpPr>
          <p:cNvPr id="7" name="Rectangle 6">
            <a:extLst>
              <a:ext uri="{FF2B5EF4-FFF2-40B4-BE49-F238E27FC236}">
                <a16:creationId xmlns:a16="http://schemas.microsoft.com/office/drawing/2014/main" id="{A47EB3B4-A927-9B5F-0A4F-558E540E9C27}"/>
              </a:ext>
            </a:extLst>
          </p:cNvPr>
          <p:cNvSpPr/>
          <p:nvPr/>
        </p:nvSpPr>
        <p:spPr>
          <a:xfrm>
            <a:off x="2237059" y="1644231"/>
            <a:ext cx="7809978" cy="34311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i-FI" sz="1000">
                <a:solidFill>
                  <a:sysClr val="windowText" lastClr="000000"/>
                </a:solidFill>
              </a:rPr>
              <a:t>Original </a:t>
            </a:r>
            <a:r>
              <a:rPr lang="fi-FI" sz="1000" err="1">
                <a:solidFill>
                  <a:sysClr val="windowText" lastClr="000000"/>
                </a:solidFill>
              </a:rPr>
              <a:t>text</a:t>
            </a:r>
            <a:endParaRPr lang="en-US" sz="1000">
              <a:solidFill>
                <a:sysClr val="windowText" lastClr="000000"/>
              </a:solidFill>
            </a:endParaRPr>
          </a:p>
        </p:txBody>
      </p:sp>
      <p:sp>
        <p:nvSpPr>
          <p:cNvPr id="10" name="Rectangle 9">
            <a:extLst>
              <a:ext uri="{FF2B5EF4-FFF2-40B4-BE49-F238E27FC236}">
                <a16:creationId xmlns:a16="http://schemas.microsoft.com/office/drawing/2014/main" id="{A0BAD793-E839-CD2D-D36C-D654E0EE0B66}"/>
              </a:ext>
            </a:extLst>
          </p:cNvPr>
          <p:cNvSpPr/>
          <p:nvPr/>
        </p:nvSpPr>
        <p:spPr>
          <a:xfrm>
            <a:off x="2254685" y="2512123"/>
            <a:ext cx="7809978" cy="343117"/>
          </a:xfrm>
          <a:prstGeom prst="rect">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i-FI" sz="1000" err="1">
                <a:solidFill>
                  <a:sysClr val="windowText" lastClr="000000"/>
                </a:solidFill>
              </a:rPr>
              <a:t>Chunk </a:t>
            </a:r>
            <a:r>
              <a:rPr lang="fi-FI" sz="1000">
                <a:solidFill>
                  <a:sysClr val="windowText" lastClr="000000"/>
                </a:solidFill>
              </a:rPr>
              <a:t>1 / 3</a:t>
            </a:r>
            <a:endParaRPr lang="en-US" sz="1000">
              <a:solidFill>
                <a:sysClr val="windowText" lastClr="000000"/>
              </a:solidFill>
            </a:endParaRPr>
          </a:p>
        </p:txBody>
      </p:sp>
      <p:grpSp>
        <p:nvGrpSpPr>
          <p:cNvPr id="29" name="Group 28">
            <a:extLst>
              <a:ext uri="{FF2B5EF4-FFF2-40B4-BE49-F238E27FC236}">
                <a16:creationId xmlns:a16="http://schemas.microsoft.com/office/drawing/2014/main" id="{C3B86E45-4EA8-C67C-F6F4-AF2F18D209AF}"/>
              </a:ext>
            </a:extLst>
          </p:cNvPr>
          <p:cNvGrpSpPr/>
          <p:nvPr/>
        </p:nvGrpSpPr>
        <p:grpSpPr>
          <a:xfrm>
            <a:off x="2292263" y="2261833"/>
            <a:ext cx="676408" cy="175365"/>
            <a:chOff x="2292263" y="2261833"/>
            <a:chExt cx="676408" cy="175365"/>
          </a:xfrm>
        </p:grpSpPr>
        <p:sp>
          <p:nvSpPr>
            <p:cNvPr id="12" name="Oval 11">
              <a:extLst>
                <a:ext uri="{FF2B5EF4-FFF2-40B4-BE49-F238E27FC236}">
                  <a16:creationId xmlns:a16="http://schemas.microsoft.com/office/drawing/2014/main" id="{0A651163-6CFE-FE6A-48E4-A7C7FE83DF92}"/>
                </a:ext>
              </a:extLst>
            </p:cNvPr>
            <p:cNvSpPr/>
            <p:nvPr/>
          </p:nvSpPr>
          <p:spPr>
            <a:xfrm>
              <a:off x="2292263" y="2262135"/>
              <a:ext cx="175364" cy="175063"/>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100"/>
                <a:t>1</a:t>
              </a:r>
              <a:endParaRPr lang="en-US" sz="1100"/>
            </a:p>
          </p:txBody>
        </p:sp>
        <p:sp>
          <p:nvSpPr>
            <p:cNvPr id="14" name="Oval 13">
              <a:extLst>
                <a:ext uri="{FF2B5EF4-FFF2-40B4-BE49-F238E27FC236}">
                  <a16:creationId xmlns:a16="http://schemas.microsoft.com/office/drawing/2014/main" id="{C2625947-7ADD-E0E7-C8CC-0BB194217384}"/>
                </a:ext>
              </a:extLst>
            </p:cNvPr>
            <p:cNvSpPr/>
            <p:nvPr/>
          </p:nvSpPr>
          <p:spPr>
            <a:xfrm>
              <a:off x="2542785" y="2262135"/>
              <a:ext cx="175364" cy="175063"/>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100"/>
                <a:t>2</a:t>
              </a:r>
              <a:endParaRPr lang="en-US" sz="1100"/>
            </a:p>
          </p:txBody>
        </p:sp>
        <p:sp>
          <p:nvSpPr>
            <p:cNvPr id="15" name="Oval 14">
              <a:extLst>
                <a:ext uri="{FF2B5EF4-FFF2-40B4-BE49-F238E27FC236}">
                  <a16:creationId xmlns:a16="http://schemas.microsoft.com/office/drawing/2014/main" id="{FA549EE5-45FB-941A-FE18-CA291C04DFB6}"/>
                </a:ext>
              </a:extLst>
            </p:cNvPr>
            <p:cNvSpPr/>
            <p:nvPr/>
          </p:nvSpPr>
          <p:spPr>
            <a:xfrm>
              <a:off x="2793307" y="2261833"/>
              <a:ext cx="175364" cy="175063"/>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100"/>
                <a:t>3</a:t>
              </a:r>
              <a:endParaRPr lang="en-US" sz="1100"/>
            </a:p>
          </p:txBody>
        </p:sp>
      </p:grpSp>
      <p:sp>
        <p:nvSpPr>
          <p:cNvPr id="16" name="Rectangle 15">
            <a:extLst>
              <a:ext uri="{FF2B5EF4-FFF2-40B4-BE49-F238E27FC236}">
                <a16:creationId xmlns:a16="http://schemas.microsoft.com/office/drawing/2014/main" id="{D8765374-E4A0-3DF3-608A-4721EEA97AF5}"/>
              </a:ext>
            </a:extLst>
          </p:cNvPr>
          <p:cNvSpPr/>
          <p:nvPr/>
        </p:nvSpPr>
        <p:spPr>
          <a:xfrm>
            <a:off x="2254685" y="2861504"/>
            <a:ext cx="7809978" cy="2135986"/>
          </a:xfrm>
          <a:prstGeom prst="rect">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900" b="1" i="0">
                <a:solidFill>
                  <a:srgbClr val="000000"/>
                </a:solidFill>
                <a:effectLst/>
                <a:latin typeface="Open Sans" panose="020F0502020204030204" pitchFamily="34" charset="0"/>
              </a:rPr>
              <a:t>Lorem Ipsum </a:t>
            </a:r>
            <a:r>
              <a:rPr lang="en-US" sz="900" b="0" i="0">
                <a:solidFill>
                  <a:srgbClr val="000000"/>
                </a:solidFill>
                <a:effectLst/>
                <a:latin typeface="Open Sans" panose="020F0502020204030204" pitchFamily="34" charset="0"/>
              </a:rPr>
              <a:t>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sz="900" b="0" i="0" err="1">
                <a:solidFill>
                  <a:srgbClr val="000000"/>
                </a:solidFill>
                <a:effectLst/>
                <a:latin typeface="Open Sans" panose="020F0502020204030204" pitchFamily="34" charset="0"/>
              </a:rPr>
              <a:t>popularised </a:t>
            </a:r>
            <a:r>
              <a:rPr lang="en-US" sz="900" b="0" i="0">
                <a:solidFill>
                  <a:srgbClr val="000000"/>
                </a:solidFill>
                <a:effectLst/>
                <a:latin typeface="Open Sans" panose="020F0502020204030204" pitchFamily="34" charset="0"/>
              </a:rPr>
              <a:t>in the 1960s with the release of Letraset sheets containing Lorem Ipsum passages, and more recently with desktop publishing software like Aldus PageMaker including versions of Lorem Ipsum. </a:t>
            </a:r>
          </a:p>
          <a:p>
            <a:endParaRPr lang="en-US" sz="900">
              <a:solidFill>
                <a:srgbClr val="000000"/>
              </a:solidFill>
              <a:latin typeface="Open Sans" panose="020F0502020204030204" pitchFamily="34" charset="0"/>
            </a:endParaRPr>
          </a:p>
          <a:p>
            <a:r>
              <a:rPr lang="en-US" sz="900" b="0" i="0">
                <a:solidFill>
                  <a:srgbClr val="000000"/>
                </a:solidFill>
                <a:effectLst/>
                <a:latin typeface="Open Sans" panose="020B0606030504020204" pitchFamily="34" charset="0"/>
              </a:rPr>
              <a:t>Contrary to popular belief, Lorem Ipsum is not simply random text. It has roots in a piece of classical Latin literature from 45 BC, making it over 2000 years old. Richard McClintock, a Latin professor at Hampden-Sydney College in Virginia, looked up one of the more obscure Latin words, </a:t>
            </a:r>
            <a:r>
              <a:rPr lang="en-US" sz="900" b="0" i="0" err="1">
                <a:solidFill>
                  <a:srgbClr val="000000"/>
                </a:solidFill>
                <a:effectLst/>
                <a:latin typeface="Open Sans" panose="020B0606030504020204" pitchFamily="34" charset="0"/>
              </a:rPr>
              <a:t>consectetur</a:t>
            </a:r>
            <a:r>
              <a:rPr lang="en-US" sz="900" b="0" i="0">
                <a:solidFill>
                  <a:srgbClr val="000000"/>
                </a:solidFill>
                <a:effectLst/>
                <a:latin typeface="Open Sans" panose="020B0606030504020204" pitchFamily="34" charset="0"/>
              </a:rPr>
              <a:t>, from a Lorem Ipsum passage, and going through the cites of the word in classical literature, discovered the undoubted source. Lorem Ipsum comes from sections 1.10.32 and 1.10.33 of "de </a:t>
            </a:r>
            <a:r>
              <a:rPr lang="en-US" sz="900" b="0" i="0" err="1">
                <a:solidFill>
                  <a:srgbClr val="000000"/>
                </a:solidFill>
                <a:effectLst/>
                <a:latin typeface="Open Sans" panose="020B0606030504020204" pitchFamily="34" charset="0"/>
              </a:rPr>
              <a:t>Finibus </a:t>
            </a:r>
            <a:r>
              <a:rPr lang="en-US" sz="900" b="0" i="0" err="1">
                <a:solidFill>
                  <a:srgbClr val="000000"/>
                </a:solidFill>
                <a:effectLst/>
                <a:latin typeface="Open Sans" panose="020B0606030504020204" pitchFamily="34" charset="0"/>
              </a:rPr>
              <a:t>Bonorum </a:t>
            </a:r>
            <a:r>
              <a:rPr lang="en-US" sz="900" b="0" i="0">
                <a:solidFill>
                  <a:srgbClr val="000000"/>
                </a:solidFill>
                <a:effectLst/>
                <a:latin typeface="Open Sans" panose="020B0606030504020204" pitchFamily="34" charset="0"/>
              </a:rPr>
              <a:t>et </a:t>
            </a:r>
            <a:r>
              <a:rPr lang="en-US" sz="900" b="0" i="0" err="1">
                <a:solidFill>
                  <a:srgbClr val="000000"/>
                </a:solidFill>
                <a:effectLst/>
                <a:latin typeface="Open Sans" panose="020B0606030504020204" pitchFamily="34" charset="0"/>
              </a:rPr>
              <a:t>Malorum</a:t>
            </a:r>
            <a:r>
              <a:rPr lang="en-US" sz="900" b="0" i="0">
                <a:solidFill>
                  <a:srgbClr val="000000"/>
                </a:solidFill>
                <a:effectLst/>
                <a:latin typeface="Open Sans" panose="020B0606030504020204" pitchFamily="34" charset="0"/>
              </a:rPr>
              <a:t>" (The Extremes of Good and Evil) by Cicero, written in 45 BC. This book is a treatise on the theory of ethics, very popular during the Renaissance. The first line of Lorem Ipsum, "Lorem ipsum dolor sit </a:t>
            </a:r>
            <a:r>
              <a:rPr lang="en-US" sz="900" b="0" i="0" err="1">
                <a:solidFill>
                  <a:srgbClr val="000000"/>
                </a:solidFill>
                <a:effectLst/>
                <a:latin typeface="Open Sans" panose="020B0606030504020204" pitchFamily="34" charset="0"/>
              </a:rPr>
              <a:t>amet.</a:t>
            </a:r>
            <a:r>
              <a:rPr lang="en-US" sz="900" b="0" i="0">
                <a:solidFill>
                  <a:srgbClr val="000000"/>
                </a:solidFill>
                <a:effectLst/>
                <a:latin typeface="Open Sans" panose="020B0606030504020204" pitchFamily="34" charset="0"/>
              </a:rPr>
              <a:t>.", comes from a line in section 1.10.32. The standard chunk of Lorem Ipsum used since the 1500s is reproduced below for those interested. Sections 1.10.32 and 1.10.33 from "de </a:t>
            </a:r>
            <a:r>
              <a:rPr lang="en-US" sz="900" b="0" i="0" err="1">
                <a:solidFill>
                  <a:srgbClr val="000000"/>
                </a:solidFill>
                <a:effectLst/>
                <a:latin typeface="Open Sans" panose="020B0606030504020204" pitchFamily="34" charset="0"/>
              </a:rPr>
              <a:t>Finibus </a:t>
            </a:r>
            <a:r>
              <a:rPr lang="en-US" sz="900" b="0" i="0" err="1">
                <a:solidFill>
                  <a:srgbClr val="000000"/>
                </a:solidFill>
                <a:effectLst/>
                <a:latin typeface="Open Sans" panose="020B0606030504020204" pitchFamily="34" charset="0"/>
              </a:rPr>
              <a:t>Bonorum </a:t>
            </a:r>
            <a:r>
              <a:rPr lang="en-US" sz="900" b="0" i="0">
                <a:solidFill>
                  <a:srgbClr val="000000"/>
                </a:solidFill>
                <a:effectLst/>
                <a:latin typeface="Open Sans" panose="020B0606030504020204" pitchFamily="34" charset="0"/>
              </a:rPr>
              <a:t>et </a:t>
            </a:r>
            <a:r>
              <a:rPr lang="en-US" sz="900" b="0" i="0" err="1">
                <a:solidFill>
                  <a:srgbClr val="000000"/>
                </a:solidFill>
                <a:effectLst/>
                <a:latin typeface="Open Sans" panose="020B0606030504020204" pitchFamily="34" charset="0"/>
              </a:rPr>
              <a:t>Malorum</a:t>
            </a:r>
            <a:r>
              <a:rPr lang="en-US" sz="900" b="0" i="0">
                <a:solidFill>
                  <a:srgbClr val="000000"/>
                </a:solidFill>
                <a:effectLst/>
                <a:latin typeface="Open Sans" panose="020B0606030504020204" pitchFamily="34" charset="0"/>
              </a:rPr>
              <a:t>" by Cicero are also reproduced in their exact original form, accompanied by English versions from the 1914 translation by H. Rackham.</a:t>
            </a:r>
            <a:endParaRPr lang="en-US" sz="900">
              <a:solidFill>
                <a:sysClr val="windowText" lastClr="000000"/>
              </a:solidFill>
            </a:endParaRPr>
          </a:p>
        </p:txBody>
      </p:sp>
      <p:sp>
        <p:nvSpPr>
          <p:cNvPr id="17" name="Rectangle 16">
            <a:extLst>
              <a:ext uri="{FF2B5EF4-FFF2-40B4-BE49-F238E27FC236}">
                <a16:creationId xmlns:a16="http://schemas.microsoft.com/office/drawing/2014/main" id="{A2AC7F39-5236-CCAE-A0C5-E9B0671C4066}"/>
              </a:ext>
            </a:extLst>
          </p:cNvPr>
          <p:cNvSpPr/>
          <p:nvPr/>
        </p:nvSpPr>
        <p:spPr>
          <a:xfrm>
            <a:off x="2254685" y="5207305"/>
            <a:ext cx="7809978" cy="35868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i-FI" sz="1000" err="1">
                <a:solidFill>
                  <a:sysClr val="windowText" lastClr="000000"/>
                </a:solidFill>
              </a:rPr>
              <a:t>Translated </a:t>
            </a:r>
            <a:r>
              <a:rPr lang="fi-FI" sz="1000" err="1">
                <a:solidFill>
                  <a:sysClr val="windowText" lastClr="000000"/>
                </a:solidFill>
              </a:rPr>
              <a:t>text</a:t>
            </a:r>
            <a:endParaRPr lang="en-US" sz="1000">
              <a:solidFill>
                <a:sysClr val="windowText" lastClr="000000"/>
              </a:solidFill>
            </a:endParaRPr>
          </a:p>
        </p:txBody>
      </p:sp>
      <p:pic>
        <p:nvPicPr>
          <p:cNvPr id="18" name="Picture 17">
            <a:extLst>
              <a:ext uri="{FF2B5EF4-FFF2-40B4-BE49-F238E27FC236}">
                <a16:creationId xmlns:a16="http://schemas.microsoft.com/office/drawing/2014/main" id="{E93D0B4C-E6A5-9B1D-6BDD-6924D7E6468A}"/>
              </a:ext>
            </a:extLst>
          </p:cNvPr>
          <p:cNvPicPr>
            <a:picLocks noChangeAspect="1"/>
          </p:cNvPicPr>
          <p:nvPr/>
        </p:nvPicPr>
        <p:blipFill>
          <a:blip r:embed="rId2"/>
          <a:srcRect t="79290"/>
          <a:stretch/>
        </p:blipFill>
        <p:spPr>
          <a:xfrm>
            <a:off x="2054268" y="7067816"/>
            <a:ext cx="8210811" cy="586334"/>
          </a:xfrm>
          <a:prstGeom prst="rect">
            <a:avLst/>
          </a:prstGeom>
        </p:spPr>
      </p:pic>
      <p:sp>
        <p:nvSpPr>
          <p:cNvPr id="20" name="Rectangle 19">
            <a:extLst>
              <a:ext uri="{FF2B5EF4-FFF2-40B4-BE49-F238E27FC236}">
                <a16:creationId xmlns:a16="http://schemas.microsoft.com/office/drawing/2014/main" id="{3B592CF6-DD5C-B542-AD72-F298A51DE557}"/>
              </a:ext>
            </a:extLst>
          </p:cNvPr>
          <p:cNvSpPr/>
          <p:nvPr/>
        </p:nvSpPr>
        <p:spPr>
          <a:xfrm>
            <a:off x="2231952" y="766485"/>
            <a:ext cx="7820183" cy="275271"/>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i-FI" sz="1000" err="1">
                <a:solidFill>
                  <a:sysClr val="windowText" lastClr="000000"/>
                </a:solidFill>
              </a:rPr>
              <a:t>Toolbox</a:t>
            </a:r>
            <a:endParaRPr lang="en-US" sz="1000">
              <a:solidFill>
                <a:sysClr val="windowText" lastClr="000000"/>
              </a:solidFill>
            </a:endParaRPr>
          </a:p>
        </p:txBody>
      </p:sp>
      <p:sp>
        <p:nvSpPr>
          <p:cNvPr id="21" name="Oval 20">
            <a:extLst>
              <a:ext uri="{FF2B5EF4-FFF2-40B4-BE49-F238E27FC236}">
                <a16:creationId xmlns:a16="http://schemas.microsoft.com/office/drawing/2014/main" id="{7D7F053F-C1CA-2AD3-79BF-02EC327A04F9}"/>
              </a:ext>
            </a:extLst>
          </p:cNvPr>
          <p:cNvSpPr/>
          <p:nvPr/>
        </p:nvSpPr>
        <p:spPr>
          <a:xfrm>
            <a:off x="9745249" y="1726642"/>
            <a:ext cx="212943" cy="175364"/>
          </a:xfrm>
          <a:prstGeom prst="ellipse">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200">
                <a:solidFill>
                  <a:schemeClr val="tx1">
                    <a:lumMod val="95000"/>
                    <a:lumOff val="5000"/>
                  </a:schemeClr>
                </a:solidFill>
              </a:rPr>
              <a:t>?</a:t>
            </a:r>
            <a:endParaRPr lang="en-US" sz="1200">
              <a:solidFill>
                <a:schemeClr val="tx1">
                  <a:lumMod val="95000"/>
                  <a:lumOff val="5000"/>
                </a:schemeClr>
              </a:solidFill>
            </a:endParaRPr>
          </a:p>
        </p:txBody>
      </p:sp>
      <p:sp>
        <p:nvSpPr>
          <p:cNvPr id="22" name="Oval 21">
            <a:extLst>
              <a:ext uri="{FF2B5EF4-FFF2-40B4-BE49-F238E27FC236}">
                <a16:creationId xmlns:a16="http://schemas.microsoft.com/office/drawing/2014/main" id="{287A7F1E-CDA2-6D35-78D4-ACE53EFA4DEB}"/>
              </a:ext>
            </a:extLst>
          </p:cNvPr>
          <p:cNvSpPr/>
          <p:nvPr/>
        </p:nvSpPr>
        <p:spPr>
          <a:xfrm>
            <a:off x="9745249" y="2602716"/>
            <a:ext cx="212943" cy="175364"/>
          </a:xfrm>
          <a:prstGeom prst="ellipse">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200">
                <a:solidFill>
                  <a:schemeClr val="tx1">
                    <a:lumMod val="95000"/>
                    <a:lumOff val="5000"/>
                  </a:schemeClr>
                </a:solidFill>
              </a:rPr>
              <a:t>?</a:t>
            </a:r>
            <a:endParaRPr lang="en-US" sz="1200">
              <a:solidFill>
                <a:schemeClr val="tx1">
                  <a:lumMod val="95000"/>
                  <a:lumOff val="5000"/>
                </a:schemeClr>
              </a:solidFill>
            </a:endParaRPr>
          </a:p>
        </p:txBody>
      </p:sp>
      <p:sp>
        <p:nvSpPr>
          <p:cNvPr id="23" name="Rectangle 22">
            <a:extLst>
              <a:ext uri="{FF2B5EF4-FFF2-40B4-BE49-F238E27FC236}">
                <a16:creationId xmlns:a16="http://schemas.microsoft.com/office/drawing/2014/main" id="{B776BE3F-0432-145C-9C2A-E1B4E8540A49}"/>
              </a:ext>
            </a:extLst>
          </p:cNvPr>
          <p:cNvSpPr/>
          <p:nvPr/>
        </p:nvSpPr>
        <p:spPr>
          <a:xfrm>
            <a:off x="7697976" y="2565997"/>
            <a:ext cx="899540" cy="2178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900"/>
              <a:t>Translate</a:t>
            </a:r>
            <a:endParaRPr lang="en-US" sz="900"/>
          </a:p>
        </p:txBody>
      </p:sp>
      <p:sp>
        <p:nvSpPr>
          <p:cNvPr id="24" name="Rectangle 23">
            <a:extLst>
              <a:ext uri="{FF2B5EF4-FFF2-40B4-BE49-F238E27FC236}">
                <a16:creationId xmlns:a16="http://schemas.microsoft.com/office/drawing/2014/main" id="{9B7A8D21-3EF5-D851-BD43-FFFD8DE6B6DF}"/>
              </a:ext>
            </a:extLst>
          </p:cNvPr>
          <p:cNvSpPr/>
          <p:nvPr/>
        </p:nvSpPr>
        <p:spPr>
          <a:xfrm>
            <a:off x="8702825" y="2571014"/>
            <a:ext cx="899541" cy="217864"/>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900" err="1">
                <a:solidFill>
                  <a:schemeClr val="tx1">
                    <a:lumMod val="85000"/>
                    <a:lumOff val="15000"/>
                  </a:schemeClr>
                </a:solidFill>
              </a:rPr>
              <a:t>Save </a:t>
            </a:r>
            <a:r>
              <a:rPr lang="fi-FI" sz="900" err="1">
                <a:solidFill>
                  <a:schemeClr val="tx1">
                    <a:lumMod val="85000"/>
                    <a:lumOff val="15000"/>
                  </a:schemeClr>
                </a:solidFill>
              </a:rPr>
              <a:t>changes</a:t>
            </a:r>
            <a:endParaRPr lang="en-US" sz="900">
              <a:solidFill>
                <a:schemeClr val="tx1">
                  <a:lumMod val="85000"/>
                  <a:lumOff val="15000"/>
                </a:schemeClr>
              </a:solidFill>
            </a:endParaRPr>
          </a:p>
        </p:txBody>
      </p:sp>
      <p:sp>
        <p:nvSpPr>
          <p:cNvPr id="25" name="TextBox 24">
            <a:extLst>
              <a:ext uri="{FF2B5EF4-FFF2-40B4-BE49-F238E27FC236}">
                <a16:creationId xmlns:a16="http://schemas.microsoft.com/office/drawing/2014/main" id="{C07E317C-2A7B-F821-16FC-AFCBD20D7A19}"/>
              </a:ext>
            </a:extLst>
          </p:cNvPr>
          <p:cNvSpPr txBox="1"/>
          <p:nvPr/>
        </p:nvSpPr>
        <p:spPr>
          <a:xfrm>
            <a:off x="2177439" y="1218580"/>
            <a:ext cx="3964604" cy="276999"/>
          </a:xfrm>
          <a:prstGeom prst="rect">
            <a:avLst/>
          </a:prstGeom>
          <a:noFill/>
        </p:spPr>
        <p:txBody>
          <a:bodyPr wrap="square" rtlCol="0">
            <a:spAutoFit/>
          </a:bodyPr>
          <a:lstStyle/>
          <a:p>
            <a:r>
              <a:rPr lang="fi-FI" sz="1200" b="1" err="1"/>
              <a:t>Step </a:t>
            </a:r>
            <a:r>
              <a:rPr lang="fi-FI" sz="1200" b="1"/>
              <a:t>2: Translate and </a:t>
            </a:r>
            <a:r>
              <a:rPr lang="fi-FI" sz="1200" b="1" err="1"/>
              <a:t>edit </a:t>
            </a:r>
            <a:r>
              <a:rPr lang="fi-FI" sz="1200" b="1"/>
              <a:t>text chunks</a:t>
            </a:r>
            <a:endParaRPr lang="en-US" sz="1200" b="1"/>
          </a:p>
        </p:txBody>
      </p:sp>
      <p:sp>
        <p:nvSpPr>
          <p:cNvPr id="27" name="Oval 26">
            <a:extLst>
              <a:ext uri="{FF2B5EF4-FFF2-40B4-BE49-F238E27FC236}">
                <a16:creationId xmlns:a16="http://schemas.microsoft.com/office/drawing/2014/main" id="{3FD8E893-DB27-0E3B-7A5E-06AC2DCA5DB5}"/>
              </a:ext>
            </a:extLst>
          </p:cNvPr>
          <p:cNvSpPr/>
          <p:nvPr/>
        </p:nvSpPr>
        <p:spPr>
          <a:xfrm>
            <a:off x="9747105" y="824842"/>
            <a:ext cx="212943" cy="175364"/>
          </a:xfrm>
          <a:prstGeom prst="ellipse">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200">
                <a:solidFill>
                  <a:schemeClr val="tx1">
                    <a:lumMod val="95000"/>
                    <a:lumOff val="5000"/>
                  </a:schemeClr>
                </a:solidFill>
              </a:rPr>
              <a:t>?</a:t>
            </a:r>
            <a:endParaRPr lang="en-US" sz="1200">
              <a:solidFill>
                <a:schemeClr val="tx1">
                  <a:lumMod val="95000"/>
                  <a:lumOff val="5000"/>
                </a:schemeClr>
              </a:solidFill>
            </a:endParaRPr>
          </a:p>
        </p:txBody>
      </p:sp>
      <p:sp>
        <p:nvSpPr>
          <p:cNvPr id="28" name="Oval 27">
            <a:extLst>
              <a:ext uri="{FF2B5EF4-FFF2-40B4-BE49-F238E27FC236}">
                <a16:creationId xmlns:a16="http://schemas.microsoft.com/office/drawing/2014/main" id="{AE0357FF-4F68-81E0-96D0-C58598A969F7}"/>
              </a:ext>
            </a:extLst>
          </p:cNvPr>
          <p:cNvSpPr/>
          <p:nvPr/>
        </p:nvSpPr>
        <p:spPr>
          <a:xfrm>
            <a:off x="9746412" y="5301099"/>
            <a:ext cx="212943" cy="175364"/>
          </a:xfrm>
          <a:prstGeom prst="ellipse">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200">
                <a:solidFill>
                  <a:schemeClr val="tx1">
                    <a:lumMod val="95000"/>
                    <a:lumOff val="5000"/>
                  </a:schemeClr>
                </a:solidFill>
              </a:rPr>
              <a:t>?</a:t>
            </a:r>
            <a:endParaRPr lang="en-US" sz="1200">
              <a:solidFill>
                <a:schemeClr val="tx1">
                  <a:lumMod val="95000"/>
                  <a:lumOff val="5000"/>
                </a:schemeClr>
              </a:solidFill>
            </a:endParaRPr>
          </a:p>
        </p:txBody>
      </p:sp>
      <p:sp>
        <p:nvSpPr>
          <p:cNvPr id="30" name="TextBox 29">
            <a:extLst>
              <a:ext uri="{FF2B5EF4-FFF2-40B4-BE49-F238E27FC236}">
                <a16:creationId xmlns:a16="http://schemas.microsoft.com/office/drawing/2014/main" id="{DEE5B56C-00C9-7699-C3E3-FDA11A8FE7F4}"/>
              </a:ext>
            </a:extLst>
          </p:cNvPr>
          <p:cNvSpPr txBox="1"/>
          <p:nvPr/>
        </p:nvSpPr>
        <p:spPr>
          <a:xfrm>
            <a:off x="2231952" y="5994721"/>
            <a:ext cx="4863346" cy="276999"/>
          </a:xfrm>
          <a:prstGeom prst="rect">
            <a:avLst/>
          </a:prstGeom>
          <a:noFill/>
        </p:spPr>
        <p:txBody>
          <a:bodyPr wrap="square" rtlCol="0">
            <a:spAutoFit/>
          </a:bodyPr>
          <a:lstStyle/>
          <a:p>
            <a:r>
              <a:rPr lang="fi-FI" sz="1200" b="1" err="1"/>
              <a:t>Step </a:t>
            </a:r>
            <a:r>
              <a:rPr lang="fi-FI" sz="1200" b="1"/>
              <a:t>3: Finish document after all chunks are translated</a:t>
            </a:r>
            <a:endParaRPr lang="en-US" sz="1200" b="1"/>
          </a:p>
        </p:txBody>
      </p:sp>
      <p:sp>
        <p:nvSpPr>
          <p:cNvPr id="31" name="Rectangle 30">
            <a:extLst>
              <a:ext uri="{FF2B5EF4-FFF2-40B4-BE49-F238E27FC236}">
                <a16:creationId xmlns:a16="http://schemas.microsoft.com/office/drawing/2014/main" id="{EE39CAFC-13C6-DB01-D51A-13AC636CBACC}"/>
              </a:ext>
            </a:extLst>
          </p:cNvPr>
          <p:cNvSpPr/>
          <p:nvPr/>
        </p:nvSpPr>
        <p:spPr>
          <a:xfrm>
            <a:off x="8562706" y="6005980"/>
            <a:ext cx="1039660" cy="267072"/>
          </a:xfrm>
          <a:prstGeom prst="rect">
            <a:avLst/>
          </a:prstGeom>
          <a:solidFill>
            <a:srgbClr val="949BA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900"/>
              <a:t>Finish document</a:t>
            </a:r>
            <a:endParaRPr lang="en-US" sz="900"/>
          </a:p>
        </p:txBody>
      </p:sp>
      <p:sp>
        <p:nvSpPr>
          <p:cNvPr id="33" name="Oval 32">
            <a:extLst>
              <a:ext uri="{FF2B5EF4-FFF2-40B4-BE49-F238E27FC236}">
                <a16:creationId xmlns:a16="http://schemas.microsoft.com/office/drawing/2014/main" id="{67DFAC2A-8CBC-C7B2-AB1D-A3C2A3F99AEC}"/>
              </a:ext>
            </a:extLst>
          </p:cNvPr>
          <p:cNvSpPr/>
          <p:nvPr/>
        </p:nvSpPr>
        <p:spPr>
          <a:xfrm>
            <a:off x="9745249" y="6045539"/>
            <a:ext cx="212943" cy="175364"/>
          </a:xfrm>
          <a:prstGeom prst="ellipse">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200">
                <a:solidFill>
                  <a:schemeClr val="tx1">
                    <a:lumMod val="95000"/>
                    <a:lumOff val="5000"/>
                  </a:schemeClr>
                </a:solidFill>
              </a:rPr>
              <a:t>?</a:t>
            </a:r>
            <a:endParaRPr lang="en-US" sz="1200">
              <a:solidFill>
                <a:schemeClr val="tx1">
                  <a:lumMod val="95000"/>
                  <a:lumOff val="5000"/>
                </a:schemeClr>
              </a:solidFill>
            </a:endParaRPr>
          </a:p>
        </p:txBody>
      </p:sp>
    </p:spTree>
    <p:extLst>
      <p:ext uri="{BB962C8B-B14F-4D97-AF65-F5344CB8AC3E}">
        <p14:creationId xmlns:p14="http://schemas.microsoft.com/office/powerpoint/2010/main" val="3927886884"/>
      </p:ext>
    </p:extLst>
  </p:cSld>
  <p:clrMapOvr>
    <a:masterClrMapping/>
  </p:clrMapOvr>
</p:sld>
</file>

<file path=ppt/slides/slide13.xml><?xml version="1.0" encoding="utf-8"?>
<p:sld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468C941-9951-048B-B123-54CF20A0E642}"/>
              </a:ext>
            </a:extLst>
          </p:cNvPr>
          <p:cNvSpPr/>
          <p:nvPr/>
        </p:nvSpPr>
        <p:spPr>
          <a:xfrm>
            <a:off x="2041741" y="1"/>
            <a:ext cx="8210811" cy="6858000"/>
          </a:xfrm>
          <a:prstGeom prst="rect">
            <a:avLst/>
          </a:prstGeom>
          <a:solidFill>
            <a:srgbClr val="F9FA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728FA325-0E4B-41A1-97AD-3BB4281C2337}"/>
              </a:ext>
            </a:extLst>
          </p:cNvPr>
          <p:cNvPicPr>
            <a:picLocks noChangeAspect="1"/>
          </p:cNvPicPr>
          <p:nvPr/>
        </p:nvPicPr>
        <p:blipFill>
          <a:blip r:embed="rId2"/>
          <a:srcRect t="13506" b="20130"/>
          <a:stretch/>
        </p:blipFill>
        <p:spPr>
          <a:xfrm>
            <a:off x="2041742" y="37879"/>
            <a:ext cx="8210811" cy="1878905"/>
          </a:xfrm>
          <a:prstGeom prst="rect">
            <a:avLst/>
          </a:prstGeom>
        </p:spPr>
      </p:pic>
      <p:sp>
        <p:nvSpPr>
          <p:cNvPr id="6" name="TextBox 5">
            <a:extLst>
              <a:ext uri="{FF2B5EF4-FFF2-40B4-BE49-F238E27FC236}">
                <a16:creationId xmlns:a16="http://schemas.microsoft.com/office/drawing/2014/main" id="{5CC3988C-31E8-8348-3EC7-5BB432506523}"/>
              </a:ext>
            </a:extLst>
          </p:cNvPr>
          <p:cNvSpPr txBox="1"/>
          <p:nvPr/>
        </p:nvSpPr>
        <p:spPr>
          <a:xfrm>
            <a:off x="0" y="-369332"/>
            <a:ext cx="2567836" cy="369332"/>
          </a:xfrm>
          <a:prstGeom prst="rect">
            <a:avLst/>
          </a:prstGeom>
          <a:noFill/>
        </p:spPr>
        <p:txBody>
          <a:bodyPr wrap="square" rtlCol="0">
            <a:spAutoFit/>
          </a:bodyPr>
          <a:lstStyle/>
          <a:p>
            <a:r>
              <a:rPr lang="fi-FI" err="1"/>
              <a:t>Vertical </a:t>
            </a:r>
            <a:r>
              <a:rPr lang="fi-FI" err="1"/>
              <a:t>split </a:t>
            </a:r>
            <a:r>
              <a:rPr lang="fi-FI"/>
              <a:t>layout</a:t>
            </a:r>
            <a:endParaRPr lang="en-US"/>
          </a:p>
        </p:txBody>
      </p:sp>
      <p:sp>
        <p:nvSpPr>
          <p:cNvPr id="7" name="Rectangle 6">
            <a:extLst>
              <a:ext uri="{FF2B5EF4-FFF2-40B4-BE49-F238E27FC236}">
                <a16:creationId xmlns:a16="http://schemas.microsoft.com/office/drawing/2014/main" id="{A47EB3B4-A927-9B5F-0A4F-558E540E9C27}"/>
              </a:ext>
            </a:extLst>
          </p:cNvPr>
          <p:cNvSpPr/>
          <p:nvPr/>
        </p:nvSpPr>
        <p:spPr>
          <a:xfrm>
            <a:off x="2254685" y="2022953"/>
            <a:ext cx="7809978" cy="3256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i-FI" sz="1000">
                <a:solidFill>
                  <a:sysClr val="windowText" lastClr="000000"/>
                </a:solidFill>
              </a:rPr>
              <a:t>Original </a:t>
            </a:r>
            <a:r>
              <a:rPr lang="fi-FI" sz="1000" err="1">
                <a:solidFill>
                  <a:sysClr val="windowText" lastClr="000000"/>
                </a:solidFill>
              </a:rPr>
              <a:t>text</a:t>
            </a:r>
            <a:endParaRPr lang="en-US" sz="1000">
              <a:solidFill>
                <a:sysClr val="windowText" lastClr="000000"/>
              </a:solidFill>
            </a:endParaRPr>
          </a:p>
        </p:txBody>
      </p:sp>
      <p:sp>
        <p:nvSpPr>
          <p:cNvPr id="10" name="Rectangle 9">
            <a:extLst>
              <a:ext uri="{FF2B5EF4-FFF2-40B4-BE49-F238E27FC236}">
                <a16:creationId xmlns:a16="http://schemas.microsoft.com/office/drawing/2014/main" id="{A0BAD793-E839-CD2D-D36C-D654E0EE0B66}"/>
              </a:ext>
            </a:extLst>
          </p:cNvPr>
          <p:cNvSpPr/>
          <p:nvPr/>
        </p:nvSpPr>
        <p:spPr>
          <a:xfrm>
            <a:off x="2254685" y="4411840"/>
            <a:ext cx="7809978" cy="319114"/>
          </a:xfrm>
          <a:prstGeom prst="rect">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i-FI" sz="1000" err="1">
                <a:solidFill>
                  <a:sysClr val="windowText" lastClr="000000"/>
                </a:solidFill>
              </a:rPr>
              <a:t>Chunk </a:t>
            </a:r>
            <a:r>
              <a:rPr lang="fi-FI" sz="1000">
                <a:solidFill>
                  <a:sysClr val="windowText" lastClr="000000"/>
                </a:solidFill>
              </a:rPr>
              <a:t>1 / 3</a:t>
            </a:r>
            <a:endParaRPr lang="en-US" sz="1000">
              <a:solidFill>
                <a:sysClr val="windowText" lastClr="000000"/>
              </a:solidFill>
            </a:endParaRPr>
          </a:p>
        </p:txBody>
      </p:sp>
      <p:sp>
        <p:nvSpPr>
          <p:cNvPr id="16" name="Rectangle 15">
            <a:extLst>
              <a:ext uri="{FF2B5EF4-FFF2-40B4-BE49-F238E27FC236}">
                <a16:creationId xmlns:a16="http://schemas.microsoft.com/office/drawing/2014/main" id="{D8765374-E4A0-3DF3-608A-4721EEA97AF5}"/>
              </a:ext>
            </a:extLst>
          </p:cNvPr>
          <p:cNvSpPr/>
          <p:nvPr/>
        </p:nvSpPr>
        <p:spPr>
          <a:xfrm>
            <a:off x="2254685" y="4728274"/>
            <a:ext cx="7809978" cy="2054569"/>
          </a:xfrm>
          <a:prstGeom prst="rect">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900" b="1" i="0">
                <a:solidFill>
                  <a:srgbClr val="000000"/>
                </a:solidFill>
                <a:effectLst/>
                <a:latin typeface="Open Sans" panose="020F0502020204030204" pitchFamily="34" charset="0"/>
              </a:rPr>
              <a:t>Lorem Ipsum </a:t>
            </a:r>
            <a:r>
              <a:rPr lang="en-US" sz="900" b="0" i="0">
                <a:solidFill>
                  <a:srgbClr val="000000"/>
                </a:solidFill>
                <a:effectLst/>
                <a:latin typeface="Open Sans" panose="020F0502020204030204" pitchFamily="34" charset="0"/>
              </a:rPr>
              <a:t>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sz="900" b="0" i="0" err="1">
                <a:solidFill>
                  <a:srgbClr val="000000"/>
                </a:solidFill>
                <a:effectLst/>
                <a:latin typeface="Open Sans" panose="020F0502020204030204" pitchFamily="34" charset="0"/>
              </a:rPr>
              <a:t>popularised </a:t>
            </a:r>
            <a:r>
              <a:rPr lang="en-US" sz="900" b="0" i="0">
                <a:solidFill>
                  <a:srgbClr val="000000"/>
                </a:solidFill>
                <a:effectLst/>
                <a:latin typeface="Open Sans" panose="020F0502020204030204" pitchFamily="34" charset="0"/>
              </a:rPr>
              <a:t>in the 1960s with the release of Letraset sheets containing Lorem Ipsum passages, and more recently with desktop publishing software like Aldus PageMaker including versions of Lorem Ipsum. </a:t>
            </a:r>
          </a:p>
          <a:p>
            <a:endParaRPr lang="en-US" sz="900">
              <a:solidFill>
                <a:srgbClr val="000000"/>
              </a:solidFill>
              <a:latin typeface="Open Sans" panose="020F0502020204030204" pitchFamily="34" charset="0"/>
            </a:endParaRPr>
          </a:p>
          <a:p>
            <a:r>
              <a:rPr lang="en-US" sz="900" b="0" i="0">
                <a:solidFill>
                  <a:srgbClr val="000000"/>
                </a:solidFill>
                <a:effectLst/>
                <a:latin typeface="Open Sans" panose="020B0606030504020204" pitchFamily="34" charset="0"/>
              </a:rPr>
              <a:t>Contrary to popular belief, Lorem Ipsum is not simply random text. It has roots in a piece of classical Latin literature from 45 BC, making it over 2000 years old. Richard McClintock, a Latin professor at Hampden-Sydney College in Virginia, looked up one of the more obscure Latin words, </a:t>
            </a:r>
            <a:r>
              <a:rPr lang="en-US" sz="900" b="0" i="0" err="1">
                <a:solidFill>
                  <a:srgbClr val="000000"/>
                </a:solidFill>
                <a:effectLst/>
                <a:latin typeface="Open Sans" panose="020B0606030504020204" pitchFamily="34" charset="0"/>
              </a:rPr>
              <a:t>consectetur</a:t>
            </a:r>
            <a:r>
              <a:rPr lang="en-US" sz="900" b="0" i="0">
                <a:solidFill>
                  <a:srgbClr val="000000"/>
                </a:solidFill>
                <a:effectLst/>
                <a:latin typeface="Open Sans" panose="020B0606030504020204" pitchFamily="34" charset="0"/>
              </a:rPr>
              <a:t>, from a Lorem Ipsum passage, and going through the cites of the word in classical literature, discovered the undoubted source. Lorem Ipsum comes from sections 1.10.32 and 1.10.33 of "de </a:t>
            </a:r>
            <a:r>
              <a:rPr lang="en-US" sz="900" b="0" i="0" err="1">
                <a:solidFill>
                  <a:srgbClr val="000000"/>
                </a:solidFill>
                <a:effectLst/>
                <a:latin typeface="Open Sans" panose="020B0606030504020204" pitchFamily="34" charset="0"/>
              </a:rPr>
              <a:t>Finibus </a:t>
            </a:r>
            <a:r>
              <a:rPr lang="en-US" sz="900" b="0" i="0" err="1">
                <a:solidFill>
                  <a:srgbClr val="000000"/>
                </a:solidFill>
                <a:effectLst/>
                <a:latin typeface="Open Sans" panose="020B0606030504020204" pitchFamily="34" charset="0"/>
              </a:rPr>
              <a:t>Bonorum </a:t>
            </a:r>
            <a:r>
              <a:rPr lang="en-US" sz="900" b="0" i="0">
                <a:solidFill>
                  <a:srgbClr val="000000"/>
                </a:solidFill>
                <a:effectLst/>
                <a:latin typeface="Open Sans" panose="020B0606030504020204" pitchFamily="34" charset="0"/>
              </a:rPr>
              <a:t>et </a:t>
            </a:r>
            <a:r>
              <a:rPr lang="en-US" sz="900" b="0" i="0" err="1">
                <a:solidFill>
                  <a:srgbClr val="000000"/>
                </a:solidFill>
                <a:effectLst/>
                <a:latin typeface="Open Sans" panose="020B0606030504020204" pitchFamily="34" charset="0"/>
              </a:rPr>
              <a:t>Malorum</a:t>
            </a:r>
            <a:r>
              <a:rPr lang="en-US" sz="900" b="0" i="0">
                <a:solidFill>
                  <a:srgbClr val="000000"/>
                </a:solidFill>
                <a:effectLst/>
                <a:latin typeface="Open Sans" panose="020B0606030504020204" pitchFamily="34" charset="0"/>
              </a:rPr>
              <a:t>" (The Extremes of Good and Evil) by Cicero, written in 45 BC. This book is a treatise on the theory of ethics, very popular during the Renaissance. The first line of Lorem Ipsum, "Lorem ipsum dolor sit </a:t>
            </a:r>
            <a:r>
              <a:rPr lang="en-US" sz="900" b="0" i="0" err="1">
                <a:solidFill>
                  <a:srgbClr val="000000"/>
                </a:solidFill>
                <a:effectLst/>
                <a:latin typeface="Open Sans" panose="020B0606030504020204" pitchFamily="34" charset="0"/>
              </a:rPr>
              <a:t>amet.</a:t>
            </a:r>
            <a:r>
              <a:rPr lang="en-US" sz="900" b="0" i="0">
                <a:solidFill>
                  <a:srgbClr val="000000"/>
                </a:solidFill>
                <a:effectLst/>
                <a:latin typeface="Open Sans" panose="020B0606030504020204" pitchFamily="34" charset="0"/>
              </a:rPr>
              <a:t>.", comes from a line in section 1.10.32. The standard chunk of Lorem Ipsum used since the 1500s is reproduced below for those interested. Sections 1.10.32 and 1.10.33 from "de </a:t>
            </a:r>
            <a:r>
              <a:rPr lang="en-US" sz="900" b="0" i="0" err="1">
                <a:solidFill>
                  <a:srgbClr val="000000"/>
                </a:solidFill>
                <a:effectLst/>
                <a:latin typeface="Open Sans" panose="020B0606030504020204" pitchFamily="34" charset="0"/>
              </a:rPr>
              <a:t>Finibus </a:t>
            </a:r>
            <a:r>
              <a:rPr lang="en-US" sz="900" b="0" i="0" err="1">
                <a:solidFill>
                  <a:srgbClr val="000000"/>
                </a:solidFill>
                <a:effectLst/>
                <a:latin typeface="Open Sans" panose="020B0606030504020204" pitchFamily="34" charset="0"/>
              </a:rPr>
              <a:t>Bonorum </a:t>
            </a:r>
            <a:r>
              <a:rPr lang="en-US" sz="900" b="0" i="0">
                <a:solidFill>
                  <a:srgbClr val="000000"/>
                </a:solidFill>
                <a:effectLst/>
                <a:latin typeface="Open Sans" panose="020B0606030504020204" pitchFamily="34" charset="0"/>
              </a:rPr>
              <a:t>et </a:t>
            </a:r>
            <a:r>
              <a:rPr lang="en-US" sz="900" b="0" i="0" err="1">
                <a:solidFill>
                  <a:srgbClr val="000000"/>
                </a:solidFill>
                <a:effectLst/>
                <a:latin typeface="Open Sans" panose="020B0606030504020204" pitchFamily="34" charset="0"/>
              </a:rPr>
              <a:t>Malorum</a:t>
            </a:r>
            <a:r>
              <a:rPr lang="en-US" sz="900" b="0" i="0">
                <a:solidFill>
                  <a:srgbClr val="000000"/>
                </a:solidFill>
                <a:effectLst/>
                <a:latin typeface="Open Sans" panose="020B0606030504020204" pitchFamily="34" charset="0"/>
              </a:rPr>
              <a:t>" by Cicero are also reproduced in their exact original form, accompanied by English versions from the 1914 translation by H. Rackham.</a:t>
            </a:r>
            <a:endParaRPr lang="en-US" sz="900">
              <a:solidFill>
                <a:sysClr val="windowText" lastClr="000000"/>
              </a:solidFill>
            </a:endParaRPr>
          </a:p>
        </p:txBody>
      </p:sp>
      <p:sp>
        <p:nvSpPr>
          <p:cNvPr id="2" name="Rectangle 1">
            <a:extLst>
              <a:ext uri="{FF2B5EF4-FFF2-40B4-BE49-F238E27FC236}">
                <a16:creationId xmlns:a16="http://schemas.microsoft.com/office/drawing/2014/main" id="{1F1AE921-F86D-BAF9-CF32-BD56098034F1}"/>
              </a:ext>
            </a:extLst>
          </p:cNvPr>
          <p:cNvSpPr/>
          <p:nvPr/>
        </p:nvSpPr>
        <p:spPr>
          <a:xfrm>
            <a:off x="2254685" y="2342067"/>
            <a:ext cx="7809978" cy="1378425"/>
          </a:xfrm>
          <a:prstGeom prst="rect">
            <a:avLst/>
          </a:prstGeom>
          <a:solidFill>
            <a:schemeClr val="bg1"/>
          </a:solidFill>
          <a:ln w="6350">
            <a:solidFill>
              <a:srgbClr val="E8E8E8"/>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900" b="1" i="0">
                <a:solidFill>
                  <a:srgbClr val="000000"/>
                </a:solidFill>
                <a:effectLst/>
                <a:latin typeface="Open Sans" panose="020F0502020204030204" pitchFamily="34" charset="0"/>
              </a:rPr>
              <a:t>Lorem Ipsum </a:t>
            </a:r>
            <a:r>
              <a:rPr lang="en-US" sz="900" b="0" i="0">
                <a:solidFill>
                  <a:srgbClr val="000000"/>
                </a:solidFill>
                <a:effectLst/>
                <a:latin typeface="Open Sans" panose="020F0502020204030204" pitchFamily="34" charset="0"/>
              </a:rPr>
              <a:t>is simply dummy text of the printing and typesetting industry. Lorem Ipsum has been the industry's standard dummy text ever since the 1500s, when an unknown printer took a galley of type and scrambled it to make a type specimen book. It has survived not only five centuries, but also the leap into electronic typesetting, remaining essentially unchanged. It was </a:t>
            </a:r>
            <a:r>
              <a:rPr lang="en-US" sz="900" b="0" i="0" err="1">
                <a:solidFill>
                  <a:srgbClr val="000000"/>
                </a:solidFill>
                <a:effectLst/>
                <a:latin typeface="Open Sans" panose="020F0502020204030204" pitchFamily="34" charset="0"/>
              </a:rPr>
              <a:t>popularised </a:t>
            </a:r>
            <a:r>
              <a:rPr lang="en-US" sz="900" b="0" i="0">
                <a:solidFill>
                  <a:srgbClr val="000000"/>
                </a:solidFill>
                <a:effectLst/>
                <a:latin typeface="Open Sans" panose="020F0502020204030204" pitchFamily="34" charset="0"/>
              </a:rPr>
              <a:t>in the 1960s with the release of Letraset sheets containing Lorem Ipsum passages, and more recently with desktop publishing software like Aldus PageMaker including versions of Lorem Ipsum. </a:t>
            </a:r>
          </a:p>
          <a:p>
            <a:endParaRPr lang="en-US" sz="900">
              <a:solidFill>
                <a:srgbClr val="000000"/>
              </a:solidFill>
              <a:latin typeface="Open Sans" panose="020F0502020204030204" pitchFamily="34" charset="0"/>
            </a:endParaRPr>
          </a:p>
          <a:p>
            <a:r>
              <a:rPr lang="en-US" sz="900" b="0" i="0">
                <a:solidFill>
                  <a:srgbClr val="000000"/>
                </a:solidFill>
                <a:effectLst/>
                <a:latin typeface="Open Sans" panose="020B0606030504020204" pitchFamily="34" charset="0"/>
              </a:rPr>
              <a:t>Contrary to popular belief, Lorem Ipsum is not simply random text. It has roots in a piece of classical Latin literature from 45 BC, making it over 2000 years old. Richard McClintock, a Latin professor at Hampden-Sydney College in Virginia, looked up one of the more obscure Latin words, </a:t>
            </a:r>
            <a:r>
              <a:rPr lang="en-US" sz="900" b="0" i="0" err="1">
                <a:solidFill>
                  <a:srgbClr val="000000"/>
                </a:solidFill>
                <a:effectLst/>
                <a:latin typeface="Open Sans" panose="020B0606030504020204" pitchFamily="34" charset="0"/>
              </a:rPr>
              <a:t>consectetur</a:t>
            </a:r>
            <a:r>
              <a:rPr lang="en-US" sz="900" b="0" i="0">
                <a:solidFill>
                  <a:srgbClr val="000000"/>
                </a:solidFill>
                <a:effectLst/>
                <a:latin typeface="Open Sans" panose="020B0606030504020204" pitchFamily="34" charset="0"/>
              </a:rPr>
              <a:t>, from a Lorem Ipsum passage, and going through the cites of the word in classical</a:t>
            </a:r>
            <a:endParaRPr lang="en-US" sz="900">
              <a:solidFill>
                <a:sysClr val="windowText" lastClr="000000"/>
              </a:solidFill>
            </a:endParaRPr>
          </a:p>
        </p:txBody>
      </p:sp>
      <p:grpSp>
        <p:nvGrpSpPr>
          <p:cNvPr id="13" name="Group 12">
            <a:extLst>
              <a:ext uri="{FF2B5EF4-FFF2-40B4-BE49-F238E27FC236}">
                <a16:creationId xmlns:a16="http://schemas.microsoft.com/office/drawing/2014/main" id="{FB2B6032-1003-50C4-CA73-95A1F4B341B7}"/>
              </a:ext>
            </a:extLst>
          </p:cNvPr>
          <p:cNvGrpSpPr/>
          <p:nvPr/>
        </p:nvGrpSpPr>
        <p:grpSpPr>
          <a:xfrm>
            <a:off x="9970719" y="2408364"/>
            <a:ext cx="53814" cy="1257703"/>
            <a:chOff x="9970719" y="2821722"/>
            <a:chExt cx="62630" cy="1326413"/>
          </a:xfrm>
        </p:grpSpPr>
        <p:sp>
          <p:nvSpPr>
            <p:cNvPr id="4" name="Rectangle 3">
              <a:extLst>
                <a:ext uri="{FF2B5EF4-FFF2-40B4-BE49-F238E27FC236}">
                  <a16:creationId xmlns:a16="http://schemas.microsoft.com/office/drawing/2014/main" id="{E661E178-3EE7-7E12-C785-2975BC064748}"/>
                </a:ext>
              </a:extLst>
            </p:cNvPr>
            <p:cNvSpPr/>
            <p:nvPr/>
          </p:nvSpPr>
          <p:spPr>
            <a:xfrm>
              <a:off x="9970719" y="2821722"/>
              <a:ext cx="62630" cy="1326413"/>
            </a:xfrm>
            <a:prstGeom prst="rect">
              <a:avLst/>
            </a:prstGeom>
            <a:solidFill>
              <a:schemeClr val="bg1">
                <a:lumMod val="6500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Isosceles Triangle 7">
              <a:extLst>
                <a:ext uri="{FF2B5EF4-FFF2-40B4-BE49-F238E27FC236}">
                  <a16:creationId xmlns:a16="http://schemas.microsoft.com/office/drawing/2014/main" id="{F989CE47-8718-9CCB-9BE8-C91276772C93}"/>
                </a:ext>
              </a:extLst>
            </p:cNvPr>
            <p:cNvSpPr/>
            <p:nvPr/>
          </p:nvSpPr>
          <p:spPr>
            <a:xfrm rot="10800000">
              <a:off x="9980931" y="4086225"/>
              <a:ext cx="45719" cy="47625"/>
            </a:xfrm>
            <a:prstGeom prst="triangle">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Isosceles Triangle 8">
              <a:extLst>
                <a:ext uri="{FF2B5EF4-FFF2-40B4-BE49-F238E27FC236}">
                  <a16:creationId xmlns:a16="http://schemas.microsoft.com/office/drawing/2014/main" id="{508A9E26-B783-597C-A7FF-E51228AF9D1D}"/>
                </a:ext>
              </a:extLst>
            </p:cNvPr>
            <p:cNvSpPr/>
            <p:nvPr/>
          </p:nvSpPr>
          <p:spPr>
            <a:xfrm>
              <a:off x="9980931" y="2829447"/>
              <a:ext cx="45719" cy="47625"/>
            </a:xfrm>
            <a:prstGeom prst="triangle">
              <a:avLst/>
            </a:prstGeom>
            <a:solidFill>
              <a:schemeClr val="tx1">
                <a:lumMod val="85000"/>
                <a:lumOff val="1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3" name="Oval 22">
            <a:extLst>
              <a:ext uri="{FF2B5EF4-FFF2-40B4-BE49-F238E27FC236}">
                <a16:creationId xmlns:a16="http://schemas.microsoft.com/office/drawing/2014/main" id="{81E6EF88-03D5-4FBA-6E26-C5D1809AFB13}"/>
              </a:ext>
            </a:extLst>
          </p:cNvPr>
          <p:cNvSpPr/>
          <p:nvPr/>
        </p:nvSpPr>
        <p:spPr>
          <a:xfrm>
            <a:off x="9757776" y="2091999"/>
            <a:ext cx="212943" cy="175364"/>
          </a:xfrm>
          <a:prstGeom prst="ellipse">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200">
                <a:solidFill>
                  <a:schemeClr val="tx1">
                    <a:lumMod val="95000"/>
                    <a:lumOff val="5000"/>
                  </a:schemeClr>
                </a:solidFill>
              </a:rPr>
              <a:t>?</a:t>
            </a:r>
            <a:endParaRPr lang="en-US" sz="1200">
              <a:solidFill>
                <a:schemeClr val="tx1">
                  <a:lumMod val="95000"/>
                  <a:lumOff val="5000"/>
                </a:schemeClr>
              </a:solidFill>
            </a:endParaRPr>
          </a:p>
        </p:txBody>
      </p:sp>
      <p:sp>
        <p:nvSpPr>
          <p:cNvPr id="24" name="Oval 23">
            <a:extLst>
              <a:ext uri="{FF2B5EF4-FFF2-40B4-BE49-F238E27FC236}">
                <a16:creationId xmlns:a16="http://schemas.microsoft.com/office/drawing/2014/main" id="{E02B917A-695C-954E-B85B-301D1D86F553}"/>
              </a:ext>
            </a:extLst>
          </p:cNvPr>
          <p:cNvSpPr/>
          <p:nvPr/>
        </p:nvSpPr>
        <p:spPr>
          <a:xfrm>
            <a:off x="9767988" y="4475074"/>
            <a:ext cx="212943" cy="175364"/>
          </a:xfrm>
          <a:prstGeom prst="ellipse">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200">
                <a:solidFill>
                  <a:schemeClr val="tx1">
                    <a:lumMod val="95000"/>
                    <a:lumOff val="5000"/>
                  </a:schemeClr>
                </a:solidFill>
              </a:rPr>
              <a:t>?</a:t>
            </a:r>
            <a:endParaRPr lang="en-US" sz="1200">
              <a:solidFill>
                <a:schemeClr val="tx1">
                  <a:lumMod val="95000"/>
                  <a:lumOff val="5000"/>
                </a:schemeClr>
              </a:solidFill>
            </a:endParaRPr>
          </a:p>
        </p:txBody>
      </p:sp>
      <p:sp>
        <p:nvSpPr>
          <p:cNvPr id="26" name="Rectangle 25">
            <a:extLst>
              <a:ext uri="{FF2B5EF4-FFF2-40B4-BE49-F238E27FC236}">
                <a16:creationId xmlns:a16="http://schemas.microsoft.com/office/drawing/2014/main" id="{006AB05B-4BD3-8A04-29FB-8316AE29EC75}"/>
              </a:ext>
            </a:extLst>
          </p:cNvPr>
          <p:cNvSpPr/>
          <p:nvPr/>
        </p:nvSpPr>
        <p:spPr>
          <a:xfrm>
            <a:off x="7704472" y="4453600"/>
            <a:ext cx="899540" cy="2178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900"/>
              <a:t>Translate</a:t>
            </a:r>
            <a:endParaRPr lang="en-US" sz="900"/>
          </a:p>
        </p:txBody>
      </p:sp>
      <p:sp>
        <p:nvSpPr>
          <p:cNvPr id="27" name="Rectangle 26">
            <a:extLst>
              <a:ext uri="{FF2B5EF4-FFF2-40B4-BE49-F238E27FC236}">
                <a16:creationId xmlns:a16="http://schemas.microsoft.com/office/drawing/2014/main" id="{D0A0F695-FAFA-D453-6821-0FFCFF8CB53A}"/>
              </a:ext>
            </a:extLst>
          </p:cNvPr>
          <p:cNvSpPr/>
          <p:nvPr/>
        </p:nvSpPr>
        <p:spPr>
          <a:xfrm>
            <a:off x="8709321" y="4458617"/>
            <a:ext cx="899541" cy="217864"/>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900" err="1">
                <a:solidFill>
                  <a:schemeClr val="tx1">
                    <a:lumMod val="85000"/>
                    <a:lumOff val="15000"/>
                  </a:schemeClr>
                </a:solidFill>
              </a:rPr>
              <a:t>Save </a:t>
            </a:r>
            <a:r>
              <a:rPr lang="fi-FI" sz="900" err="1">
                <a:solidFill>
                  <a:schemeClr val="tx1">
                    <a:lumMod val="85000"/>
                    <a:lumOff val="15000"/>
                  </a:schemeClr>
                </a:solidFill>
              </a:rPr>
              <a:t>changes</a:t>
            </a:r>
            <a:endParaRPr lang="en-US" sz="900">
              <a:solidFill>
                <a:schemeClr val="tx1">
                  <a:lumMod val="85000"/>
                  <a:lumOff val="15000"/>
                </a:schemeClr>
              </a:solidFill>
            </a:endParaRPr>
          </a:p>
        </p:txBody>
      </p:sp>
      <p:sp>
        <p:nvSpPr>
          <p:cNvPr id="28" name="TextBox 27">
            <a:extLst>
              <a:ext uri="{FF2B5EF4-FFF2-40B4-BE49-F238E27FC236}">
                <a16:creationId xmlns:a16="http://schemas.microsoft.com/office/drawing/2014/main" id="{434C8072-2B66-5F5C-635E-AA9B365AD6CA}"/>
              </a:ext>
            </a:extLst>
          </p:cNvPr>
          <p:cNvSpPr txBox="1"/>
          <p:nvPr/>
        </p:nvSpPr>
        <p:spPr>
          <a:xfrm>
            <a:off x="2188807" y="3844388"/>
            <a:ext cx="4863346" cy="276999"/>
          </a:xfrm>
          <a:prstGeom prst="rect">
            <a:avLst/>
          </a:prstGeom>
          <a:noFill/>
        </p:spPr>
        <p:txBody>
          <a:bodyPr wrap="square" rtlCol="0">
            <a:spAutoFit/>
          </a:bodyPr>
          <a:lstStyle/>
          <a:p>
            <a:r>
              <a:rPr lang="fi-FI" sz="1200" b="1" err="1"/>
              <a:t>Step </a:t>
            </a:r>
            <a:r>
              <a:rPr lang="fi-FI" sz="1200" b="1"/>
              <a:t>2: Translate, choose favourite translation and </a:t>
            </a:r>
            <a:r>
              <a:rPr lang="fi-FI" sz="1200" b="1" err="1"/>
              <a:t>edit </a:t>
            </a:r>
            <a:r>
              <a:rPr lang="fi-FI" sz="1200" b="1"/>
              <a:t>text chunks</a:t>
            </a:r>
            <a:endParaRPr lang="en-US" sz="1200" b="1"/>
          </a:p>
        </p:txBody>
      </p:sp>
      <p:grpSp>
        <p:nvGrpSpPr>
          <p:cNvPr id="29" name="Group 28">
            <a:extLst>
              <a:ext uri="{FF2B5EF4-FFF2-40B4-BE49-F238E27FC236}">
                <a16:creationId xmlns:a16="http://schemas.microsoft.com/office/drawing/2014/main" id="{0D94181A-E147-E4BB-BAAD-D4A056ED695C}"/>
              </a:ext>
            </a:extLst>
          </p:cNvPr>
          <p:cNvGrpSpPr/>
          <p:nvPr/>
        </p:nvGrpSpPr>
        <p:grpSpPr>
          <a:xfrm>
            <a:off x="2254685" y="4165941"/>
            <a:ext cx="676408" cy="175365"/>
            <a:chOff x="2292263" y="2261833"/>
            <a:chExt cx="676408" cy="175365"/>
          </a:xfrm>
        </p:grpSpPr>
        <p:sp>
          <p:nvSpPr>
            <p:cNvPr id="30" name="Oval 29">
              <a:extLst>
                <a:ext uri="{FF2B5EF4-FFF2-40B4-BE49-F238E27FC236}">
                  <a16:creationId xmlns:a16="http://schemas.microsoft.com/office/drawing/2014/main" id="{C9A9B54F-7579-54B0-A5C3-FD2130A0A789}"/>
                </a:ext>
              </a:extLst>
            </p:cNvPr>
            <p:cNvSpPr/>
            <p:nvPr/>
          </p:nvSpPr>
          <p:spPr>
            <a:xfrm>
              <a:off x="2292263" y="2262135"/>
              <a:ext cx="175364" cy="175063"/>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100"/>
                <a:t>1</a:t>
              </a:r>
              <a:endParaRPr lang="en-US" sz="1100"/>
            </a:p>
          </p:txBody>
        </p:sp>
        <p:sp>
          <p:nvSpPr>
            <p:cNvPr id="31" name="Oval 30">
              <a:extLst>
                <a:ext uri="{FF2B5EF4-FFF2-40B4-BE49-F238E27FC236}">
                  <a16:creationId xmlns:a16="http://schemas.microsoft.com/office/drawing/2014/main" id="{578E83DD-D51D-9759-02C1-72095FEC5B5F}"/>
                </a:ext>
              </a:extLst>
            </p:cNvPr>
            <p:cNvSpPr/>
            <p:nvPr/>
          </p:nvSpPr>
          <p:spPr>
            <a:xfrm>
              <a:off x="2542785" y="2262135"/>
              <a:ext cx="175364" cy="175063"/>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100"/>
                <a:t>2</a:t>
              </a:r>
              <a:endParaRPr lang="en-US" sz="1100"/>
            </a:p>
          </p:txBody>
        </p:sp>
        <p:sp>
          <p:nvSpPr>
            <p:cNvPr id="32" name="Oval 31">
              <a:extLst>
                <a:ext uri="{FF2B5EF4-FFF2-40B4-BE49-F238E27FC236}">
                  <a16:creationId xmlns:a16="http://schemas.microsoft.com/office/drawing/2014/main" id="{D7D3373D-9321-A924-2D6B-6DACD7A46E73}"/>
                </a:ext>
              </a:extLst>
            </p:cNvPr>
            <p:cNvSpPr/>
            <p:nvPr/>
          </p:nvSpPr>
          <p:spPr>
            <a:xfrm>
              <a:off x="2793307" y="2261833"/>
              <a:ext cx="175364" cy="175063"/>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100"/>
                <a:t>3</a:t>
              </a:r>
              <a:endParaRPr lang="en-US" sz="1100"/>
            </a:p>
          </p:txBody>
        </p:sp>
      </p:grpSp>
    </p:spTree>
    <p:extLst>
      <p:ext uri="{BB962C8B-B14F-4D97-AF65-F5344CB8AC3E}">
        <p14:creationId xmlns:p14="http://schemas.microsoft.com/office/powerpoint/2010/main" val="2760413486"/>
      </p:ext>
    </p:extLst>
  </p:cSld>
  <p:clrMapOvr>
    <a:masterClrMapping/>
  </p:clrMapOvr>
</p:sld>
</file>

<file path=ppt/slides/slide14.xml><?xml version="1.0" encoding="utf-8"?>
<p:sld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468C941-9951-048B-B123-54CF20A0E642}"/>
              </a:ext>
            </a:extLst>
          </p:cNvPr>
          <p:cNvSpPr/>
          <p:nvPr/>
        </p:nvSpPr>
        <p:spPr>
          <a:xfrm>
            <a:off x="2041741" y="1"/>
            <a:ext cx="8210811" cy="6858000"/>
          </a:xfrm>
          <a:prstGeom prst="rect">
            <a:avLst/>
          </a:prstGeom>
          <a:solidFill>
            <a:srgbClr val="F9FA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728FA325-0E4B-41A1-97AD-3BB4281C2337}"/>
              </a:ext>
            </a:extLst>
          </p:cNvPr>
          <p:cNvPicPr>
            <a:picLocks noChangeAspect="1"/>
          </p:cNvPicPr>
          <p:nvPr/>
        </p:nvPicPr>
        <p:blipFill>
          <a:blip r:embed="rId2"/>
          <a:srcRect t="13506" b="20130"/>
          <a:stretch/>
        </p:blipFill>
        <p:spPr>
          <a:xfrm>
            <a:off x="2041742" y="37879"/>
            <a:ext cx="8210811" cy="1878905"/>
          </a:xfrm>
          <a:prstGeom prst="rect">
            <a:avLst/>
          </a:prstGeom>
        </p:spPr>
      </p:pic>
      <p:sp>
        <p:nvSpPr>
          <p:cNvPr id="6" name="TextBox 5">
            <a:extLst>
              <a:ext uri="{FF2B5EF4-FFF2-40B4-BE49-F238E27FC236}">
                <a16:creationId xmlns:a16="http://schemas.microsoft.com/office/drawing/2014/main" id="{5CC3988C-31E8-8348-3EC7-5BB432506523}"/>
              </a:ext>
            </a:extLst>
          </p:cNvPr>
          <p:cNvSpPr txBox="1"/>
          <p:nvPr/>
        </p:nvSpPr>
        <p:spPr>
          <a:xfrm>
            <a:off x="0" y="-369332"/>
            <a:ext cx="2567836" cy="369332"/>
          </a:xfrm>
          <a:prstGeom prst="rect">
            <a:avLst/>
          </a:prstGeom>
          <a:noFill/>
        </p:spPr>
        <p:txBody>
          <a:bodyPr wrap="square" rtlCol="0">
            <a:spAutoFit/>
          </a:bodyPr>
          <a:lstStyle/>
          <a:p>
            <a:r>
              <a:rPr lang="fi-FI" err="1"/>
              <a:t>Vertical </a:t>
            </a:r>
            <a:r>
              <a:rPr lang="fi-FI" err="1"/>
              <a:t>split </a:t>
            </a:r>
            <a:r>
              <a:rPr lang="fi-FI"/>
              <a:t>layout</a:t>
            </a:r>
            <a:endParaRPr lang="en-US"/>
          </a:p>
        </p:txBody>
      </p:sp>
      <p:sp>
        <p:nvSpPr>
          <p:cNvPr id="7" name="Rectangle 6">
            <a:extLst>
              <a:ext uri="{FF2B5EF4-FFF2-40B4-BE49-F238E27FC236}">
                <a16:creationId xmlns:a16="http://schemas.microsoft.com/office/drawing/2014/main" id="{A47EB3B4-A927-9B5F-0A4F-558E540E9C27}"/>
              </a:ext>
            </a:extLst>
          </p:cNvPr>
          <p:cNvSpPr/>
          <p:nvPr/>
        </p:nvSpPr>
        <p:spPr>
          <a:xfrm>
            <a:off x="2254685" y="2022953"/>
            <a:ext cx="7809978" cy="32567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i-FI" sz="1000">
                <a:solidFill>
                  <a:sysClr val="windowText" lastClr="000000"/>
                </a:solidFill>
              </a:rPr>
              <a:t>Original </a:t>
            </a:r>
            <a:r>
              <a:rPr lang="fi-FI" sz="1000" err="1">
                <a:solidFill>
                  <a:sysClr val="windowText" lastClr="000000"/>
                </a:solidFill>
              </a:rPr>
              <a:t>text</a:t>
            </a:r>
            <a:endParaRPr lang="en-US" sz="1000">
              <a:solidFill>
                <a:sysClr val="windowText" lastClr="000000"/>
              </a:solidFill>
            </a:endParaRPr>
          </a:p>
        </p:txBody>
      </p:sp>
      <p:sp>
        <p:nvSpPr>
          <p:cNvPr id="10" name="Rectangle 9">
            <a:extLst>
              <a:ext uri="{FF2B5EF4-FFF2-40B4-BE49-F238E27FC236}">
                <a16:creationId xmlns:a16="http://schemas.microsoft.com/office/drawing/2014/main" id="{A0BAD793-E839-CD2D-D36C-D654E0EE0B66}"/>
              </a:ext>
            </a:extLst>
          </p:cNvPr>
          <p:cNvSpPr/>
          <p:nvPr/>
        </p:nvSpPr>
        <p:spPr>
          <a:xfrm>
            <a:off x="2254685" y="3109136"/>
            <a:ext cx="7809978" cy="319114"/>
          </a:xfrm>
          <a:prstGeom prst="rect">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i-FI" sz="1000" err="1">
                <a:solidFill>
                  <a:sysClr val="windowText" lastClr="000000"/>
                </a:solidFill>
              </a:rPr>
              <a:t>Chunk </a:t>
            </a:r>
            <a:r>
              <a:rPr lang="fi-FI" sz="1000">
                <a:solidFill>
                  <a:sysClr val="windowText" lastClr="000000"/>
                </a:solidFill>
              </a:rPr>
              <a:t>1 / 3</a:t>
            </a:r>
            <a:endParaRPr lang="en-US" sz="1000">
              <a:solidFill>
                <a:sysClr val="windowText" lastClr="000000"/>
              </a:solidFill>
            </a:endParaRPr>
          </a:p>
        </p:txBody>
      </p:sp>
      <p:sp>
        <p:nvSpPr>
          <p:cNvPr id="16" name="Rectangle 15">
            <a:extLst>
              <a:ext uri="{FF2B5EF4-FFF2-40B4-BE49-F238E27FC236}">
                <a16:creationId xmlns:a16="http://schemas.microsoft.com/office/drawing/2014/main" id="{D8765374-E4A0-3DF3-608A-4721EEA97AF5}"/>
              </a:ext>
            </a:extLst>
          </p:cNvPr>
          <p:cNvSpPr/>
          <p:nvPr/>
        </p:nvSpPr>
        <p:spPr>
          <a:xfrm>
            <a:off x="2254685" y="3425570"/>
            <a:ext cx="7809978" cy="1415246"/>
          </a:xfrm>
          <a:prstGeom prst="rect">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r>
              <a:rPr lang="en-US" sz="900" b="0" i="0">
                <a:solidFill>
                  <a:srgbClr val="000000"/>
                </a:solidFill>
                <a:effectLst/>
                <a:latin typeface="Open Sans" panose="020B0606030504020204" pitchFamily="34" charset="0"/>
              </a:rPr>
              <a:t>Lorem ipsum dolor sit amet, consectetur adipiscing elit. Pellentesque molestie arcu at tortor venenatis, eget tristique est consequat. Nulla vehicula ultricies metus ac fringilla. Vestibulum tincidunt euismod quam nec ullamcorper. Aliquam tristique lacus ac gravida iaculis. Quisque faucibus convallis sem, dictum luctus nulla ultricies sed. Nullam pharetra venenatis lorem, in dictum sapien hendrerit eget. Quisque ut ullamcorper dolor, eu malesuada mi. Ut dignissim ultricies ligula laoreet porttitor. Etiam dictum vestibulum porta. Maecenas viverra ante urna, ac consectetur elit elementum sit amet. Morbi in volutpat sem. Donec venenatis non elit ac viverra. Aenean pretium est faucibus, rutrum sapien id, bibendum sapien. Vivamus risus diam, tempus in arcu et, iaculis finibus augue. Cras feugiat, felis non fermentum facilisis, nisi nisi interdum libero, eu faucibus massa enim ut arcu.</a:t>
            </a:r>
          </a:p>
          <a:p>
            <a:pPr algn="just"/>
            <a:endParaRPr lang="en-US" sz="900" b="0" i="0">
              <a:solidFill>
                <a:srgbClr val="000000"/>
              </a:solidFill>
              <a:effectLst/>
              <a:latin typeface="Open Sans" panose="020B0606030504020204" pitchFamily="34" charset="0"/>
            </a:endParaRPr>
          </a:p>
        </p:txBody>
      </p:sp>
      <p:sp>
        <p:nvSpPr>
          <p:cNvPr id="23" name="Oval 22">
            <a:extLst>
              <a:ext uri="{FF2B5EF4-FFF2-40B4-BE49-F238E27FC236}">
                <a16:creationId xmlns:a16="http://schemas.microsoft.com/office/drawing/2014/main" id="{81E6EF88-03D5-4FBA-6E26-C5D1809AFB13}"/>
              </a:ext>
            </a:extLst>
          </p:cNvPr>
          <p:cNvSpPr/>
          <p:nvPr/>
        </p:nvSpPr>
        <p:spPr>
          <a:xfrm>
            <a:off x="9757776" y="2091999"/>
            <a:ext cx="212943" cy="175364"/>
          </a:xfrm>
          <a:prstGeom prst="ellipse">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200">
                <a:solidFill>
                  <a:schemeClr val="tx1">
                    <a:lumMod val="95000"/>
                    <a:lumOff val="5000"/>
                  </a:schemeClr>
                </a:solidFill>
              </a:rPr>
              <a:t>?</a:t>
            </a:r>
            <a:endParaRPr lang="en-US" sz="1200">
              <a:solidFill>
                <a:schemeClr val="tx1">
                  <a:lumMod val="95000"/>
                  <a:lumOff val="5000"/>
                </a:schemeClr>
              </a:solidFill>
            </a:endParaRPr>
          </a:p>
        </p:txBody>
      </p:sp>
      <p:sp>
        <p:nvSpPr>
          <p:cNvPr id="24" name="Oval 23">
            <a:extLst>
              <a:ext uri="{FF2B5EF4-FFF2-40B4-BE49-F238E27FC236}">
                <a16:creationId xmlns:a16="http://schemas.microsoft.com/office/drawing/2014/main" id="{E02B917A-695C-954E-B85B-301D1D86F553}"/>
              </a:ext>
            </a:extLst>
          </p:cNvPr>
          <p:cNvSpPr/>
          <p:nvPr/>
        </p:nvSpPr>
        <p:spPr>
          <a:xfrm>
            <a:off x="9767988" y="3172370"/>
            <a:ext cx="212943" cy="175364"/>
          </a:xfrm>
          <a:prstGeom prst="ellipse">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200">
                <a:solidFill>
                  <a:schemeClr val="tx1">
                    <a:lumMod val="95000"/>
                    <a:lumOff val="5000"/>
                  </a:schemeClr>
                </a:solidFill>
              </a:rPr>
              <a:t>?</a:t>
            </a:r>
            <a:endParaRPr lang="en-US" sz="1200">
              <a:solidFill>
                <a:schemeClr val="tx1">
                  <a:lumMod val="95000"/>
                  <a:lumOff val="5000"/>
                </a:schemeClr>
              </a:solidFill>
            </a:endParaRPr>
          </a:p>
        </p:txBody>
      </p:sp>
      <p:sp>
        <p:nvSpPr>
          <p:cNvPr id="25" name="TextBox 24">
            <a:extLst>
              <a:ext uri="{FF2B5EF4-FFF2-40B4-BE49-F238E27FC236}">
                <a16:creationId xmlns:a16="http://schemas.microsoft.com/office/drawing/2014/main" id="{A7FE63DC-C3D8-47DE-E69A-2B9EE17BBD78}"/>
              </a:ext>
            </a:extLst>
          </p:cNvPr>
          <p:cNvSpPr txBox="1"/>
          <p:nvPr/>
        </p:nvSpPr>
        <p:spPr>
          <a:xfrm>
            <a:off x="2195070" y="2532508"/>
            <a:ext cx="4863346" cy="276999"/>
          </a:xfrm>
          <a:prstGeom prst="rect">
            <a:avLst/>
          </a:prstGeom>
          <a:noFill/>
        </p:spPr>
        <p:txBody>
          <a:bodyPr wrap="square" rtlCol="0">
            <a:spAutoFit/>
          </a:bodyPr>
          <a:lstStyle/>
          <a:p>
            <a:r>
              <a:rPr lang="fi-FI" sz="1200" b="1" err="1"/>
              <a:t>Step </a:t>
            </a:r>
            <a:r>
              <a:rPr lang="fi-FI" sz="1200" b="1"/>
              <a:t>2: Translate, choose favourite translation and </a:t>
            </a:r>
            <a:r>
              <a:rPr lang="fi-FI" sz="1200" b="1" err="1"/>
              <a:t>edit </a:t>
            </a:r>
            <a:r>
              <a:rPr lang="fi-FI" sz="1200" b="1"/>
              <a:t>text chunks</a:t>
            </a:r>
            <a:endParaRPr lang="en-US" sz="1200" b="1"/>
          </a:p>
        </p:txBody>
      </p:sp>
      <p:sp>
        <p:nvSpPr>
          <p:cNvPr id="26" name="Rectangle 25">
            <a:extLst>
              <a:ext uri="{FF2B5EF4-FFF2-40B4-BE49-F238E27FC236}">
                <a16:creationId xmlns:a16="http://schemas.microsoft.com/office/drawing/2014/main" id="{006AB05B-4BD3-8A04-29FB-8316AE29EC75}"/>
              </a:ext>
            </a:extLst>
          </p:cNvPr>
          <p:cNvSpPr/>
          <p:nvPr/>
        </p:nvSpPr>
        <p:spPr>
          <a:xfrm>
            <a:off x="7704472" y="3150896"/>
            <a:ext cx="899540" cy="2178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900"/>
              <a:t>Translate</a:t>
            </a:r>
            <a:endParaRPr lang="en-US" sz="900"/>
          </a:p>
        </p:txBody>
      </p:sp>
      <p:sp>
        <p:nvSpPr>
          <p:cNvPr id="27" name="Rectangle 26">
            <a:extLst>
              <a:ext uri="{FF2B5EF4-FFF2-40B4-BE49-F238E27FC236}">
                <a16:creationId xmlns:a16="http://schemas.microsoft.com/office/drawing/2014/main" id="{D0A0F695-FAFA-D453-6821-0FFCFF8CB53A}"/>
              </a:ext>
            </a:extLst>
          </p:cNvPr>
          <p:cNvSpPr/>
          <p:nvPr/>
        </p:nvSpPr>
        <p:spPr>
          <a:xfrm>
            <a:off x="8709321" y="3155913"/>
            <a:ext cx="899541" cy="217864"/>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900" err="1">
                <a:solidFill>
                  <a:schemeClr val="tx1">
                    <a:lumMod val="85000"/>
                    <a:lumOff val="15000"/>
                  </a:schemeClr>
                </a:solidFill>
              </a:rPr>
              <a:t>Save </a:t>
            </a:r>
            <a:r>
              <a:rPr lang="fi-FI" sz="900" err="1">
                <a:solidFill>
                  <a:schemeClr val="tx1">
                    <a:lumMod val="85000"/>
                    <a:lumOff val="15000"/>
                  </a:schemeClr>
                </a:solidFill>
              </a:rPr>
              <a:t>changes</a:t>
            </a:r>
            <a:endParaRPr lang="en-US" sz="900">
              <a:solidFill>
                <a:schemeClr val="tx1">
                  <a:lumMod val="85000"/>
                  <a:lumOff val="15000"/>
                </a:schemeClr>
              </a:solidFill>
            </a:endParaRPr>
          </a:p>
        </p:txBody>
      </p:sp>
      <p:sp>
        <p:nvSpPr>
          <p:cNvPr id="5" name="Rectangle 4">
            <a:extLst>
              <a:ext uri="{FF2B5EF4-FFF2-40B4-BE49-F238E27FC236}">
                <a16:creationId xmlns:a16="http://schemas.microsoft.com/office/drawing/2014/main" id="{EBD7460E-B2BE-B072-1F18-A9684025E358}"/>
              </a:ext>
            </a:extLst>
          </p:cNvPr>
          <p:cNvSpPr/>
          <p:nvPr/>
        </p:nvSpPr>
        <p:spPr>
          <a:xfrm>
            <a:off x="2254685" y="4840817"/>
            <a:ext cx="7809978" cy="1459776"/>
          </a:xfrm>
          <a:prstGeom prst="rect">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r>
              <a:rPr lang="en-US" sz="900" b="0" i="0">
                <a:solidFill>
                  <a:srgbClr val="000000"/>
                </a:solidFill>
                <a:effectLst/>
                <a:latin typeface="Open Sans" panose="020B0606030504020204" pitchFamily="34" charset="0"/>
              </a:rPr>
              <a:t>Lorem ipsum dolor sit amet, consectetur adipiscing elit. Pellentesque molestie arcu at tortor venenatis, eget tristique est consequat. Nulla vehicula ultricies metus ac fringilla. Vestibulum tincidunt euismod quam nec ullamcorper. Aliquam tristique lacus ac gravida iaculis. Quisque faucibus convallis sem, dictum luctus nulla ultricies sed. Nullam pharetra venenatis lorem, in dictum sapien hendrerit eget. Quisque ut ullamcorper dolor, eu malesuada mi. Ut dignissim ultricies ligula laoreet porttitor. Etiam dictum vestibulum porta. Maecenas viverra ante urna, ac consectetur elit elementum sit amet. Morbi in volutpat sem. Donec venenatis non elit ac viverra. Aenean pretium est faucibus, rutrum sapien id, bibendum sapien. Vivamus risus diam, tempus in arcu et, iaculis finibus augue. Cras feugiat, felis non fermentum facilisis, nisi nisi interdum libero, eu faucibus massa enim ut arcu.</a:t>
            </a:r>
          </a:p>
          <a:p>
            <a:pPr algn="just"/>
            <a:endParaRPr lang="en-US" sz="900" b="0" i="0">
              <a:solidFill>
                <a:srgbClr val="000000"/>
              </a:solidFill>
              <a:effectLst/>
              <a:latin typeface="Open Sans" panose="020B0606030504020204" pitchFamily="34" charset="0"/>
            </a:endParaRPr>
          </a:p>
        </p:txBody>
      </p:sp>
      <p:sp>
        <p:nvSpPr>
          <p:cNvPr id="17" name="Rectangle 16">
            <a:extLst>
              <a:ext uri="{FF2B5EF4-FFF2-40B4-BE49-F238E27FC236}">
                <a16:creationId xmlns:a16="http://schemas.microsoft.com/office/drawing/2014/main" id="{878B0646-D42C-F21B-7F9C-B65D9DC671E7}"/>
              </a:ext>
            </a:extLst>
          </p:cNvPr>
          <p:cNvSpPr/>
          <p:nvPr/>
        </p:nvSpPr>
        <p:spPr>
          <a:xfrm>
            <a:off x="2343537" y="4546069"/>
            <a:ext cx="950808" cy="2293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900"/>
              <a:t>Choose GPT</a:t>
            </a:r>
            <a:endParaRPr lang="en-US" sz="900"/>
          </a:p>
        </p:txBody>
      </p:sp>
      <p:sp>
        <p:nvSpPr>
          <p:cNvPr id="18" name="Rectangle 17">
            <a:extLst>
              <a:ext uri="{FF2B5EF4-FFF2-40B4-BE49-F238E27FC236}">
                <a16:creationId xmlns:a16="http://schemas.microsoft.com/office/drawing/2014/main" id="{D3A83BF0-0447-0391-C3BE-95C967D482FF}"/>
              </a:ext>
            </a:extLst>
          </p:cNvPr>
          <p:cNvSpPr/>
          <p:nvPr/>
        </p:nvSpPr>
        <p:spPr>
          <a:xfrm>
            <a:off x="2343537" y="5977278"/>
            <a:ext cx="950808" cy="22936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900"/>
              <a:t>Choose DeepL</a:t>
            </a:r>
            <a:endParaRPr lang="en-US" sz="900"/>
          </a:p>
        </p:txBody>
      </p:sp>
      <p:sp>
        <p:nvSpPr>
          <p:cNvPr id="19" name="Rectangle 18">
            <a:extLst>
              <a:ext uri="{FF2B5EF4-FFF2-40B4-BE49-F238E27FC236}">
                <a16:creationId xmlns:a16="http://schemas.microsoft.com/office/drawing/2014/main" id="{85EBE361-55B9-E356-5F2D-A009678E4B8D}"/>
              </a:ext>
            </a:extLst>
          </p:cNvPr>
          <p:cNvSpPr/>
          <p:nvPr/>
        </p:nvSpPr>
        <p:spPr>
          <a:xfrm>
            <a:off x="2260948" y="6486928"/>
            <a:ext cx="7809978" cy="31911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i-FI" sz="1000" err="1">
                <a:solidFill>
                  <a:sysClr val="windowText" lastClr="000000"/>
                </a:solidFill>
              </a:rPr>
              <a:t>Translated </a:t>
            </a:r>
            <a:r>
              <a:rPr lang="fi-FI" sz="1000" err="1">
                <a:solidFill>
                  <a:sysClr val="windowText" lastClr="000000"/>
                </a:solidFill>
              </a:rPr>
              <a:t>text</a:t>
            </a:r>
            <a:endParaRPr lang="en-US" sz="1000">
              <a:solidFill>
                <a:sysClr val="windowText" lastClr="000000"/>
              </a:solidFill>
            </a:endParaRPr>
          </a:p>
        </p:txBody>
      </p:sp>
      <p:sp>
        <p:nvSpPr>
          <p:cNvPr id="20" name="Oval 19">
            <a:extLst>
              <a:ext uri="{FF2B5EF4-FFF2-40B4-BE49-F238E27FC236}">
                <a16:creationId xmlns:a16="http://schemas.microsoft.com/office/drawing/2014/main" id="{B889E588-6474-59BD-4050-0F8027B0CD09}"/>
              </a:ext>
            </a:extLst>
          </p:cNvPr>
          <p:cNvSpPr/>
          <p:nvPr/>
        </p:nvSpPr>
        <p:spPr>
          <a:xfrm>
            <a:off x="9787002" y="6557378"/>
            <a:ext cx="212943" cy="175364"/>
          </a:xfrm>
          <a:prstGeom prst="ellipse">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200">
                <a:solidFill>
                  <a:schemeClr val="tx1">
                    <a:lumMod val="95000"/>
                    <a:lumOff val="5000"/>
                  </a:schemeClr>
                </a:solidFill>
              </a:rPr>
              <a:t>?</a:t>
            </a:r>
            <a:endParaRPr lang="en-US" sz="1200">
              <a:solidFill>
                <a:schemeClr val="tx1">
                  <a:lumMod val="95000"/>
                  <a:lumOff val="5000"/>
                </a:schemeClr>
              </a:solidFill>
            </a:endParaRPr>
          </a:p>
        </p:txBody>
      </p:sp>
      <p:grpSp>
        <p:nvGrpSpPr>
          <p:cNvPr id="21" name="Group 20">
            <a:extLst>
              <a:ext uri="{FF2B5EF4-FFF2-40B4-BE49-F238E27FC236}">
                <a16:creationId xmlns:a16="http://schemas.microsoft.com/office/drawing/2014/main" id="{CCA3C67B-644E-D736-003D-1B65AE98C9E2}"/>
              </a:ext>
            </a:extLst>
          </p:cNvPr>
          <p:cNvGrpSpPr/>
          <p:nvPr/>
        </p:nvGrpSpPr>
        <p:grpSpPr>
          <a:xfrm>
            <a:off x="2254685" y="2855704"/>
            <a:ext cx="676408" cy="175365"/>
            <a:chOff x="2292263" y="2261833"/>
            <a:chExt cx="676408" cy="175365"/>
          </a:xfrm>
        </p:grpSpPr>
        <p:sp>
          <p:nvSpPr>
            <p:cNvPr id="22" name="Oval 21">
              <a:extLst>
                <a:ext uri="{FF2B5EF4-FFF2-40B4-BE49-F238E27FC236}">
                  <a16:creationId xmlns:a16="http://schemas.microsoft.com/office/drawing/2014/main" id="{54714C43-27A3-C248-C8BE-07E2F30E985C}"/>
                </a:ext>
              </a:extLst>
            </p:cNvPr>
            <p:cNvSpPr/>
            <p:nvPr/>
          </p:nvSpPr>
          <p:spPr>
            <a:xfrm>
              <a:off x="2292263" y="2262135"/>
              <a:ext cx="175364" cy="175063"/>
            </a:xfrm>
            <a:prstGeom prst="ellipse">
              <a:avLst/>
            </a:prstGeom>
            <a:solidFill>
              <a:srgbClr val="0E42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100"/>
                <a:t>1</a:t>
              </a:r>
              <a:endParaRPr lang="en-US" sz="1100"/>
            </a:p>
          </p:txBody>
        </p:sp>
        <p:sp>
          <p:nvSpPr>
            <p:cNvPr id="28" name="Oval 27">
              <a:extLst>
                <a:ext uri="{FF2B5EF4-FFF2-40B4-BE49-F238E27FC236}">
                  <a16:creationId xmlns:a16="http://schemas.microsoft.com/office/drawing/2014/main" id="{2E0AAE4D-F5FD-83B7-97B0-CF588DC1925E}"/>
                </a:ext>
              </a:extLst>
            </p:cNvPr>
            <p:cNvSpPr/>
            <p:nvPr/>
          </p:nvSpPr>
          <p:spPr>
            <a:xfrm>
              <a:off x="2542785" y="2262135"/>
              <a:ext cx="175364" cy="175063"/>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100"/>
                <a:t>2</a:t>
              </a:r>
              <a:endParaRPr lang="en-US" sz="1100"/>
            </a:p>
          </p:txBody>
        </p:sp>
        <p:sp>
          <p:nvSpPr>
            <p:cNvPr id="29" name="Oval 28">
              <a:extLst>
                <a:ext uri="{FF2B5EF4-FFF2-40B4-BE49-F238E27FC236}">
                  <a16:creationId xmlns:a16="http://schemas.microsoft.com/office/drawing/2014/main" id="{B44C9C4E-C35A-1831-C4B2-FA8E203CB0DD}"/>
                </a:ext>
              </a:extLst>
            </p:cNvPr>
            <p:cNvSpPr/>
            <p:nvPr/>
          </p:nvSpPr>
          <p:spPr>
            <a:xfrm>
              <a:off x="2793307" y="2261833"/>
              <a:ext cx="175364" cy="175063"/>
            </a:xfrm>
            <a:prstGeom prst="ellipse">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100"/>
                <a:t>3</a:t>
              </a:r>
              <a:endParaRPr lang="en-US" sz="1100"/>
            </a:p>
          </p:txBody>
        </p:sp>
      </p:grpSp>
    </p:spTree>
    <p:extLst>
      <p:ext uri="{BB962C8B-B14F-4D97-AF65-F5344CB8AC3E}">
        <p14:creationId xmlns:p14="http://schemas.microsoft.com/office/powerpoint/2010/main" val="3816002729"/>
      </p:ext>
    </p:extLst>
  </p:cSld>
  <p:clrMapOvr>
    <a:masterClrMapping/>
  </p:clrMapOvr>
</p:sld>
</file>

<file path=ppt/slides/slide15.xml><?xml version="1.0" encoding="utf-8"?>
<p:sld xmlns:a16="http://schemas.microsoft.com/office/drawing/2014/main"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D468C941-9951-048B-B123-54CF20A0E642}"/>
              </a:ext>
            </a:extLst>
          </p:cNvPr>
          <p:cNvSpPr/>
          <p:nvPr/>
        </p:nvSpPr>
        <p:spPr>
          <a:xfrm>
            <a:off x="2041741" y="1"/>
            <a:ext cx="8210811" cy="6858000"/>
          </a:xfrm>
          <a:prstGeom prst="rect">
            <a:avLst/>
          </a:prstGeom>
          <a:solidFill>
            <a:srgbClr val="F9FAF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a:extLst>
              <a:ext uri="{FF2B5EF4-FFF2-40B4-BE49-F238E27FC236}">
                <a16:creationId xmlns:a16="http://schemas.microsoft.com/office/drawing/2014/main" id="{728FA325-0E4B-41A1-97AD-3BB4281C2337}"/>
              </a:ext>
            </a:extLst>
          </p:cNvPr>
          <p:cNvPicPr>
            <a:picLocks noChangeAspect="1"/>
          </p:cNvPicPr>
          <p:nvPr/>
        </p:nvPicPr>
        <p:blipFill>
          <a:blip r:embed="rId3"/>
          <a:srcRect t="13506" b="20130"/>
          <a:stretch/>
        </p:blipFill>
        <p:spPr>
          <a:xfrm>
            <a:off x="2041742" y="37879"/>
            <a:ext cx="8210811" cy="1878905"/>
          </a:xfrm>
          <a:prstGeom prst="rect">
            <a:avLst/>
          </a:prstGeom>
        </p:spPr>
      </p:pic>
      <p:sp>
        <p:nvSpPr>
          <p:cNvPr id="6" name="TextBox 5">
            <a:extLst>
              <a:ext uri="{FF2B5EF4-FFF2-40B4-BE49-F238E27FC236}">
                <a16:creationId xmlns:a16="http://schemas.microsoft.com/office/drawing/2014/main" id="{5CC3988C-31E8-8348-3EC7-5BB432506523}"/>
              </a:ext>
            </a:extLst>
          </p:cNvPr>
          <p:cNvSpPr txBox="1"/>
          <p:nvPr/>
        </p:nvSpPr>
        <p:spPr>
          <a:xfrm>
            <a:off x="0" y="-369332"/>
            <a:ext cx="2567836" cy="369332"/>
          </a:xfrm>
          <a:prstGeom prst="rect">
            <a:avLst/>
          </a:prstGeom>
          <a:noFill/>
        </p:spPr>
        <p:txBody>
          <a:bodyPr wrap="square" rtlCol="0">
            <a:spAutoFit/>
          </a:bodyPr>
          <a:lstStyle/>
          <a:p>
            <a:r>
              <a:rPr lang="fi-FI" err="1"/>
              <a:t>Vertical </a:t>
            </a:r>
            <a:r>
              <a:rPr lang="fi-FI" err="1"/>
              <a:t>split </a:t>
            </a:r>
            <a:r>
              <a:rPr lang="fi-FI"/>
              <a:t>layout</a:t>
            </a:r>
            <a:endParaRPr lang="en-US"/>
          </a:p>
        </p:txBody>
      </p:sp>
      <p:sp>
        <p:nvSpPr>
          <p:cNvPr id="7" name="Rectangle 6">
            <a:extLst>
              <a:ext uri="{FF2B5EF4-FFF2-40B4-BE49-F238E27FC236}">
                <a16:creationId xmlns:a16="http://schemas.microsoft.com/office/drawing/2014/main" id="{A47EB3B4-A927-9B5F-0A4F-558E540E9C27}"/>
              </a:ext>
            </a:extLst>
          </p:cNvPr>
          <p:cNvSpPr/>
          <p:nvPr/>
        </p:nvSpPr>
        <p:spPr>
          <a:xfrm>
            <a:off x="2254685" y="2022953"/>
            <a:ext cx="7809978" cy="325679"/>
          </a:xfrm>
          <a:prstGeom prst="rect">
            <a:avLst/>
          </a:prstGeom>
          <a:solidFill>
            <a:schemeClr val="bg1"/>
          </a:solidFill>
          <a:ln>
            <a:noFill/>
          </a:ln>
          <a:effectLst>
            <a:outerShdw blurRad="50800" dist="50800" dir="5400000" sx="99000" sy="99000" algn="ctr" rotWithShape="0">
              <a:srgbClr val="000000">
                <a:alpha val="3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i-FI" sz="1000">
                <a:solidFill>
                  <a:sysClr val="windowText" lastClr="000000"/>
                </a:solidFill>
              </a:rPr>
              <a:t>Original </a:t>
            </a:r>
            <a:r>
              <a:rPr lang="fi-FI" sz="1000" err="1">
                <a:solidFill>
                  <a:sysClr val="windowText" lastClr="000000"/>
                </a:solidFill>
              </a:rPr>
              <a:t>text</a:t>
            </a:r>
            <a:endParaRPr lang="en-US" sz="1000">
              <a:solidFill>
                <a:sysClr val="windowText" lastClr="000000"/>
              </a:solidFill>
            </a:endParaRPr>
          </a:p>
        </p:txBody>
      </p:sp>
      <p:sp>
        <p:nvSpPr>
          <p:cNvPr id="10" name="Rectangle 9">
            <a:extLst>
              <a:ext uri="{FF2B5EF4-FFF2-40B4-BE49-F238E27FC236}">
                <a16:creationId xmlns:a16="http://schemas.microsoft.com/office/drawing/2014/main" id="{A0BAD793-E839-CD2D-D36C-D654E0EE0B66}"/>
              </a:ext>
            </a:extLst>
          </p:cNvPr>
          <p:cNvSpPr/>
          <p:nvPr/>
        </p:nvSpPr>
        <p:spPr>
          <a:xfrm>
            <a:off x="2254685" y="3033980"/>
            <a:ext cx="7809978" cy="319114"/>
          </a:xfrm>
          <a:prstGeom prst="rect">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i-FI" sz="1000" err="1">
                <a:solidFill>
                  <a:sysClr val="windowText" lastClr="000000"/>
                </a:solidFill>
              </a:rPr>
              <a:t>Chunk </a:t>
            </a:r>
            <a:r>
              <a:rPr lang="fi-FI" sz="1000">
                <a:solidFill>
                  <a:sysClr val="windowText" lastClr="000000"/>
                </a:solidFill>
              </a:rPr>
              <a:t>3 / 3</a:t>
            </a:r>
            <a:endParaRPr lang="en-US" sz="1000">
              <a:solidFill>
                <a:sysClr val="windowText" lastClr="000000"/>
              </a:solidFill>
            </a:endParaRPr>
          </a:p>
        </p:txBody>
      </p:sp>
      <p:sp>
        <p:nvSpPr>
          <p:cNvPr id="16" name="Rectangle 15">
            <a:extLst>
              <a:ext uri="{FF2B5EF4-FFF2-40B4-BE49-F238E27FC236}">
                <a16:creationId xmlns:a16="http://schemas.microsoft.com/office/drawing/2014/main" id="{D8765374-E4A0-3DF3-608A-4721EEA97AF5}"/>
              </a:ext>
            </a:extLst>
          </p:cNvPr>
          <p:cNvSpPr/>
          <p:nvPr/>
        </p:nvSpPr>
        <p:spPr>
          <a:xfrm>
            <a:off x="2254685" y="3350415"/>
            <a:ext cx="7809978" cy="688028"/>
          </a:xfrm>
          <a:prstGeom prst="rect">
            <a:avLst/>
          </a:prstGeom>
          <a:solidFill>
            <a:schemeClr val="bg1"/>
          </a:solidFill>
          <a:ln w="6350">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900" i="0">
                <a:solidFill>
                  <a:srgbClr val="000000"/>
                </a:solidFill>
                <a:effectLst/>
                <a:latin typeface="Open Sans" panose="020F0502020204030204" pitchFamily="34" charset="0"/>
              </a:rPr>
              <a:t>All chunks translated.</a:t>
            </a:r>
          </a:p>
          <a:p>
            <a:endParaRPr lang="en-US" sz="900" i="0">
              <a:solidFill>
                <a:srgbClr val="000000"/>
              </a:solidFill>
              <a:effectLst/>
              <a:latin typeface="Open Sans" panose="020F0502020204030204" pitchFamily="34" charset="0"/>
            </a:endParaRPr>
          </a:p>
          <a:p>
            <a:r>
              <a:rPr lang="en-US" sz="900">
                <a:solidFill>
                  <a:srgbClr val="000000"/>
                </a:solidFill>
                <a:latin typeface="Open Sans" panose="020F0502020204030204" pitchFamily="34" charset="0"/>
              </a:rPr>
              <a:t>You can now finish the document.</a:t>
            </a:r>
            <a:endParaRPr lang="en-US" sz="900">
              <a:solidFill>
                <a:sysClr val="windowText" lastClr="000000"/>
              </a:solidFill>
            </a:endParaRPr>
          </a:p>
        </p:txBody>
      </p:sp>
      <p:sp>
        <p:nvSpPr>
          <p:cNvPr id="23" name="Oval 22">
            <a:extLst>
              <a:ext uri="{FF2B5EF4-FFF2-40B4-BE49-F238E27FC236}">
                <a16:creationId xmlns:a16="http://schemas.microsoft.com/office/drawing/2014/main" id="{81E6EF88-03D5-4FBA-6E26-C5D1809AFB13}"/>
              </a:ext>
            </a:extLst>
          </p:cNvPr>
          <p:cNvSpPr/>
          <p:nvPr/>
        </p:nvSpPr>
        <p:spPr>
          <a:xfrm>
            <a:off x="9757776" y="2091999"/>
            <a:ext cx="212943" cy="175364"/>
          </a:xfrm>
          <a:prstGeom prst="ellipse">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200">
                <a:solidFill>
                  <a:schemeClr val="tx1">
                    <a:lumMod val="95000"/>
                    <a:lumOff val="5000"/>
                  </a:schemeClr>
                </a:solidFill>
              </a:rPr>
              <a:t>?</a:t>
            </a:r>
            <a:endParaRPr lang="en-US" sz="1200">
              <a:solidFill>
                <a:schemeClr val="tx1">
                  <a:lumMod val="95000"/>
                  <a:lumOff val="5000"/>
                </a:schemeClr>
              </a:solidFill>
            </a:endParaRPr>
          </a:p>
        </p:txBody>
      </p:sp>
      <p:sp>
        <p:nvSpPr>
          <p:cNvPr id="24" name="Oval 23">
            <a:extLst>
              <a:ext uri="{FF2B5EF4-FFF2-40B4-BE49-F238E27FC236}">
                <a16:creationId xmlns:a16="http://schemas.microsoft.com/office/drawing/2014/main" id="{E02B917A-695C-954E-B85B-301D1D86F553}"/>
              </a:ext>
            </a:extLst>
          </p:cNvPr>
          <p:cNvSpPr/>
          <p:nvPr/>
        </p:nvSpPr>
        <p:spPr>
          <a:xfrm>
            <a:off x="9767988" y="3097214"/>
            <a:ext cx="212943" cy="175364"/>
          </a:xfrm>
          <a:prstGeom prst="ellipse">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200">
                <a:solidFill>
                  <a:schemeClr val="tx1">
                    <a:lumMod val="95000"/>
                    <a:lumOff val="5000"/>
                  </a:schemeClr>
                </a:solidFill>
              </a:rPr>
              <a:t>?</a:t>
            </a:r>
            <a:endParaRPr lang="en-US" sz="1200">
              <a:solidFill>
                <a:schemeClr val="tx1">
                  <a:lumMod val="95000"/>
                  <a:lumOff val="5000"/>
                </a:schemeClr>
              </a:solidFill>
            </a:endParaRPr>
          </a:p>
        </p:txBody>
      </p:sp>
      <p:sp>
        <p:nvSpPr>
          <p:cNvPr id="26" name="Rectangle 25">
            <a:extLst>
              <a:ext uri="{FF2B5EF4-FFF2-40B4-BE49-F238E27FC236}">
                <a16:creationId xmlns:a16="http://schemas.microsoft.com/office/drawing/2014/main" id="{006AB05B-4BD3-8A04-29FB-8316AE29EC75}"/>
              </a:ext>
            </a:extLst>
          </p:cNvPr>
          <p:cNvSpPr/>
          <p:nvPr/>
        </p:nvSpPr>
        <p:spPr>
          <a:xfrm>
            <a:off x="7704472" y="3075740"/>
            <a:ext cx="899540" cy="2178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900"/>
              <a:t>Translate</a:t>
            </a:r>
            <a:endParaRPr lang="en-US" sz="900"/>
          </a:p>
        </p:txBody>
      </p:sp>
      <p:sp>
        <p:nvSpPr>
          <p:cNvPr id="27" name="Rectangle 26">
            <a:extLst>
              <a:ext uri="{FF2B5EF4-FFF2-40B4-BE49-F238E27FC236}">
                <a16:creationId xmlns:a16="http://schemas.microsoft.com/office/drawing/2014/main" id="{D0A0F695-FAFA-D453-6821-0FFCFF8CB53A}"/>
              </a:ext>
            </a:extLst>
          </p:cNvPr>
          <p:cNvSpPr/>
          <p:nvPr/>
        </p:nvSpPr>
        <p:spPr>
          <a:xfrm>
            <a:off x="8709321" y="3080757"/>
            <a:ext cx="899541" cy="217864"/>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900" err="1">
                <a:solidFill>
                  <a:schemeClr val="tx1">
                    <a:lumMod val="85000"/>
                    <a:lumOff val="15000"/>
                  </a:schemeClr>
                </a:solidFill>
              </a:rPr>
              <a:t>Save </a:t>
            </a:r>
            <a:r>
              <a:rPr lang="fi-FI" sz="900" err="1">
                <a:solidFill>
                  <a:schemeClr val="tx1">
                    <a:lumMod val="85000"/>
                    <a:lumOff val="15000"/>
                  </a:schemeClr>
                </a:solidFill>
              </a:rPr>
              <a:t>changes</a:t>
            </a:r>
            <a:endParaRPr lang="en-US" sz="900">
              <a:solidFill>
                <a:schemeClr val="tx1">
                  <a:lumMod val="85000"/>
                  <a:lumOff val="15000"/>
                </a:schemeClr>
              </a:solidFill>
            </a:endParaRPr>
          </a:p>
        </p:txBody>
      </p:sp>
      <p:sp>
        <p:nvSpPr>
          <p:cNvPr id="28" name="TextBox 27">
            <a:extLst>
              <a:ext uri="{FF2B5EF4-FFF2-40B4-BE49-F238E27FC236}">
                <a16:creationId xmlns:a16="http://schemas.microsoft.com/office/drawing/2014/main" id="{434C8072-2B66-5F5C-635E-AA9B365AD6CA}"/>
              </a:ext>
            </a:extLst>
          </p:cNvPr>
          <p:cNvSpPr txBox="1"/>
          <p:nvPr/>
        </p:nvSpPr>
        <p:spPr>
          <a:xfrm>
            <a:off x="2188807" y="2466528"/>
            <a:ext cx="4863346" cy="276999"/>
          </a:xfrm>
          <a:prstGeom prst="rect">
            <a:avLst/>
          </a:prstGeom>
          <a:noFill/>
        </p:spPr>
        <p:txBody>
          <a:bodyPr wrap="square" rtlCol="0">
            <a:spAutoFit/>
          </a:bodyPr>
          <a:lstStyle/>
          <a:p>
            <a:r>
              <a:rPr lang="fi-FI" sz="1200" b="1" err="1"/>
              <a:t>Step </a:t>
            </a:r>
            <a:r>
              <a:rPr lang="fi-FI" sz="1200" b="1"/>
              <a:t>2: Translate, choose favourite translation and </a:t>
            </a:r>
            <a:r>
              <a:rPr lang="fi-FI" sz="1200" b="1" err="1"/>
              <a:t>edit </a:t>
            </a:r>
            <a:r>
              <a:rPr lang="fi-FI" sz="1200" b="1"/>
              <a:t>text chunks</a:t>
            </a:r>
            <a:endParaRPr lang="en-US" sz="1200" b="1"/>
          </a:p>
        </p:txBody>
      </p:sp>
      <p:grpSp>
        <p:nvGrpSpPr>
          <p:cNvPr id="29" name="Group 28">
            <a:extLst>
              <a:ext uri="{FF2B5EF4-FFF2-40B4-BE49-F238E27FC236}">
                <a16:creationId xmlns:a16="http://schemas.microsoft.com/office/drawing/2014/main" id="{0D94181A-E147-E4BB-BAAD-D4A056ED695C}"/>
              </a:ext>
            </a:extLst>
          </p:cNvPr>
          <p:cNvGrpSpPr/>
          <p:nvPr/>
        </p:nvGrpSpPr>
        <p:grpSpPr>
          <a:xfrm>
            <a:off x="2254685" y="2788081"/>
            <a:ext cx="676408" cy="175365"/>
            <a:chOff x="2292263" y="2261833"/>
            <a:chExt cx="676408" cy="175365"/>
          </a:xfrm>
        </p:grpSpPr>
        <p:sp>
          <p:nvSpPr>
            <p:cNvPr id="30" name="Oval 29">
              <a:extLst>
                <a:ext uri="{FF2B5EF4-FFF2-40B4-BE49-F238E27FC236}">
                  <a16:creationId xmlns:a16="http://schemas.microsoft.com/office/drawing/2014/main" id="{C9A9B54F-7579-54B0-A5C3-FD2130A0A789}"/>
                </a:ext>
              </a:extLst>
            </p:cNvPr>
            <p:cNvSpPr/>
            <p:nvPr/>
          </p:nvSpPr>
          <p:spPr>
            <a:xfrm>
              <a:off x="2292263" y="2262135"/>
              <a:ext cx="175364" cy="175063"/>
            </a:xfrm>
            <a:prstGeom prst="ellipse">
              <a:avLst/>
            </a:prstGeom>
            <a:solidFill>
              <a:srgbClr val="0E42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100"/>
                <a:t>1</a:t>
              </a:r>
              <a:endParaRPr lang="en-US" sz="1100"/>
            </a:p>
          </p:txBody>
        </p:sp>
        <p:sp>
          <p:nvSpPr>
            <p:cNvPr id="31" name="Oval 30">
              <a:extLst>
                <a:ext uri="{FF2B5EF4-FFF2-40B4-BE49-F238E27FC236}">
                  <a16:creationId xmlns:a16="http://schemas.microsoft.com/office/drawing/2014/main" id="{578E83DD-D51D-9759-02C1-72095FEC5B5F}"/>
                </a:ext>
              </a:extLst>
            </p:cNvPr>
            <p:cNvSpPr/>
            <p:nvPr/>
          </p:nvSpPr>
          <p:spPr>
            <a:xfrm>
              <a:off x="2542785" y="2262135"/>
              <a:ext cx="175364" cy="175063"/>
            </a:xfrm>
            <a:prstGeom prst="ellipse">
              <a:avLst/>
            </a:prstGeom>
            <a:solidFill>
              <a:srgbClr val="0E42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100"/>
                <a:t>2</a:t>
              </a:r>
              <a:endParaRPr lang="en-US" sz="1100"/>
            </a:p>
          </p:txBody>
        </p:sp>
        <p:sp>
          <p:nvSpPr>
            <p:cNvPr id="32" name="Oval 31">
              <a:extLst>
                <a:ext uri="{FF2B5EF4-FFF2-40B4-BE49-F238E27FC236}">
                  <a16:creationId xmlns:a16="http://schemas.microsoft.com/office/drawing/2014/main" id="{D7D3373D-9321-A924-2D6B-6DACD7A46E73}"/>
                </a:ext>
              </a:extLst>
            </p:cNvPr>
            <p:cNvSpPr/>
            <p:nvPr/>
          </p:nvSpPr>
          <p:spPr>
            <a:xfrm>
              <a:off x="2793307" y="2261833"/>
              <a:ext cx="175364" cy="175063"/>
            </a:xfrm>
            <a:prstGeom prst="ellipse">
              <a:avLst/>
            </a:prstGeom>
            <a:solidFill>
              <a:srgbClr val="0E42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100"/>
                <a:t>3</a:t>
              </a:r>
              <a:endParaRPr lang="en-US" sz="1100"/>
            </a:p>
          </p:txBody>
        </p:sp>
      </p:grpSp>
      <p:sp>
        <p:nvSpPr>
          <p:cNvPr id="5" name="Rectangle 4">
            <a:extLst>
              <a:ext uri="{FF2B5EF4-FFF2-40B4-BE49-F238E27FC236}">
                <a16:creationId xmlns:a16="http://schemas.microsoft.com/office/drawing/2014/main" id="{1A776566-5262-FF9D-3A2D-A18B4BF749A0}"/>
              </a:ext>
            </a:extLst>
          </p:cNvPr>
          <p:cNvSpPr/>
          <p:nvPr/>
        </p:nvSpPr>
        <p:spPr>
          <a:xfrm>
            <a:off x="2254685" y="4265101"/>
            <a:ext cx="7809978" cy="319113"/>
          </a:xfrm>
          <a:prstGeom prst="rect">
            <a:avLst/>
          </a:prstGeom>
          <a:solidFill>
            <a:schemeClr val="bg1"/>
          </a:solidFill>
          <a:ln>
            <a:noFill/>
          </a:ln>
          <a:effectLst>
            <a:outerShdw blurRad="50800" dist="50800" dir="5400000" sx="99000" sy="99000" algn="ctr" rotWithShape="0">
              <a:srgbClr val="000000">
                <a:alpha val="3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fi-FI" sz="1000" err="1">
                <a:solidFill>
                  <a:sysClr val="windowText" lastClr="000000"/>
                </a:solidFill>
              </a:rPr>
              <a:t>Translated </a:t>
            </a:r>
            <a:r>
              <a:rPr lang="fi-FI" sz="1000">
                <a:solidFill>
                  <a:sysClr val="windowText" lastClr="000000"/>
                </a:solidFill>
              </a:rPr>
              <a:t>text</a:t>
            </a:r>
            <a:endParaRPr lang="en-US" sz="1000">
              <a:solidFill>
                <a:sysClr val="windowText" lastClr="000000"/>
              </a:solidFill>
            </a:endParaRPr>
          </a:p>
        </p:txBody>
      </p:sp>
      <p:sp>
        <p:nvSpPr>
          <p:cNvPr id="12" name="Oval 11">
            <a:extLst>
              <a:ext uri="{FF2B5EF4-FFF2-40B4-BE49-F238E27FC236}">
                <a16:creationId xmlns:a16="http://schemas.microsoft.com/office/drawing/2014/main" id="{70F49071-536F-3DCF-8569-1DC5B6E8E4A1}"/>
              </a:ext>
            </a:extLst>
          </p:cNvPr>
          <p:cNvSpPr/>
          <p:nvPr/>
        </p:nvSpPr>
        <p:spPr>
          <a:xfrm>
            <a:off x="9780739" y="4335551"/>
            <a:ext cx="212943" cy="175364"/>
          </a:xfrm>
          <a:prstGeom prst="ellipse">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200">
                <a:solidFill>
                  <a:schemeClr val="tx1">
                    <a:lumMod val="95000"/>
                    <a:lumOff val="5000"/>
                  </a:schemeClr>
                </a:solidFill>
              </a:rPr>
              <a:t>?</a:t>
            </a:r>
            <a:endParaRPr lang="en-US" sz="1200">
              <a:solidFill>
                <a:schemeClr val="tx1">
                  <a:lumMod val="95000"/>
                  <a:lumOff val="5000"/>
                </a:schemeClr>
              </a:solidFill>
            </a:endParaRPr>
          </a:p>
        </p:txBody>
      </p:sp>
      <p:sp>
        <p:nvSpPr>
          <p:cNvPr id="15" name="Rectangle 14">
            <a:extLst>
              <a:ext uri="{FF2B5EF4-FFF2-40B4-BE49-F238E27FC236}">
                <a16:creationId xmlns:a16="http://schemas.microsoft.com/office/drawing/2014/main" id="{303103EC-DA71-F302-C0F3-5881DD81C4A9}"/>
              </a:ext>
            </a:extLst>
          </p:cNvPr>
          <p:cNvSpPr/>
          <p:nvPr/>
        </p:nvSpPr>
        <p:spPr>
          <a:xfrm>
            <a:off x="8411229" y="5091549"/>
            <a:ext cx="1039660" cy="267072"/>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900"/>
              <a:t>Finish document</a:t>
            </a:r>
            <a:endParaRPr lang="en-US" sz="900"/>
          </a:p>
        </p:txBody>
      </p:sp>
      <p:sp>
        <p:nvSpPr>
          <p:cNvPr id="17" name="TextBox 16">
            <a:extLst>
              <a:ext uri="{FF2B5EF4-FFF2-40B4-BE49-F238E27FC236}">
                <a16:creationId xmlns:a16="http://schemas.microsoft.com/office/drawing/2014/main" id="{B20AB2E7-09EA-9D70-19A3-7351EECC55E4}"/>
              </a:ext>
            </a:extLst>
          </p:cNvPr>
          <p:cNvSpPr txBox="1"/>
          <p:nvPr/>
        </p:nvSpPr>
        <p:spPr>
          <a:xfrm>
            <a:off x="2231952" y="5086586"/>
            <a:ext cx="4863346" cy="276999"/>
          </a:xfrm>
          <a:prstGeom prst="rect">
            <a:avLst/>
          </a:prstGeom>
          <a:noFill/>
        </p:spPr>
        <p:txBody>
          <a:bodyPr wrap="square" rtlCol="0">
            <a:spAutoFit/>
          </a:bodyPr>
          <a:lstStyle/>
          <a:p>
            <a:r>
              <a:rPr lang="fi-FI" sz="1200" b="1" err="1"/>
              <a:t>Step </a:t>
            </a:r>
            <a:r>
              <a:rPr lang="fi-FI" sz="1200" b="1"/>
              <a:t>3: Finish document after all chunks are translated</a:t>
            </a:r>
            <a:endParaRPr lang="en-US" sz="1200" b="1"/>
          </a:p>
        </p:txBody>
      </p:sp>
      <p:sp>
        <p:nvSpPr>
          <p:cNvPr id="19" name="Oval 18">
            <a:extLst>
              <a:ext uri="{FF2B5EF4-FFF2-40B4-BE49-F238E27FC236}">
                <a16:creationId xmlns:a16="http://schemas.microsoft.com/office/drawing/2014/main" id="{010D0EB9-ED70-E37D-06F9-C2FD22B29C2D}"/>
              </a:ext>
            </a:extLst>
          </p:cNvPr>
          <p:cNvSpPr/>
          <p:nvPr/>
        </p:nvSpPr>
        <p:spPr>
          <a:xfrm>
            <a:off x="9784684" y="5137403"/>
            <a:ext cx="212943" cy="175364"/>
          </a:xfrm>
          <a:prstGeom prst="ellipse">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1200">
                <a:solidFill>
                  <a:schemeClr val="tx1">
                    <a:lumMod val="95000"/>
                    <a:lumOff val="5000"/>
                  </a:schemeClr>
                </a:solidFill>
              </a:rPr>
              <a:t>?</a:t>
            </a:r>
            <a:endParaRPr lang="en-US" sz="1200">
              <a:solidFill>
                <a:schemeClr val="tx1">
                  <a:lumMod val="95000"/>
                  <a:lumOff val="5000"/>
                </a:schemeClr>
              </a:solidFill>
            </a:endParaRPr>
          </a:p>
        </p:txBody>
      </p:sp>
      <p:sp>
        <p:nvSpPr>
          <p:cNvPr id="20" name="Rectangle 19">
            <a:extLst>
              <a:ext uri="{FF2B5EF4-FFF2-40B4-BE49-F238E27FC236}">
                <a16:creationId xmlns:a16="http://schemas.microsoft.com/office/drawing/2014/main" id="{52011432-284E-ED53-FED4-A58242B0CE00}"/>
              </a:ext>
            </a:extLst>
          </p:cNvPr>
          <p:cNvSpPr/>
          <p:nvPr/>
        </p:nvSpPr>
        <p:spPr>
          <a:xfrm>
            <a:off x="2305958" y="6409782"/>
            <a:ext cx="899541" cy="217864"/>
          </a:xfrm>
          <a:prstGeom prst="rect">
            <a:avLst/>
          </a:prstGeom>
          <a:solidFill>
            <a:schemeClr val="bg1">
              <a:lumMod val="85000"/>
            </a:schemeClr>
          </a:solidFill>
          <a:ln>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i-FI" sz="900">
                <a:solidFill>
                  <a:schemeClr val="tx1">
                    <a:lumMod val="85000"/>
                    <a:lumOff val="15000"/>
                  </a:schemeClr>
                </a:solidFill>
              </a:rPr>
              <a:t>Review again</a:t>
            </a:r>
            <a:endParaRPr lang="en-US" sz="900">
              <a:solidFill>
                <a:schemeClr val="tx1">
                  <a:lumMod val="85000"/>
                  <a:lumOff val="15000"/>
                </a:schemeClr>
              </a:solidFill>
            </a:endParaRPr>
          </a:p>
        </p:txBody>
      </p:sp>
    </p:spTree>
    <p:extLst>
      <p:ext uri="{BB962C8B-B14F-4D97-AF65-F5344CB8AC3E}">
        <p14:creationId xmlns:p14="http://schemas.microsoft.com/office/powerpoint/2010/main" val="1029557979"/>
      </p:ext>
    </p:extLst>
  </p:cSld>
  <p:clrMapOvr>
    <a:masterClrMapping/>
  </p:clrMapOvr>
</p:sld>
</file>

<file path=ppt/slides/slide16.xml><?xml version="1.0" encoding="utf-8"?>
<p:sld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2270866"/>
      </p:ext>
    </p:extLst>
  </p:cSld>
  <p:clrMapOvr>
    <a:masterClrMapping/>
  </p:clrMapOvr>
</p:sld>
</file>

<file path=ppt/slides/slide17.xml><?xml version="1.0" encoding="utf-8"?>
<p:sld xmlns:p14="http://schemas.microsoft.com/office/powerpoint/2010/main"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17095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4859</TotalTime>
  <Words>2744</Words>
  <Application>Microsoft Office PowerPoint</Application>
  <PresentationFormat>Widescreen</PresentationFormat>
  <Paragraphs>200</Paragraphs>
  <Slides>17</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-apple-system</vt:lpstr>
      <vt:lpstr>Aptos</vt:lpstr>
      <vt:lpstr>Aptos Display</vt:lpstr>
      <vt:lpstr>Arial</vt:lpstr>
      <vt:lpstr>Calibri</vt:lpstr>
      <vt:lpstr>Open Sans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University of Turku</Company>
  <LinksUpToDate>false</LinksUpToDate>
  <SharedDoc>false</SharedDoc>
  <HyperlinksChanged>false</HyperlinksChanged>
  <AppVersion>16.0000</AppVersion>
</Properties>
</file>

<file path=docProps/core.xml><?xml version="1.0" encoding="utf-8"?>
<coreProperties xmlns:dc="http://purl.org/dc/elements/1.1/" xmlns:dcterms="http://purl.org/dc/terms/" xmlns:xsi="http://www.w3.org/2001/XMLSchema-instance" xmlns="http://schemas.openxmlformats.org/package/2006/metadata/core-properties">
  <dc:title/>
  <dc:creator>Jasmin Lehtola</dc:creator>
  <lastModifiedBy>Jasmin Lehtola</lastModifiedBy>
  <revision>155</revision>
  <dcterms:created xsi:type="dcterms:W3CDTF">2025-05-27T06:27:24.0000000Z</dcterms:created>
  <dcterms:modified xsi:type="dcterms:W3CDTF">2025-07-10T12:30:35.0000000Z</dcterms:modified>
  <keywords>, docId:4103F468ED14657880B1EE873A13799A</keywords>
</coreProperties>
</file>